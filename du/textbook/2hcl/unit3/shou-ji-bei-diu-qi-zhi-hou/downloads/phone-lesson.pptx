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1d1740602f4f9f" /><Relationship Type="http://schemas.openxmlformats.org/officeDocument/2006/relationships/extended-properties" Target="/docProps/app.xml" Id="Rb14b7424b7d44ad7" /><Relationship Type="http://schemas.openxmlformats.org/officeDocument/2006/relationships/officeDocument" Target="/ppt/presentation.xml" Id="Rfbc2f17754344f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0dda35fa57e4963"/>
  </p:sldMasterIdLst>
  <p:notesMasterIdLst>
    <p:notesMasterId xmlns:r="http://schemas.openxmlformats.org/officeDocument/2006/relationships" r:id="R31e4e92bd0ea41ee"/>
  </p:notesMasterIdLst>
  <p:sldIdLst>
    <p:sldId xmlns:r="http://schemas.openxmlformats.org/officeDocument/2006/relationships" id="256" r:id="R88f7d3892c214b9b"/>
    <p:sldId xmlns:r="http://schemas.openxmlformats.org/officeDocument/2006/relationships" id="257" r:id="R3af5fc74e72d4f2b"/>
    <p:sldId xmlns:r="http://schemas.openxmlformats.org/officeDocument/2006/relationships" id="258" r:id="R7f66491af3d945ab"/>
    <p:sldId xmlns:r="http://schemas.openxmlformats.org/officeDocument/2006/relationships" id="259" r:id="R46af781ad78a4605"/>
    <p:sldId xmlns:r="http://schemas.openxmlformats.org/officeDocument/2006/relationships" id="260" r:id="R8bbd99c345d249b3"/>
    <p:sldId xmlns:r="http://schemas.openxmlformats.org/officeDocument/2006/relationships" id="261" r:id="R51663a8d0a794642"/>
    <p:sldId xmlns:r="http://schemas.openxmlformats.org/officeDocument/2006/relationships" id="262" r:id="R915e25cdf4db4839"/>
    <p:sldId xmlns:r="http://schemas.openxmlformats.org/officeDocument/2006/relationships" id="263" r:id="R15e71987c59642ba"/>
    <p:sldId xmlns:r="http://schemas.openxmlformats.org/officeDocument/2006/relationships" id="264" r:id="R4e094685e16e4168"/>
    <p:sldId xmlns:r="http://schemas.openxmlformats.org/officeDocument/2006/relationships" id="265" r:id="R420bd317d6394ca5"/>
    <p:sldId xmlns:r="http://schemas.openxmlformats.org/officeDocument/2006/relationships" id="266" r:id="R314d801d669b4c4b"/>
    <p:sldId xmlns:r="http://schemas.openxmlformats.org/officeDocument/2006/relationships" id="267" r:id="R58315ba329134f42"/>
    <p:sldId xmlns:r="http://schemas.openxmlformats.org/officeDocument/2006/relationships" id="268" r:id="R8fc3332a0fe14a5e"/>
    <p:sldId xmlns:r="http://schemas.openxmlformats.org/officeDocument/2006/relationships" id="269" r:id="Raf1a2d200ac24ae5"/>
    <p:sldId xmlns:r="http://schemas.openxmlformats.org/officeDocument/2006/relationships" id="270" r:id="Rce1e26ba2fb6462d"/>
    <p:sldId xmlns:r="http://schemas.openxmlformats.org/officeDocument/2006/relationships" id="271" r:id="R2f87f2f50ad54aaa"/>
    <p:sldId xmlns:r="http://schemas.openxmlformats.org/officeDocument/2006/relationships" id="272" r:id="R3f8d77a35b084984"/>
    <p:sldId xmlns:r="http://schemas.openxmlformats.org/officeDocument/2006/relationships" id="273" r:id="R69723bfcd4a34baf"/>
    <p:sldId xmlns:r="http://schemas.openxmlformats.org/officeDocument/2006/relationships" id="274" r:id="Rd4d1fe02e1f84b2d"/>
    <p:sldId xmlns:r="http://schemas.openxmlformats.org/officeDocument/2006/relationships" id="275" r:id="Rdf75446911bf4767"/>
    <p:sldId xmlns:r="http://schemas.openxmlformats.org/officeDocument/2006/relationships" id="276" r:id="Ra7b3344db4464eff"/>
    <p:sldId xmlns:r="http://schemas.openxmlformats.org/officeDocument/2006/relationships" id="277" r:id="Rcc64e52100134f6a"/>
    <p:sldId xmlns:r="http://schemas.openxmlformats.org/officeDocument/2006/relationships" id="278" r:id="Rd34b766e8c394776"/>
    <p:sldId xmlns:r="http://schemas.openxmlformats.org/officeDocument/2006/relationships" id="279" r:id="Rb266f5d98d854d6d"/>
    <p:sldId xmlns:r="http://schemas.openxmlformats.org/officeDocument/2006/relationships" id="280" r:id="Rdd9b75ee68d84e04"/>
    <p:sldId xmlns:r="http://schemas.openxmlformats.org/officeDocument/2006/relationships" id="281" r:id="Rdad9ab98ab694d64"/>
    <p:sldId xmlns:r="http://schemas.openxmlformats.org/officeDocument/2006/relationships" id="282" r:id="Rebd369b2ae0044d2"/>
    <p:sldId xmlns:r="http://schemas.openxmlformats.org/officeDocument/2006/relationships" id="283" r:id="R77d7aa1646a94b50"/>
    <p:sldId xmlns:r="http://schemas.openxmlformats.org/officeDocument/2006/relationships" id="284" r:id="R94ccf7417370404d"/>
    <p:sldId xmlns:r="http://schemas.openxmlformats.org/officeDocument/2006/relationships" id="285" r:id="R902d7bf57f894278"/>
    <p:sldId xmlns:r="http://schemas.openxmlformats.org/officeDocument/2006/relationships" id="286" r:id="Red039a81d59c41af"/>
    <p:sldId xmlns:r="http://schemas.openxmlformats.org/officeDocument/2006/relationships" id="287" r:id="R528d032b21524f30"/>
    <p:sldId xmlns:r="http://schemas.openxmlformats.org/officeDocument/2006/relationships" id="288" r:id="R2889c91964714e4a"/>
    <p:sldId xmlns:r="http://schemas.openxmlformats.org/officeDocument/2006/relationships" id="289" r:id="R4977d71be1ae4b02"/>
    <p:sldId xmlns:r="http://schemas.openxmlformats.org/officeDocument/2006/relationships" id="290" r:id="R80e2e25b2c8b4cc2"/>
    <p:sldId xmlns:r="http://schemas.openxmlformats.org/officeDocument/2006/relationships" id="291" r:id="R886a0a6a13f6497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d90bff560e142a4" /><Relationship Type="http://schemas.openxmlformats.org/officeDocument/2006/relationships/slideMaster" Target="/ppt/slideMasters/slideMaster1.xml" Id="Rb0dda35fa57e4963" /><Relationship Type="http://schemas.openxmlformats.org/officeDocument/2006/relationships/notesMaster" Target="/ppt/notesMasters/notesMaster1.xml" Id="R31e4e92bd0ea41ee" /><Relationship Type="http://schemas.openxmlformats.org/officeDocument/2006/relationships/presProps" Target="/ppt/presProps.xml" Id="Reda74f8dece4421c" /><Relationship Type="http://schemas.openxmlformats.org/officeDocument/2006/relationships/tableStyles" Target="/ppt/tableStyles.xml" Id="R5b398bdaa70b43b7" /><Relationship Type="http://schemas.openxmlformats.org/officeDocument/2006/relationships/slide" Target="/ppt/slides/slide1.xml" Id="R88f7d3892c214b9b" /><Relationship Type="http://schemas.openxmlformats.org/officeDocument/2006/relationships/slide" Target="/ppt/slides/slide2.xml" Id="R3af5fc74e72d4f2b" /><Relationship Type="http://schemas.openxmlformats.org/officeDocument/2006/relationships/slide" Target="/ppt/slides/slide3.xml" Id="R7f66491af3d945ab" /><Relationship Type="http://schemas.openxmlformats.org/officeDocument/2006/relationships/slide" Target="/ppt/slides/slide4.xml" Id="R46af781ad78a4605" /><Relationship Type="http://schemas.openxmlformats.org/officeDocument/2006/relationships/slide" Target="/ppt/slides/slide5.xml" Id="R8bbd99c345d249b3" /><Relationship Type="http://schemas.openxmlformats.org/officeDocument/2006/relationships/slide" Target="/ppt/slides/slide6.xml" Id="R51663a8d0a794642" /><Relationship Type="http://schemas.openxmlformats.org/officeDocument/2006/relationships/slide" Target="/ppt/slides/slide7.xml" Id="R915e25cdf4db4839" /><Relationship Type="http://schemas.openxmlformats.org/officeDocument/2006/relationships/slide" Target="/ppt/slides/slide8.xml" Id="R15e71987c59642ba" /><Relationship Type="http://schemas.openxmlformats.org/officeDocument/2006/relationships/slide" Target="/ppt/slides/slide9.xml" Id="R4e094685e16e4168" /><Relationship Type="http://schemas.openxmlformats.org/officeDocument/2006/relationships/slide" Target="/ppt/slides/slide10.xml" Id="R420bd317d6394ca5" /><Relationship Type="http://schemas.openxmlformats.org/officeDocument/2006/relationships/slide" Target="/ppt/slides/slide11.xml" Id="R314d801d669b4c4b" /><Relationship Type="http://schemas.openxmlformats.org/officeDocument/2006/relationships/slide" Target="/ppt/slides/slide12.xml" Id="R58315ba329134f42" /><Relationship Type="http://schemas.openxmlformats.org/officeDocument/2006/relationships/slide" Target="/ppt/slides/slide13.xml" Id="R8fc3332a0fe14a5e" /><Relationship Type="http://schemas.openxmlformats.org/officeDocument/2006/relationships/slide" Target="/ppt/slides/slide14.xml" Id="Raf1a2d200ac24ae5" /><Relationship Type="http://schemas.openxmlformats.org/officeDocument/2006/relationships/slide" Target="/ppt/slides/slide15.xml" Id="Rce1e26ba2fb6462d" /><Relationship Type="http://schemas.openxmlformats.org/officeDocument/2006/relationships/slide" Target="/ppt/slides/slide16.xml" Id="R2f87f2f50ad54aaa" /><Relationship Type="http://schemas.openxmlformats.org/officeDocument/2006/relationships/slide" Target="/ppt/slides/slide17.xml" Id="R3f8d77a35b084984" /><Relationship Type="http://schemas.openxmlformats.org/officeDocument/2006/relationships/slide" Target="/ppt/slides/slide18.xml" Id="R69723bfcd4a34baf" /><Relationship Type="http://schemas.openxmlformats.org/officeDocument/2006/relationships/slide" Target="/ppt/slides/slide19.xml" Id="Rd4d1fe02e1f84b2d" /><Relationship Type="http://schemas.openxmlformats.org/officeDocument/2006/relationships/slide" Target="/ppt/slides/slide20.xml" Id="Rdf75446911bf4767" /><Relationship Type="http://schemas.openxmlformats.org/officeDocument/2006/relationships/slide" Target="/ppt/slides/slide21.xml" Id="Ra7b3344db4464eff" /><Relationship Type="http://schemas.openxmlformats.org/officeDocument/2006/relationships/slide" Target="/ppt/slides/slide22.xml" Id="Rcc64e52100134f6a" /><Relationship Type="http://schemas.openxmlformats.org/officeDocument/2006/relationships/slide" Target="/ppt/slides/slide23.xml" Id="Rd34b766e8c394776" /><Relationship Type="http://schemas.openxmlformats.org/officeDocument/2006/relationships/slide" Target="/ppt/slides/slide24.xml" Id="Rb266f5d98d854d6d" /><Relationship Type="http://schemas.openxmlformats.org/officeDocument/2006/relationships/slide" Target="/ppt/slides/slide25.xml" Id="Rdd9b75ee68d84e04" /><Relationship Type="http://schemas.openxmlformats.org/officeDocument/2006/relationships/slide" Target="/ppt/slides/slide26.xml" Id="Rdad9ab98ab694d64" /><Relationship Type="http://schemas.openxmlformats.org/officeDocument/2006/relationships/slide" Target="/ppt/slides/slide27.xml" Id="Rebd369b2ae0044d2" /><Relationship Type="http://schemas.openxmlformats.org/officeDocument/2006/relationships/slide" Target="/ppt/slides/slide28.xml" Id="R77d7aa1646a94b50" /><Relationship Type="http://schemas.openxmlformats.org/officeDocument/2006/relationships/slide" Target="/ppt/slides/slide29.xml" Id="R94ccf7417370404d" /><Relationship Type="http://schemas.openxmlformats.org/officeDocument/2006/relationships/slide" Target="/ppt/slides/slide30.xml" Id="R902d7bf57f894278" /><Relationship Type="http://schemas.openxmlformats.org/officeDocument/2006/relationships/slide" Target="/ppt/slides/slide31.xml" Id="Red039a81d59c41af" /><Relationship Type="http://schemas.openxmlformats.org/officeDocument/2006/relationships/slide" Target="/ppt/slides/slide32.xml" Id="R528d032b21524f30" /><Relationship Type="http://schemas.openxmlformats.org/officeDocument/2006/relationships/slide" Target="/ppt/slides/slide33.xml" Id="R2889c91964714e4a" /><Relationship Type="http://schemas.openxmlformats.org/officeDocument/2006/relationships/slide" Target="/ppt/slides/slide34.xml" Id="R4977d71be1ae4b02" /><Relationship Type="http://schemas.openxmlformats.org/officeDocument/2006/relationships/slide" Target="/ppt/slides/slide35.xml" Id="R80e2e25b2c8b4cc2" /><Relationship Type="http://schemas.openxmlformats.org/officeDocument/2006/relationships/slide" Target="/ppt/slides/slide36.xml" Id="R886a0a6a13f649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235545144ec47b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LXGW WenKai TC"/>
        <a:ea typeface=""/>
        <a:cs typeface=""/>
      </a:majorFont>
      <a:minorFont>
        <a:latin typeface="LXGW WenKai T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5af1baf42f4d1f" /><Relationship Type="http://schemas.openxmlformats.org/officeDocument/2006/relationships/notesMaster" Target="/ppt/notesMasters/notesMaster1.xml" Id="Rc8bc04c25aad43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5cbade2e59944c9" /><Relationship Type="http://schemas.openxmlformats.org/officeDocument/2006/relationships/notesMaster" Target="/ppt/notesMasters/notesMaster1.xml" Id="Re8a1f7149ba54af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b8cecd0dd3c4984" /><Relationship Type="http://schemas.openxmlformats.org/officeDocument/2006/relationships/notesMaster" Target="/ppt/notesMasters/notesMaster1.xml" Id="R29258b083f304e9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9709c3a2e744ff7" /><Relationship Type="http://schemas.openxmlformats.org/officeDocument/2006/relationships/notesMaster" Target="/ppt/notesMasters/notesMaster1.xml" Id="Rc213579dd974454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e7a3dc4f51b4a67" /><Relationship Type="http://schemas.openxmlformats.org/officeDocument/2006/relationships/notesMaster" Target="/ppt/notesMasters/notesMaster1.xml" Id="R896bd12202884b2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1c9d8d425204af2" /><Relationship Type="http://schemas.openxmlformats.org/officeDocument/2006/relationships/notesMaster" Target="/ppt/notesMasters/notesMaster1.xml" Id="R18e2b0f563f94c0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7b7a84976b24391" /><Relationship Type="http://schemas.openxmlformats.org/officeDocument/2006/relationships/notesMaster" Target="/ppt/notesMasters/notesMaster1.xml" Id="Rb6361ce6b44a4c5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78cd793c8b74379" /><Relationship Type="http://schemas.openxmlformats.org/officeDocument/2006/relationships/notesMaster" Target="/ppt/notesMasters/notesMaster1.xml" Id="R2842266446f8427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2ea64b53eb64b43" /><Relationship Type="http://schemas.openxmlformats.org/officeDocument/2006/relationships/notesMaster" Target="/ppt/notesMasters/notesMaster1.xml" Id="R884084aefc7b44f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2e5609548134642" /><Relationship Type="http://schemas.openxmlformats.org/officeDocument/2006/relationships/notesMaster" Target="/ppt/notesMasters/notesMaster1.xml" Id="R95e9f2857ed94cc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f015bb9aaff4a57" /><Relationship Type="http://schemas.openxmlformats.org/officeDocument/2006/relationships/notesMaster" Target="/ppt/notesMasters/notesMaster1.xml" Id="Rf8f866632eef444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e86608e75c44f6b" /><Relationship Type="http://schemas.openxmlformats.org/officeDocument/2006/relationships/notesMaster" Target="/ppt/notesMasters/notesMaster1.xml" Id="R35fbdf52cb16437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003e8393f7d4a65" /><Relationship Type="http://schemas.openxmlformats.org/officeDocument/2006/relationships/notesMaster" Target="/ppt/notesMasters/notesMaster1.xml" Id="R8fefb2df5ccf473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af6ac97a6dc4bd7" /><Relationship Type="http://schemas.openxmlformats.org/officeDocument/2006/relationships/notesMaster" Target="/ppt/notesMasters/notesMaster1.xml" Id="Rd9f323281a314bf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fad9bc03fd14ffb" /><Relationship Type="http://schemas.openxmlformats.org/officeDocument/2006/relationships/notesMaster" Target="/ppt/notesMasters/notesMaster1.xml" Id="R1c690e7d95304a8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65f7c530d30463e" /><Relationship Type="http://schemas.openxmlformats.org/officeDocument/2006/relationships/notesMaster" Target="/ppt/notesMasters/notesMaster1.xml" Id="Rc5e89eb30384464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fcb286dab454875" /><Relationship Type="http://schemas.openxmlformats.org/officeDocument/2006/relationships/notesMaster" Target="/ppt/notesMasters/notesMaster1.xml" Id="Rcd75017d20784c5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4eb08d676594b9d" /><Relationship Type="http://schemas.openxmlformats.org/officeDocument/2006/relationships/notesMaster" Target="/ppt/notesMasters/notesMaster1.xml" Id="R3f87f89e6a62443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a37a88c6bb449d2" /><Relationship Type="http://schemas.openxmlformats.org/officeDocument/2006/relationships/notesMaster" Target="/ppt/notesMasters/notesMaster1.xml" Id="R09df8ba99c6e4ea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fae689ac0ca4538" /><Relationship Type="http://schemas.openxmlformats.org/officeDocument/2006/relationships/notesMaster" Target="/ppt/notesMasters/notesMaster1.xml" Id="Re4be2a00207a446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c21de457d134cb3" /><Relationship Type="http://schemas.openxmlformats.org/officeDocument/2006/relationships/notesMaster" Target="/ppt/notesMasters/notesMaster1.xml" Id="Rb4fa57624da046f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55b140b9b6c4f1d" /><Relationship Type="http://schemas.openxmlformats.org/officeDocument/2006/relationships/notesMaster" Target="/ppt/notesMasters/notesMaster1.xml" Id="Rb22fb8d2965747e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271b62b22bc4431" /><Relationship Type="http://schemas.openxmlformats.org/officeDocument/2006/relationships/notesMaster" Target="/ppt/notesMasters/notesMaster1.xml" Id="R5a28eb7acea449d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1d44911102f44aa" /><Relationship Type="http://schemas.openxmlformats.org/officeDocument/2006/relationships/notesMaster" Target="/ppt/notesMasters/notesMaster1.xml" Id="R21199c8c66fb406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ccc04c39f2341d9" /><Relationship Type="http://schemas.openxmlformats.org/officeDocument/2006/relationships/notesMaster" Target="/ppt/notesMasters/notesMaster1.xml" Id="R539e27453c54492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f7f21593d0b4ce4" /><Relationship Type="http://schemas.openxmlformats.org/officeDocument/2006/relationships/notesMaster" Target="/ppt/notesMasters/notesMaster1.xml" Id="R9a9a2126f83a47f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8553a6e90ad4d6f" /><Relationship Type="http://schemas.openxmlformats.org/officeDocument/2006/relationships/notesMaster" Target="/ppt/notesMasters/notesMaster1.xml" Id="R27a7699650804ed7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c0c785252ef4f39" /><Relationship Type="http://schemas.openxmlformats.org/officeDocument/2006/relationships/notesMaster" Target="/ppt/notesMasters/notesMaster1.xml" Id="Rf36400527d7a4346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af9ed11fecb4e5f" /><Relationship Type="http://schemas.openxmlformats.org/officeDocument/2006/relationships/notesMaster" Target="/ppt/notesMasters/notesMaster1.xml" Id="Rcd5aaa7a83c142f6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ec202540ddae4ab1" /><Relationship Type="http://schemas.openxmlformats.org/officeDocument/2006/relationships/notesMaster" Target="/ppt/notesMasters/notesMaster1.xml" Id="R0d522e895dd746d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74a746c225364a37" /><Relationship Type="http://schemas.openxmlformats.org/officeDocument/2006/relationships/notesMaster" Target="/ppt/notesMasters/notesMaster1.xml" Id="R69870dc36a934ecb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d22f89305b764c2a" /><Relationship Type="http://schemas.openxmlformats.org/officeDocument/2006/relationships/notesMaster" Target="/ppt/notesMasters/notesMaster1.xml" Id="R9434af3621e54641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6d8ce953310f4b43" /><Relationship Type="http://schemas.openxmlformats.org/officeDocument/2006/relationships/notesMaster" Target="/ppt/notesMasters/notesMaster1.xml" Id="R1c98378dfa184d10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208b90bab4b14c8f" /><Relationship Type="http://schemas.openxmlformats.org/officeDocument/2006/relationships/notesMaster" Target="/ppt/notesMasters/notesMaster1.xml" Id="Rd8d7b8dd13c1451a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8af67c94029347e1" /><Relationship Type="http://schemas.openxmlformats.org/officeDocument/2006/relationships/notesMaster" Target="/ppt/notesMasters/notesMaster1.xml" Id="Rb29c7f5ec5ee47b2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ab73d5841fd84f34" /><Relationship Type="http://schemas.openxmlformats.org/officeDocument/2006/relationships/notesMaster" Target="/ppt/notesMasters/notesMaster1.xml" Id="Rc05bed8c23774b2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阅读巩固《手机被丢弃之后》。来源：用户提供的课文3页、巩固练习1页、教参2页及4张原有图画。</a:t>
            </a:r>
          </a:p>
          <a:p xmlns:a="http://schemas.openxmlformats.org/drawingml/2006/main">
            <a:r>
              <a:t>两课时，每课50分钟。导入只听两三名学生口头回答：更换手机后，旧手机怎样处理？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阅读巩固《手机被丢弃之后》。来源：用户提供的课文3页、巩固练习1页、教参2页及4张原有图画。</a:t>
            </a:r>
          </a:p>
          <a:p xmlns:a="http://schemas.openxmlformats.org/drawingml/2006/main">
            <a:r>
              <a:t>教参2.1 第1段引导题</a:t>
            </a:r>
          </a:p>
          <a:p xmlns:a="http://schemas.openxmlformats.org/drawingml/2006/main">
            <a:r>
              <a:t>教师示范。先问再揭。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阅读巩固《手机被丢弃之后》。来源：用户提供的课文3页、巩固练习1页、教参2页及4张原有图画。</a:t>
            </a:r>
          </a:p>
          <a:p xmlns:a="http://schemas.openxmlformats.org/drawingml/2006/main">
            <a:r>
              <a:t>用“你”直接与读者交流，拉近距离；三个问句引导读者回想更换手机的经验，关注旧手机的去向，从而引出电子垃圾这一说明对象。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阅读巩固《手机被丢弃之后》。来源：用户提供的课文3页、巩固练习1页、教参2页及4张原有图画。</a:t>
            </a:r>
          </a:p>
          <a:p xmlns:a="http://schemas.openxmlformats.org/drawingml/2006/main">
            <a:r>
              <a:t>课本第2段图表旁注、巩固练习二第一行；教参2.1 第2—3段引导题</a:t>
            </a:r>
          </a:p>
          <a:p xmlns:a="http://schemas.openxmlformats.org/drawingml/2006/main">
            <a:r>
              <a:t>先看标题，再看类别和比例。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阅读巩固《手机被丢弃之后》。来源：用户提供的课文3页、巩固练习1页、教参2页及4张原有图画。</a:t>
            </a:r>
          </a:p>
          <a:p xmlns:a="http://schemas.openxmlformats.org/drawingml/2006/main">
            <a:r>
              <a:t>据教材引用的2020年全球电子废弃物监测报告。保留六类及精确比例，合计100%。本页使用可编辑饼状图与表格。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阅读巩固《手机被丢弃之后》。来源：用户提供的课文3页、巩固练习1页、教参2页及4张原有图画。</a:t>
            </a:r>
          </a:p>
          <a:p xmlns:a="http://schemas.openxmlformats.org/drawingml/2006/main">
            <a:r>
              <a:t>第2段指出“家用电器占百分之七十六”，这包括图表中的哪些部分？</a:t>
            </a:r>
          </a:p>
          <a:p xmlns:a="http://schemas.openxmlformats.org/drawingml/2006/main">
            <a:r>
              <a:t>师生共同点认三类；不要预先给合计答案。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阅读巩固《手机被丢弃之后》。来源：用户提供的课文3页、巩固练习1页、教参2页及4张原有图画。</a:t>
            </a:r>
          </a:p>
          <a:p xmlns:a="http://schemas.openxmlformats.org/drawingml/2006/main">
            <a:r>
              <a:t>图表说明全球电子垃圾的构成。资讯科技产品占9%；家用电器占76%，由小型电器32%、大型电器24%及制冷、取暖电器20%相加而成。单独一类中，小型电器比例最大。说明电子垃圾不只是手机和电脑，家用电器占大多数。</a:t>
            </a:r>
          </a:p>
          <a:p xmlns:a="http://schemas.openxmlformats.org/drawingml/2006/main">
            <a:r>
              <a:t>巩固练习二第一行：资讯科技产品9%，家用电器76%。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阅读巩固《手机被丢弃之后》。来源：用户提供的课文3页、巩固练习1页、教参2页及4张原有图画。</a:t>
            </a:r>
          </a:p>
          <a:p xmlns:a="http://schemas.openxmlformats.org/drawingml/2006/main">
            <a:r>
              <a:t>课本第3段旁注、巩固练习二第二行；教参2.1 第2—3段引导题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阅读巩固《手机被丢弃之后》。来源：用户提供的课文3页、巩固练习1页、教参2页及4张原有图画。</a:t>
            </a:r>
          </a:p>
          <a:p xmlns:a="http://schemas.openxmlformats.org/drawingml/2006/main">
            <a:r>
              <a:t>保留教材原折线图，不虚构逐年精确数列。纵轴：百万吨；2019年之后虚线为预测。教材引用2020年报告。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阅读巩固《手机被丢弃之后》。来源：用户提供的课文3页、巩固练习1页、教参2页及4张原有图画。</a:t>
            </a:r>
          </a:p>
          <a:p xmlns:a="http://schemas.openxmlformats.org/drawingml/2006/main">
            <a:r>
              <a:t>作者按年份列出2014年4440万吨、2019年比2014年增加21%、预计2030年约7400万吨，并用折线图显示整体上升趋势。这些具体数字让读者看出电子垃圾总量很大、持续增长，说明问题日益严重。</a:t>
            </a:r>
          </a:p>
          <a:p xmlns:a="http://schemas.openxmlformats.org/drawingml/2006/main">
            <a:r>
              <a:t>巩固练习二第二行。注意“增加”与“增至”；2030年是预测。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阅读巩固《手机被丢弃之后》。来源：用户提供的课文3页、巩固练习1页、教参2页及4张原有图画。</a:t>
            </a:r>
          </a:p>
          <a:p xmlns:a="http://schemas.openxmlformats.org/drawingml/2006/main">
            <a:r>
              <a:t>课本第3段旁注、巩固练习二第二行；教参2.1 第2—3段引导题</a:t>
            </a:r>
          </a:p>
          <a:p xmlns:a="http://schemas.openxmlformats.org/drawingml/2006/main">
            <a:r>
              <a:t>第一课独立书面作答之一。允许先在学习单取证。主观答案由教师核对。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阅读巩固《手机被丢弃之后》。来源：用户提供的课文3页、巩固练习1页、教参2页及4张原有图画。</a:t>
            </a:r>
          </a:p>
          <a:p xmlns:a="http://schemas.openxmlformats.org/drawingml/2006/main">
            <a:r>
              <a:t>作者按年份列出2014年4440万吨、2019年比2014年增加21%、预计2030年约7400万吨，并用折线图显示整体上升趋势。这些具体数字让读者看出电子垃圾总量很大、持续增长，说明问题日益严重。</a:t>
            </a:r>
          </a:p>
          <a:p xmlns:a="http://schemas.openxmlformats.org/drawingml/2006/main">
            <a:r>
              <a:t>建议3分：指出不同年份的具体数字1分；说明总量大且增长明显1分；解释数字和图表使变化具体清楚1分。预测写成事实须订正，不机械清零其他独立理解。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阅读巩固《手机被丢弃之后》。来源：用户提供的课文3页、巩固练习1页、教参2页及4张原有图画。</a:t>
            </a:r>
          </a:p>
          <a:p xmlns:a="http://schemas.openxmlformats.org/drawingml/2006/main">
            <a:r>
              <a:t>教材第3段“几乎会翻一番”与精确翻倍有距离。翻一番应为原来的2倍；不把这句话设为精确计算得分点。仅作答后辨析。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阅读巩固《手机被丢弃之后》。来源：用户提供的课文3页、巩固练习1页、教参2页及4张原有图画。</a:t>
            </a:r>
          </a:p>
          <a:p xmlns:a="http://schemas.openxmlformats.org/drawingml/2006/main">
            <a:r>
              <a:t>仿写句子。</a:t>
            </a:r>
          </a:p>
          <a:p xmlns:a="http://schemas.openxmlformats.org/drawingml/2006/main">
            <a:r>
              <a:t>例：随着科技日新月异，可供选择的电子产品越来越多，人们更新电子产品的速度越来越快，电子垃圾也逐年增多。</a:t>
            </a:r>
          </a:p>
          <a:p xmlns:a="http://schemas.openxmlformats.org/drawingml/2006/main">
            <a:r>
              <a:t>随着____________，____________逐年______。</a:t>
            </a:r>
          </a:p>
          <a:p xmlns:a="http://schemas.openxmlformats.org/drawingml/2006/main">
            <a:r>
              <a:t>原句完整显示在互动页左侧。第一课第二项书写。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阅读巩固《手机被丢弃之后》。来源：用户提供的课文3页、巩固练习1页、教参2页及4张原有图画。</a:t>
            </a:r>
          </a:p>
          <a:p xmlns:a="http://schemas.openxmlformats.org/drawingml/2006/main">
            <a:r>
              <a:t>示例：随着同学们越来越重视节约用水，学校的用水量逐年减少。</a:t>
            </a:r>
          </a:p>
          <a:p xmlns:a="http://schemas.openxmlformats.org/drawingml/2006/main">
            <a:r>
              <a:t>示例是假设句式练习，不是某校实测资料。建议2分：句式与时间范围正确1分；前后关系合理、句子通顺1分。接受其他合理内容，不自动判定。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阅读巩固《手机被丢弃之后》。来源：用户提供的课文3页、巩固练习1页、教参2页及4张原有图画。</a:t>
            </a:r>
          </a:p>
          <a:p xmlns:a="http://schemas.openxmlformats.org/drawingml/2006/main">
            <a:r>
              <a:t>课本第4段旁注；教参2.1 第4段</a:t>
            </a:r>
          </a:p>
          <a:p xmlns:a="http://schemas.openxmlformats.org/drawingml/2006/main">
            <a:r>
              <a:t>点选归类，保留全部原因。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阅读巩固《手机被丢弃之后》。来源：用户提供的课文3页、巩固练习1页、教参2页及4张原有图画。</a:t>
            </a:r>
          </a:p>
          <a:p xmlns:a="http://schemas.openxmlformats.org/drawingml/2006/main">
            <a:r>
              <a:t>一是产品易损坏、使用寿命短，而且维修途径有限；二是人们喜新厌旧，对电子垃圾的危害缺乏认识，因此不断追求新产品，随意丢弃旧电器和电子产品。两方面共同使电子垃圾增多。</a:t>
            </a:r>
          </a:p>
          <a:p xmlns:a="http://schemas.openxmlformats.org/drawingml/2006/main">
            <a:r>
              <a:t>第一课末订正；词语按个人需要收藏。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阅读巩固《手机被丢弃之后》。来源：用户提供的课文3页、巩固练习1页、教参2页及4张原有图画。</a:t>
            </a:r>
          </a:p>
          <a:p xmlns:a="http://schemas.openxmlformats.org/drawingml/2006/main">
            <a:r>
              <a:t>课本第5段旁注；教参2.1 第5—6段</a:t>
            </a:r>
          </a:p>
          <a:p xmlns:a="http://schemas.openxmlformats.org/drawingml/2006/main">
            <a:r>
              <a:t>先教学方法，再让学生在本段辨认。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阅读巩固《手机被丢弃之后》。来源：用户提供的课文3页、巩固练习1页、教参2页及4张原有图画。</a:t>
            </a:r>
          </a:p>
          <a:p xmlns:a="http://schemas.openxmlformats.org/drawingml/2006/main">
            <a:r>
              <a:t>方法先解释再练习。举例子 giving examples；列数字 using statistics。英文仅为术语辅助。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阅读巩固《手机被丢弃之后》。来源：用户提供的课文3页、巩固练习1页、教参2页及4张原有图画。</a:t>
            </a:r>
          </a:p>
          <a:p xmlns:a="http://schemas.openxmlformats.org/drawingml/2006/main">
            <a:r>
              <a:t>课本第5段旁注；教参2.1 第5—6段</a:t>
            </a:r>
          </a:p>
          <a:p xmlns:a="http://schemas.openxmlformats.org/drawingml/2006/main">
            <a:r>
              <a:t>先点手机材料的原句，再点“数据显示”一句，保留两句。第二课第一项独立书面作答。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阅读巩固《手机被丢弃之后》。来源：用户提供的课文3页、巩固练习1页、教参2页及4张原有图画。</a:t>
            </a:r>
          </a:p>
          <a:p xmlns:a="http://schemas.openxmlformats.org/drawingml/2006/main">
            <a:r>
              <a:t>用了举例子和列数字。以智能手机及其中的黄金、白银为例，具体说明电子垃圾中有可再循环利用的材料；列出60种金属元素和全部回收2016年废弃手机中金属可达95亿美元，说明可回收资源丰富、价值很高。</a:t>
            </a:r>
          </a:p>
          <a:p xmlns:a="http://schemas.openxmlformats.org/drawingml/2006/main">
            <a:r>
              <a:t>方法：举例子。接受黄金、白银等对应例证。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阅读巩固《手机被丢弃之后》。来源：用户提供的课文3页、巩固练习1页、教参2页及4张原有图画。</a:t>
            </a:r>
          </a:p>
          <a:p xmlns:a="http://schemas.openxmlformats.org/drawingml/2006/main">
            <a:r>
              <a:t>用了举例子和列数字。以智能手机及其中的黄金、白银为例，具体说明电子垃圾中有可再循环利用的材料；列出60种金属元素和全部回收2016年废弃手机中金属可达95亿美元，说明可回收资源丰富、价值很高。</a:t>
            </a:r>
          </a:p>
          <a:p xmlns:a="http://schemas.openxmlformats.org/drawingml/2006/main">
            <a:r>
              <a:t>按课文表述；不是已经实现的收入，也不是单部手机的价值。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阅读巩固《手机被丢弃之后》。来源：用户提供的课文3页、巩固练习1页、教参2页及4张原有图画。</a:t>
            </a:r>
          </a:p>
          <a:p xmlns:a="http://schemas.openxmlformats.org/drawingml/2006/main">
            <a:r>
              <a:t>建议4分：举例子及对应例子1分；列数字及对应数字1分；说明可以回收1分；说明回收价值高1分。各点独立给分，不因漏写一种方法清零其余正确分析。</a:t>
            </a:r>
          </a:p>
          <a:p xmlns:a="http://schemas.openxmlformats.org/drawingml/2006/main">
            <a:r>
              <a:t>各独立意义单位分别判断。比较首次回答，完成订正。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阅读巩固《手机被丢弃之后》。来源：用户提供的课文3页、巩固练习1页、教参2页及4张原有图画。</a:t>
            </a:r>
          </a:p>
          <a:p xmlns:a="http://schemas.openxmlformats.org/drawingml/2006/main">
            <a:r>
              <a:t>教参2.1 第5—6段引导题</a:t>
            </a:r>
          </a:p>
          <a:p xmlns:a="http://schemas.openxmlformats.org/drawingml/2006/main">
            <a:r>
              <a:t>把可回收价值与实际利用情况比较。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阅读巩固《手机被丢弃之后》。来源：用户提供的课文3页、巩固练习1页、教参2页及4张原有图画。</a:t>
            </a:r>
          </a:p>
          <a:p xmlns:a="http://schemas.openxmlformats.org/drawingml/2006/main">
            <a:r>
              <a:t>说明可回收价值很高，突出电子垃圾中资源值得回收；再与大部分被填埋、实际再循环利用不到20%对照，让读者看见大量资源未得到利用的可惜，重视回收。</a:t>
            </a:r>
          </a:p>
          <a:p xmlns:a="http://schemas.openxmlformats.org/drawingml/2006/main">
            <a:r>
              <a:t>570亿美元不是已经获得的回收收入。不到20%不是恰好20%。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阅读巩固《手机被丢弃之后》。来源：用户提供的课文3页、巩固练习1页、教参2页及4张原有图画。</a:t>
            </a:r>
          </a:p>
          <a:p xmlns:a="http://schemas.openxmlformats.org/drawingml/2006/main">
            <a:r>
              <a:t>教参2.1 第7—9段引导题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阅读巩固《手机被丢弃之后》。来源：用户提供的课文3页、巩固练习1页、教参2页及4张原有图画。</a:t>
            </a:r>
          </a:p>
          <a:p xmlns:a="http://schemas.openxmlformats.org/drawingml/2006/main">
            <a:r>
              <a:t>电子垃圾被填埋后，汞、铅等有毒重金属渗透到地下，污染土壤和地下水源，影响动植物和人类的健康，因此需要交给专业人员处理。</a:t>
            </a:r>
          </a:p>
          <a:p xmlns:a="http://schemas.openxmlformats.org/drawingml/2006/main">
            <a:r>
              <a:t>按课文因果整理。漫画帮助理解，回答仍需原文证据。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阅读巩固《手机被丢弃之后》。来源：用户提供的课文3页、巩固练习1页、教参2页及4张原有图画。</a:t>
            </a:r>
          </a:p>
          <a:p xmlns:a="http://schemas.openxmlformats.org/drawingml/2006/main">
            <a:r>
              <a:t>课本第8段旁注；教参2.1 第7—9段</a:t>
            </a:r>
          </a:p>
          <a:p xmlns:a="http://schemas.openxmlformats.org/drawingml/2006/main">
            <a:r>
              <a:t>300多个为课文资料，不作为当前地点数量。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阅读巩固《手机被丢弃之后》。来源：用户提供的课文3页、巩固练习1页、教参2页及4张原有图画。</a:t>
            </a:r>
          </a:p>
          <a:p xmlns:a="http://schemas.openxmlformats.org/drawingml/2006/main">
            <a:r>
              <a:t>在全岛许多地点设置回收箱，可方便公众投放废弃电子产品；把电子垃圾集中收集后交给专人处理，进行再循环利用，减少随意丢弃和不当处理。</a:t>
            </a:r>
          </a:p>
          <a:p xmlns:a="http://schemas.openxmlformats.org/drawingml/2006/main">
            <a:r>
              <a:t>直接信息 Direct info；合理推断 Inference。推断不能伪装成原文引句。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阅读巩固《手机被丢弃之后》。来源：用户提供的课文3页、巩固练习1页、教参2页及4张原有图画。</a:t>
            </a:r>
          </a:p>
          <a:p xmlns:a="http://schemas.openxmlformats.org/drawingml/2006/main">
            <a:r>
              <a:t>教参2.1 第7—9段引导题</a:t>
            </a:r>
          </a:p>
          <a:p xmlns:a="http://schemas.openxmlformats.org/drawingml/2006/main">
            <a:r>
              <a:t>此时读完全篇，才回看第4、6、7段。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阅读巩固《手机被丢弃之后》。来源：用户提供的课文3页、巩固练习1页、教参2页及4张原有图画。</a:t>
            </a:r>
          </a:p>
          <a:p xmlns:a="http://schemas.openxmlformats.org/drawingml/2006/main">
            <a:r>
              <a:t>因为频繁追新和随意丢弃旧手机会增加电子垃圾，浪费可回收资源，并可能造成污染及健康危害。作者提醒读者先想清楚是否确有需要更换；若已买新机，也要妥善处理旧机。</a:t>
            </a:r>
          </a:p>
          <a:p xmlns:a="http://schemas.openxmlformats.org/drawingml/2006/main">
            <a:r>
              <a:t>三思而行是慎重考虑，不是机械地想三次。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阅读巩固《手机被丢弃之后》。来源：用户提供的课文3页、巩固练习1页、教参2页及4张原有图画。</a:t>
            </a:r>
          </a:p>
          <a:p xmlns:a="http://schemas.openxmlformats.org/drawingml/2006/main">
            <a:r>
              <a:t>课本巩固练习三；教参3.3。追问“为什么”作为回答支架</a:t>
            </a:r>
          </a:p>
          <a:p xmlns:a="http://schemas.openxmlformats.org/drawingml/2006/main">
            <a:r>
              <a:t>第二课第二项书写。不能只勾已讨论；开放题由教师核对。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阅读巩固《手机被丢弃之后》。来源：用户提供的课文3页、巩固练习1页、教参2页及4张原有图画。</a:t>
            </a:r>
          </a:p>
          <a:p xmlns:a="http://schemas.openxmlformats.org/drawingml/2006/main">
            <a:r>
              <a:t>建议可以不同。说清做法，解释为什么能减少垃圾或让资源得到利用；例子要具体，最后把做法与效果连起来。不要求编造个人经历。</a:t>
            </a:r>
          </a:p>
          <a:p xmlns:a="http://schemas.openxmlformats.org/drawingml/2006/main">
            <a:r>
              <a:t>这一题是建议型，不硬套认同／不认同。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阅读巩固《手机被丢弃之后》。来源：用户提供的课文3页、巩固练习1页、教参2页及4张原有图画。</a:t>
            </a:r>
          </a:p>
          <a:p xmlns:a="http://schemas.openxmlformats.org/drawingml/2006/main">
            <a:r>
              <a:t>我会延长仍能正常使用的手机的使用时间，因为只为追新而换机，会使本来还可使用的手机提前变成垃圾。例如，新款推出时，若旧手机仍能满足通讯和学习需要，我会继续使用。这样能减少不必要的购买和丢弃，从源头减少电子垃圾。若旧机确需淘汰，我会按回收要求交给合适的回收点。</a:t>
            </a:r>
          </a:p>
          <a:p xmlns:a="http://schemas.openxmlformats.org/drawingml/2006/main">
            <a:r>
              <a:t>只在学生提交后展示，不要求学生照抄。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阅读巩固《手机被丢弃之后》。来源：用户提供的课文3页、巩固练习1页、教参2页及4张原有图画。</a:t>
            </a:r>
          </a:p>
          <a:p xmlns:a="http://schemas.openxmlformats.org/drawingml/2006/main">
            <a:r>
              <a:t>建议4分：做法具体可行1分；因果理由合理1分；例子具体吻合1分；明确回扣减少垃圾或资源利用1分。接受不同合理建议；按意义判断，不用关键词或字数自动评分。</a:t>
            </a:r>
          </a:p>
          <a:p xmlns:a="http://schemas.openxmlformats.org/drawingml/2006/main">
            <a:r>
              <a:t>维修、转让、合规回收等其他建议也可接受，须解释因果。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阅读巩固《手机被丢弃之后》。来源：用户提供的课文3页、巩固练习1页、教参2页及4张原有图画。</a:t>
            </a:r>
          </a:p>
          <a:p xmlns:a="http://schemas.openxmlformats.org/drawingml/2006/main">
            <a:r>
              <a:t>检查页补齐姓名、班级、学号／组别，可导出首次回答、尝试与订正。没有速度分或个人排名。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45ec8ae4df4a3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fec0a42103488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b4fa5bf42a4d6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975980fe4d4f8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720657b997460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88132274104e1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D8AA0BE-C93D-414A-A136-27C14BB280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44C9EC1-4E6F-4C39-8273-7A570D25D10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22A05C4-4669-4AE7-B381-7EC036810A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B008725-F305-446A-9593-AF0A05AFF5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9B16569-C3DE-476A-8014-848C6B28669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5960CE2-95F2-499E-8CEE-5F24F47F62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6714E54-2F3B-471C-B5E8-255547E05F0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0B92BC5-1B26-4E8B-81E8-842340CBE87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3E9F0F1-AA09-49B3-8F50-1217870C05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B9D1213-EDEA-48D8-837A-1F1DECB84B3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94ab61abf7e4b02" /><Relationship Type="http://schemas.openxmlformats.org/officeDocument/2006/relationships/slideLayout" Target="/ppt/slideLayouts/slideLayout1.xml" Id="R5999618695ef4333" /><Relationship Type="http://schemas.openxmlformats.org/officeDocument/2006/relationships/slideLayout" Target="/ppt/slideLayouts/slideLayout2.xml" Id="R71f7e29791d141e6" /><Relationship Type="http://schemas.openxmlformats.org/officeDocument/2006/relationships/slideLayout" Target="/ppt/slideLayouts/slideLayout3.xml" Id="Rf462b1e220644527" /><Relationship Type="http://schemas.openxmlformats.org/officeDocument/2006/relationships/slideLayout" Target="/ppt/slideLayouts/slideLayout4.xml" Id="R04aca9b004f945d6" /><Relationship Type="http://schemas.openxmlformats.org/officeDocument/2006/relationships/slideLayout" Target="/ppt/slideLayouts/slideLayout5.xml" Id="Rb7c871ce6bae4044" /><Relationship Type="http://schemas.openxmlformats.org/officeDocument/2006/relationships/slideLayout" Target="/ppt/slideLayouts/slideLayout6.xml" Id="R227e520cefb94a9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99618695ef4333"/>
    <p:sldLayoutId xmlns:r="http://schemas.openxmlformats.org/officeDocument/2006/relationships" id="2147483650" r:id="R71f7e29791d141e6"/>
    <p:sldLayoutId xmlns:r="http://schemas.openxmlformats.org/officeDocument/2006/relationships" id="2147483651" r:id="Rf462b1e220644527"/>
    <p:sldLayoutId xmlns:r="http://schemas.openxmlformats.org/officeDocument/2006/relationships" id="2147483652" r:id="R04aca9b004f945d6"/>
    <p:sldLayoutId xmlns:r="http://schemas.openxmlformats.org/officeDocument/2006/relationships" id="2147483653" r:id="Rb7c871ce6bae4044"/>
    <p:sldLayoutId xmlns:r="http://schemas.openxmlformats.org/officeDocument/2006/relationships" id="2147483654" r:id="R227e520cefb94a9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LXGW WenKai TC"/>
        <a:ea typeface=""/>
        <a:cs typeface=""/>
      </a:majorFont>
      <a:minorFont>
        <a:latin typeface="LXGW WenKai T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de33cb81554e3e" /><Relationship Type="http://schemas.openxmlformats.org/officeDocument/2006/relationships/image" Target="/ppt/media/image.png" Id="R05c2dbe1253a4c8b" /><Relationship Type="http://schemas.openxmlformats.org/officeDocument/2006/relationships/notesSlide" Target="/ppt/notesSlides/notesSlide1.xml" Id="R1ac31948f3a0457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fcc415facc4599" /><Relationship Type="http://schemas.openxmlformats.org/officeDocument/2006/relationships/notesSlide" Target="/ppt/notesSlides/notesSlide2.xml" Id="Rd4c41f42de6e452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59f1fa60e24fa5" /><Relationship Type="http://schemas.openxmlformats.org/officeDocument/2006/relationships/notesSlide" Target="/ppt/notesSlides/notesSlide3.xml" Id="R36a7d3ed417640d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890fb44a9d41f6" /><Relationship Type="http://schemas.openxmlformats.org/officeDocument/2006/relationships/notesSlide" Target="/ppt/notesSlides/notesSlide4.xml" Id="R9aecd4e9995c47c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7da8c8774647be" /><Relationship Type="http://schemas.openxmlformats.org/officeDocument/2006/relationships/chart" Target="/ppt/slides/charts/chart1.xml" Id="R88789db17aba4c09" /><Relationship Type="http://schemas.openxmlformats.org/officeDocument/2006/relationships/notesSlide" Target="/ppt/notesSlides/notesSlide5.xml" Id="Rf731750ba22145b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ae2d76056a4380" /><Relationship Type="http://schemas.openxmlformats.org/officeDocument/2006/relationships/notesSlide" Target="/ppt/notesSlides/notesSlide6.xml" Id="Rb292579f346c470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57fd1ff2e64d46" /><Relationship Type="http://schemas.openxmlformats.org/officeDocument/2006/relationships/notesSlide" Target="/ppt/notesSlides/notesSlide7.xml" Id="Rf2e666fd30f64b6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e000a06fe54b56" /><Relationship Type="http://schemas.openxmlformats.org/officeDocument/2006/relationships/notesSlide" Target="/ppt/notesSlides/notesSlide8.xml" Id="R30d16a59326d40e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72ff31d70e4ac7" /><Relationship Type="http://schemas.openxmlformats.org/officeDocument/2006/relationships/image" Target="/ppt/media/image2.png" Id="Rc815567b601f4f88" /><Relationship Type="http://schemas.openxmlformats.org/officeDocument/2006/relationships/notesSlide" Target="/ppt/notesSlides/notesSlide9.xml" Id="R71011bb049374d9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9e05dbdbd44a6c" /><Relationship Type="http://schemas.openxmlformats.org/officeDocument/2006/relationships/notesSlide" Target="/ppt/notesSlides/notesSlide10.xml" Id="R24ceac9812104e0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7c2fcbac834dcc" /><Relationship Type="http://schemas.openxmlformats.org/officeDocument/2006/relationships/notesSlide" Target="/ppt/notesSlides/notesSlide11.xml" Id="R976b0bd236a84f3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d1d9d57a5d462b" /><Relationship Type="http://schemas.openxmlformats.org/officeDocument/2006/relationships/notesSlide" Target="/ppt/notesSlides/notesSlide12.xml" Id="R2f81927b59ef472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05eb14693545df" /><Relationship Type="http://schemas.openxmlformats.org/officeDocument/2006/relationships/notesSlide" Target="/ppt/notesSlides/notesSlide13.xml" Id="R19963691b9464a9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52c2381bd0485b" /><Relationship Type="http://schemas.openxmlformats.org/officeDocument/2006/relationships/notesSlide" Target="/ppt/notesSlides/notesSlide14.xml" Id="R3b1c47c0bcd64d6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23b55b16984b17" /><Relationship Type="http://schemas.openxmlformats.org/officeDocument/2006/relationships/notesSlide" Target="/ppt/notesSlides/notesSlide15.xml" Id="Rb75d691a9a2f448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1b2aa9a7f84192" /><Relationship Type="http://schemas.openxmlformats.org/officeDocument/2006/relationships/notesSlide" Target="/ppt/notesSlides/notesSlide16.xml" Id="R6c90d3e7933346b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e82e9b0d6a40ea" /><Relationship Type="http://schemas.openxmlformats.org/officeDocument/2006/relationships/notesSlide" Target="/ppt/notesSlides/notesSlide17.xml" Id="R800c8d6e8814464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0cd4aa98174810" /><Relationship Type="http://schemas.openxmlformats.org/officeDocument/2006/relationships/notesSlide" Target="/ppt/notesSlides/notesSlide18.xml" Id="Rfed449c67da04e0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693a51e90542aa" /><Relationship Type="http://schemas.openxmlformats.org/officeDocument/2006/relationships/notesSlide" Target="/ppt/notesSlides/notesSlide19.xml" Id="Ra48f14d5899c491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e05e0d190441c0" /><Relationship Type="http://schemas.openxmlformats.org/officeDocument/2006/relationships/image" Target="/ppt/media/image3.png" Id="Rd32ccd28e06c4474" /><Relationship Type="http://schemas.openxmlformats.org/officeDocument/2006/relationships/notesSlide" Target="/ppt/notesSlides/notesSlide20.xml" Id="R59c1bdd7ad9647f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2e32c4049d4f86" /><Relationship Type="http://schemas.openxmlformats.org/officeDocument/2006/relationships/notesSlide" Target="/ppt/notesSlides/notesSlide21.xml" Id="Rca9474b96ee54ad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c78f4e88ce4e72" /><Relationship Type="http://schemas.openxmlformats.org/officeDocument/2006/relationships/notesSlide" Target="/ppt/notesSlides/notesSlide22.xml" Id="R2fb54d54033547a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2f08f5d68c4e17" /><Relationship Type="http://schemas.openxmlformats.org/officeDocument/2006/relationships/notesSlide" Target="/ppt/notesSlides/notesSlide23.xml" Id="R50566deb4e4343e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6cd53ec7214aeb" /><Relationship Type="http://schemas.openxmlformats.org/officeDocument/2006/relationships/notesSlide" Target="/ppt/notesSlides/notesSlide24.xml" Id="Rc4af7f01fb1d4e5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b5553057aa4880" /><Relationship Type="http://schemas.openxmlformats.org/officeDocument/2006/relationships/notesSlide" Target="/ppt/notesSlides/notesSlide25.xml" Id="Rf273322d8a734c9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7d6b39eeb4431d" /><Relationship Type="http://schemas.openxmlformats.org/officeDocument/2006/relationships/notesSlide" Target="/ppt/notesSlides/notesSlide26.xml" Id="R46a27bbc3615489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31fdc2a4524230" /><Relationship Type="http://schemas.openxmlformats.org/officeDocument/2006/relationships/image" Target="/ppt/media/image4.png" Id="R223b0163dd68499c" /><Relationship Type="http://schemas.openxmlformats.org/officeDocument/2006/relationships/notesSlide" Target="/ppt/notesSlides/notesSlide27.xml" Id="Ra1a6d3519a6a4d0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0fb72c075542f4" /><Relationship Type="http://schemas.openxmlformats.org/officeDocument/2006/relationships/notesSlide" Target="/ppt/notesSlides/notesSlide28.xml" Id="R40387070e8ee4f3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cf98861336434b" /><Relationship Type="http://schemas.openxmlformats.org/officeDocument/2006/relationships/notesSlide" Target="/ppt/notesSlides/notesSlide29.xml" Id="R31a3ac6cd95549a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ba3c48e1604968" /><Relationship Type="http://schemas.openxmlformats.org/officeDocument/2006/relationships/notesSlide" Target="/ppt/notesSlides/notesSlide30.xml" Id="Rd76015a5781a4e0a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af154071824a57" /><Relationship Type="http://schemas.openxmlformats.org/officeDocument/2006/relationships/notesSlide" Target="/ppt/notesSlides/notesSlide31.xml" Id="Rbda0cd5f7f484265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3868a2ef6142bd" /><Relationship Type="http://schemas.openxmlformats.org/officeDocument/2006/relationships/notesSlide" Target="/ppt/notesSlides/notesSlide32.xml" Id="R4c2fdfee6149417f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6c1860e22a4852" /><Relationship Type="http://schemas.openxmlformats.org/officeDocument/2006/relationships/notesSlide" Target="/ppt/notesSlides/notesSlide33.xml" Id="Rc486f53283984fb0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fb56ed3bb040f9" /><Relationship Type="http://schemas.openxmlformats.org/officeDocument/2006/relationships/notesSlide" Target="/ppt/notesSlides/notesSlide34.xml" Id="R268009fe6bbb4bc5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b55fa70ce54f73" /><Relationship Type="http://schemas.openxmlformats.org/officeDocument/2006/relationships/notesSlide" Target="/ppt/notesSlides/notesSlide35.xml" Id="R84e1866956a2434c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6ef6eb82a7451b" /><Relationship Type="http://schemas.openxmlformats.org/officeDocument/2006/relationships/notesSlide" Target="/ppt/notesSlides/notesSlide36.xml" Id="Rd5bf53afcb7646f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pieChart>
        <c:ser>
          <c:idx val="0"/>
          <c:order val="0"/>
          <c:tx>
            <c:v>电子垃圾构成（%）</c:v>
          </c:tx>
          <c:dPt>
            <c:idx val="0"/>
            <c:spPr>
              <a:solidFill xmlns:a="http://schemas.openxmlformats.org/drawingml/2006/main">
                <a:srgbClr val="2A91C8"/>
              </a:solidFill>
            </c:spPr>
          </c:dPt>
          <c:dPt>
            <c:idx val="1"/>
            <c:spPr>
              <a:solidFill xmlns:a="http://schemas.openxmlformats.org/drawingml/2006/main">
                <a:srgbClr val="DB575C"/>
              </a:solidFill>
            </c:spPr>
          </c:dPt>
          <c:dPt>
            <c:idx val="2"/>
            <c:spPr>
              <a:solidFill xmlns:a="http://schemas.openxmlformats.org/drawingml/2006/main">
                <a:srgbClr val="58A251"/>
              </a:solidFill>
            </c:spPr>
          </c:dPt>
          <c:dPt>
            <c:idx val="3"/>
            <c:spPr>
              <a:solidFill xmlns:a="http://schemas.openxmlformats.org/drawingml/2006/main">
                <a:srgbClr val="EBCB42"/>
              </a:solidFill>
            </c:spPr>
          </c:dPt>
          <c:dPt>
            <c:idx val="4"/>
            <c:spPr>
              <a:solidFill xmlns:a="http://schemas.openxmlformats.org/drawingml/2006/main">
                <a:srgbClr val="8874B1"/>
              </a:solidFill>
            </c:spPr>
          </c:dPt>
          <c:dPt>
            <c:idx val="5"/>
            <c:spPr>
              <a:solidFill xmlns:a="http://schemas.openxmlformats.org/drawingml/2006/main">
                <a:srgbClr val="D9DD71"/>
              </a:solidFill>
            </c:spPr>
          </c:dPt>
          <c:cat>
            <c:strRef>
              <c:f>'Chart Data'!$A$2:$A$7</c:f>
              <c:strCache>
                <c:ptCount val="6"/>
                <c:pt idx="0">
                  <c:v>小型电器</c:v>
                </c:pt>
                <c:pt idx="1">
                  <c:v>大型电器</c:v>
                </c:pt>
                <c:pt idx="2">
                  <c:v>制冷、取暖电器</c:v>
                </c:pt>
                <c:pt idx="3">
                  <c:v>电子显示屏</c:v>
                </c:pt>
                <c:pt idx="4">
                  <c:v>资讯科技产品</c:v>
                </c:pt>
                <c:pt idx="5">
                  <c:v>照明产品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32</c:v>
                </c:pt>
                <c:pt idx="1">
                  <c:v>24</c:v>
                </c:pt>
                <c:pt idx="2">
                  <c:v>20</c:v>
                </c:pt>
                <c:pt idx="3">
                  <c:v>13.5</c:v>
                </c:pt>
                <c:pt idx="4">
                  <c:v>9</c:v>
                </c:pt>
                <c:pt idx="5">
                  <c:v>1.5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</c:pieChart>
      <c:spPr>
        <a:solidFill xmlns:a="http://schemas.openxmlformats.org/drawingml/2006/main">
          <a:srgbClr val="FFFCF6"/>
        </a:solidFill>
      </c:spPr>
    </c:plotArea>
    <c:plotVisOnly val="1"/>
  </c:chart>
  <c:spPr>
    <a:solidFill xmlns:a="http://schemas.openxmlformats.org/drawingml/2006/main">
      <a:srgbClr val="FFFCF6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FAD330-36C5-440A-8578-721E0D52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手机被丢弃之后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7059AC-52C9-4C59-B659-ED17452EA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96025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387E51-13C2-4045-94DC-A1C88878C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57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中二高级华文 · 单元三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8B9121-F763-43C3-8F6E-8FE70CD0E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647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AE3F37"/>
                </a:solidFill>
                <a:latin typeface="LXGW WenKai TC"/>
                <a:ea typeface="LXGW WenKai TC"/>
                <a:cs typeface="LXGW WenKai TC"/>
              </a:rPr>
              <a:t>第一课：构成、增长与原因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7E8CA1-E3C6-4CCA-9B6B-B7ED0F32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647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第二课：价值、危害与行动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296D64-3F57-48D7-8A62-A9FB104A6D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c2dbe1253a4c8b"/>
          <a:srcRect xmlns:a="http://schemas.openxmlformats.org/drawingml/2006/main" l="391" t="5273" r="50293" b="71484"/>
          <a:stretch xmlns:a="http://schemas.openxmlformats.org/drawingml/2006/main"/>
        </p:blipFill>
        <p:spPr>
          <a:xfrm xmlns:a="http://schemas.openxmlformats.org/drawingml/2006/main">
            <a:off x="7429500" y="1762125"/>
            <a:ext cx="4095750" cy="289541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4782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6AC843-19A1-4AF3-8C6C-127D0168D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rPr>
              <a:t>第一段：三个问句有什么作用？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D81276-A8E5-4514-9AD8-D273C8F54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96025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6245A6-F21D-420A-ADB0-9FAFF2D00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第1段用了第二人称和三个问句，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CCB47B-F823-43DC-AA94-BB7BDFC8C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有什么作用？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3C9327-8A1A-496E-884A-A2A27E0F4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“你”在和谁说话？最后引出什么？</a:t>
            </a:r>
          </a:p>
        </p:txBody>
      </p:sp>
    </p:spTree>
    <p:extLst>
      <p:ext uri="{BB962C8B-B14F-4D97-AF65-F5344CB8AC3E}">
        <p14:creationId xmlns:p14="http://schemas.microsoft.com/office/powerpoint/2010/main" val="14391873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10B904-5A52-44B1-B131-C34B888CD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从读者的经验引出说明对象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C6915E-49B3-4FFE-963A-BB0424E2A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96025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938C27-C8C4-489E-BE9E-B61B0496C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“你”：直接与读者交流，拉近距离。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32977E-C48F-4CDA-9268-46795E9D7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三个问句：引导回想换手机的经验。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9FC4A7-D75B-4E27-A0D3-1955E8F86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旧手机的去向：引出电子垃圾。</a:t>
            </a:r>
          </a:p>
        </p:txBody>
      </p:sp>
    </p:spTree>
    <p:extLst>
      <p:ext uri="{BB962C8B-B14F-4D97-AF65-F5344CB8AC3E}">
        <p14:creationId xmlns:p14="http://schemas.microsoft.com/office/powerpoint/2010/main" val="9527768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D23D11-12B8-4047-8401-B4AEEC781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rPr>
              <a:t>第二段：图表告诉我们什么？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793C16-7FA6-448E-B806-95199C8DE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96025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3A7E2A-DECB-4471-BF6D-BD3D1163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这个图表要告诉我们什么？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E89B4A-D313-4E80-86A9-E9D5C927D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哪一类电器或设备占的比例最大？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B4EE3D-2B96-43D2-8262-28E677A7A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这说明了什么？</a:t>
            </a:r>
          </a:p>
        </p:txBody>
      </p:sp>
    </p:spTree>
    <p:extLst>
      <p:ext uri="{BB962C8B-B14F-4D97-AF65-F5344CB8AC3E}">
        <p14:creationId xmlns:p14="http://schemas.microsoft.com/office/powerpoint/2010/main" val="2330234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A20656-FDC4-47BD-A278-2BE226613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全球电子垃圾的构成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0BA96A-80BA-4943-83A4-278985FC2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96025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05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898444FA-90FD-4520-84C0-A8D9E1F26516}"/>
              </a:ext>
            </a:extLst>
          </p:cNvPr>
          <p:cNvGraphicFramePr/>
          <p:nvPr/>
        </p:nvGraphicFramePr>
        <p:xfrm>
          <a:off xmlns:a="http://schemas.openxmlformats.org/drawingml/2006/main" x="476250" y="1619250"/>
          <a:ext xmlns:a="http://schemas.openxmlformats.org/drawingml/2006/main" cx="52387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8789db17aba4c09"/>
          </a:graphicData>
        </a:graphic>
      </p:graphicFrame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8F2D97-D234-468E-8B75-217B69CC3A66}"/>
              </a:ext>
            </a:extLst>
          </p:cNvPr>
          <p:cNvGraphicFramePr/>
          <p:nvPr/>
        </p:nvGraphicFramePr>
        <p:xfrm>
          <a:off xmlns:a="http://schemas.openxmlformats.org/drawingml/2006/main" x="6096000" y="1590675"/>
          <a:ext xmlns:a="http://schemas.openxmlformats.org/drawingml/2006/main" cx="5429250" cy="4171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62375"/>
                <a:gridCol w="1666875"/>
              </a:tblGrid>
              <a:tr h="695325">
                <a:tc>
                  <a:txBody>
                    <a:bodyPr/>
                    <a:lstStyle/>
                    <a:p>
                      <a:r>
                        <a:rPr sz="2850">
                          <a:solidFill>
                            <a:srgbClr val="FFFFFF"/>
                          </a:solidFill>
                          <a:latin typeface="LXGW WenKai TC"/>
                          <a:ea typeface="LXGW WenKai TC"/>
                          <a:cs typeface="LXGW WenKai TC"/>
                        </a:rPr>
                        <a:t>小型电器</a:t>
                      </a:r>
                    </a:p>
                  </a:txBody>
                  <a:tcPr marL="133350" marR="76200" marT="76200" marB="76200" anchor="ctr">
                    <a:lnL w="19050">
                      <a:solidFill>
                        <a:srgbClr val="FFFCF6"/>
                      </a:solidFill>
                      <a:prstDash val="solid"/>
                    </a:lnL>
                    <a:lnR w="19050">
                      <a:solidFill>
                        <a:srgbClr val="FFFCF6"/>
                      </a:solidFill>
                      <a:prstDash val="solid"/>
                    </a:lnR>
                    <a:lnT w="19050">
                      <a:solidFill>
                        <a:srgbClr val="FFFCF6"/>
                      </a:solidFill>
                      <a:prstDash val="solid"/>
                    </a:lnT>
                    <a:lnB w="19050">
                      <a:solidFill>
                        <a:srgbClr val="FFFCF6"/>
                      </a:solidFill>
                      <a:prstDash val="solid"/>
                    </a:lnB>
                    <a:solidFill>
                      <a:srgbClr val="2A91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50">
                          <a:solidFill>
                            <a:srgbClr val="243D37"/>
                          </a:solidFill>
                          <a:latin typeface="LXGW WenKai TC"/>
                          <a:ea typeface="LXGW WenKai TC"/>
                          <a:cs typeface="LXGW WenKai TC"/>
                        </a:rPr>
                        <a:t>32%</a:t>
                      </a:r>
                    </a:p>
                  </a:txBody>
                  <a:tcPr marL="133350" marR="76200" marT="76200" marB="76200" anchor="ctr">
                    <a:lnR w="19050">
                      <a:solidFill>
                        <a:srgbClr val="FFFCF6"/>
                      </a:solidFill>
                      <a:prstDash val="solid"/>
                    </a:lnR>
                    <a:lnT w="19050">
                      <a:solidFill>
                        <a:srgbClr val="FFFCF6"/>
                      </a:solidFill>
                      <a:prstDash val="solid"/>
                    </a:lnT>
                    <a:lnB w="19050">
                      <a:solidFill>
                        <a:srgbClr val="FFFCF6"/>
                      </a:solidFill>
                      <a:prstDash val="solid"/>
                    </a:lnB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2850">
                          <a:solidFill>
                            <a:srgbClr val="FFFFFF"/>
                          </a:solidFill>
                          <a:latin typeface="LXGW WenKai TC"/>
                          <a:ea typeface="LXGW WenKai TC"/>
                          <a:cs typeface="LXGW WenKai TC"/>
                        </a:rPr>
                        <a:t>大型电器</a:t>
                      </a:r>
                    </a:p>
                  </a:txBody>
                  <a:tcPr marL="133350" marR="76200" marT="76200" marB="76200" anchor="ctr">
                    <a:lnL w="19050">
                      <a:solidFill>
                        <a:srgbClr val="FFFCF6"/>
                      </a:solidFill>
                      <a:prstDash val="solid"/>
                    </a:lnL>
                    <a:lnR w="19050">
                      <a:solidFill>
                        <a:srgbClr val="FFFCF6"/>
                      </a:solidFill>
                      <a:prstDash val="solid"/>
                    </a:lnR>
                    <a:lnB w="19050">
                      <a:solidFill>
                        <a:srgbClr val="FFFCF6"/>
                      </a:solidFill>
                      <a:prstDash val="solid"/>
                    </a:lnB>
                    <a:solidFill>
                      <a:srgbClr val="DB57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50">
                          <a:solidFill>
                            <a:srgbClr val="243D37"/>
                          </a:solidFill>
                          <a:latin typeface="LXGW WenKai TC"/>
                          <a:ea typeface="LXGW WenKai TC"/>
                          <a:cs typeface="LXGW WenKai TC"/>
                        </a:rPr>
                        <a:t>24%</a:t>
                      </a:r>
                    </a:p>
                  </a:txBody>
                  <a:tcPr marL="133350" marR="76200" marT="76200" marB="76200" anchor="ctr">
                    <a:lnR w="19050">
                      <a:solidFill>
                        <a:srgbClr val="FFFCF6"/>
                      </a:solidFill>
                      <a:prstDash val="solid"/>
                    </a:lnR>
                    <a:lnB w="19050">
                      <a:solidFill>
                        <a:srgbClr val="FFFCF6"/>
                      </a:solidFill>
                      <a:prstDash val="solid"/>
                    </a:lnB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2850">
                          <a:solidFill>
                            <a:srgbClr val="243D37"/>
                          </a:solidFill>
                          <a:latin typeface="LXGW WenKai TC"/>
                          <a:ea typeface="LXGW WenKai TC"/>
                          <a:cs typeface="LXGW WenKai TC"/>
                        </a:rPr>
                        <a:t>制冷、取暖电器</a:t>
                      </a:r>
                    </a:p>
                  </a:txBody>
                  <a:tcPr marL="133350" marR="76200" marT="76200" marB="76200" anchor="ctr">
                    <a:lnL w="19050">
                      <a:solidFill>
                        <a:srgbClr val="FFFCF6"/>
                      </a:solidFill>
                      <a:prstDash val="solid"/>
                    </a:lnL>
                    <a:lnR w="19050">
                      <a:solidFill>
                        <a:srgbClr val="FFFCF6"/>
                      </a:solidFill>
                      <a:prstDash val="solid"/>
                    </a:lnR>
                    <a:lnB w="19050">
                      <a:solidFill>
                        <a:srgbClr val="FFFCF6"/>
                      </a:solidFill>
                      <a:prstDash val="solid"/>
                    </a:lnB>
                    <a:solidFill>
                      <a:srgbClr val="58A2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50">
                          <a:solidFill>
                            <a:srgbClr val="243D37"/>
                          </a:solidFill>
                          <a:latin typeface="LXGW WenKai TC"/>
                          <a:ea typeface="LXGW WenKai TC"/>
                          <a:cs typeface="LXGW WenKai TC"/>
                        </a:rPr>
                        <a:t>20%</a:t>
                      </a:r>
                    </a:p>
                  </a:txBody>
                  <a:tcPr marL="133350" marR="76200" marT="76200" marB="76200" anchor="ctr">
                    <a:lnR w="19050">
                      <a:solidFill>
                        <a:srgbClr val="FFFCF6"/>
                      </a:solidFill>
                      <a:prstDash val="solid"/>
                    </a:lnR>
                    <a:lnB w="19050">
                      <a:solidFill>
                        <a:srgbClr val="FFFCF6"/>
                      </a:solidFill>
                      <a:prstDash val="solid"/>
                    </a:lnB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2850">
                          <a:solidFill>
                            <a:srgbClr val="243D37"/>
                          </a:solidFill>
                          <a:latin typeface="LXGW WenKai TC"/>
                          <a:ea typeface="LXGW WenKai TC"/>
                          <a:cs typeface="LXGW WenKai TC"/>
                        </a:rPr>
                        <a:t>电子显示屏</a:t>
                      </a:r>
                    </a:p>
                  </a:txBody>
                  <a:tcPr marL="133350" marR="76200" marT="76200" marB="76200" anchor="ctr">
                    <a:lnL w="19050">
                      <a:solidFill>
                        <a:srgbClr val="FFFCF6"/>
                      </a:solidFill>
                      <a:prstDash val="solid"/>
                    </a:lnL>
                    <a:lnR w="19050">
                      <a:solidFill>
                        <a:srgbClr val="FFFCF6"/>
                      </a:solidFill>
                      <a:prstDash val="solid"/>
                    </a:lnR>
                    <a:lnB w="19050">
                      <a:solidFill>
                        <a:srgbClr val="FFFCF6"/>
                      </a:solidFill>
                      <a:prstDash val="solid"/>
                    </a:lnB>
                    <a:solidFill>
                      <a:srgbClr val="EBCB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50">
                          <a:solidFill>
                            <a:srgbClr val="243D37"/>
                          </a:solidFill>
                          <a:latin typeface="LXGW WenKai TC"/>
                          <a:ea typeface="LXGW WenKai TC"/>
                          <a:cs typeface="LXGW WenKai TC"/>
                        </a:rPr>
                        <a:t>13.5%</a:t>
                      </a:r>
                    </a:p>
                  </a:txBody>
                  <a:tcPr marL="133350" marR="76200" marT="76200" marB="76200" anchor="ctr">
                    <a:lnR w="19050">
                      <a:solidFill>
                        <a:srgbClr val="FFFCF6"/>
                      </a:solidFill>
                      <a:prstDash val="solid"/>
                    </a:lnR>
                    <a:lnB w="19050">
                      <a:solidFill>
                        <a:srgbClr val="FFFCF6"/>
                      </a:solidFill>
                      <a:prstDash val="solid"/>
                    </a:lnB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2850">
                          <a:solidFill>
                            <a:srgbClr val="FFFFFF"/>
                          </a:solidFill>
                          <a:latin typeface="LXGW WenKai TC"/>
                          <a:ea typeface="LXGW WenKai TC"/>
                          <a:cs typeface="LXGW WenKai TC"/>
                        </a:rPr>
                        <a:t>资讯科技产品</a:t>
                      </a:r>
                    </a:p>
                  </a:txBody>
                  <a:tcPr marL="133350" marR="76200" marT="76200" marB="76200" anchor="ctr">
                    <a:lnL w="19050">
                      <a:solidFill>
                        <a:srgbClr val="FFFCF6"/>
                      </a:solidFill>
                      <a:prstDash val="solid"/>
                    </a:lnL>
                    <a:lnR w="19050">
                      <a:solidFill>
                        <a:srgbClr val="FFFCF6"/>
                      </a:solidFill>
                      <a:prstDash val="solid"/>
                    </a:lnR>
                    <a:lnB w="19050">
                      <a:solidFill>
                        <a:srgbClr val="FFFCF6"/>
                      </a:solidFill>
                      <a:prstDash val="solid"/>
                    </a:lnB>
                    <a:solidFill>
                      <a:srgbClr val="8874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50">
                          <a:solidFill>
                            <a:srgbClr val="243D37"/>
                          </a:solidFill>
                          <a:latin typeface="LXGW WenKai TC"/>
                          <a:ea typeface="LXGW WenKai TC"/>
                          <a:cs typeface="LXGW WenKai TC"/>
                        </a:rPr>
                        <a:t>9%</a:t>
                      </a:r>
                    </a:p>
                  </a:txBody>
                  <a:tcPr marL="133350" marR="76200" marT="76200" marB="76200" anchor="ctr">
                    <a:lnR w="19050">
                      <a:solidFill>
                        <a:srgbClr val="FFFCF6"/>
                      </a:solidFill>
                      <a:prstDash val="solid"/>
                    </a:lnR>
                    <a:lnB w="19050">
                      <a:solidFill>
                        <a:srgbClr val="FFFCF6"/>
                      </a:solidFill>
                      <a:prstDash val="solid"/>
                    </a:lnB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2850">
                          <a:solidFill>
                            <a:srgbClr val="243D37"/>
                          </a:solidFill>
                          <a:latin typeface="LXGW WenKai TC"/>
                          <a:ea typeface="LXGW WenKai TC"/>
                          <a:cs typeface="LXGW WenKai TC"/>
                        </a:rPr>
                        <a:t>照明产品</a:t>
                      </a:r>
                    </a:p>
                  </a:txBody>
                  <a:tcPr marL="133350" marR="76200" marT="76200" marB="76200" anchor="ctr">
                    <a:lnL w="19050">
                      <a:solidFill>
                        <a:srgbClr val="FFFCF6"/>
                      </a:solidFill>
                      <a:prstDash val="solid"/>
                    </a:lnL>
                    <a:lnR w="19050">
                      <a:solidFill>
                        <a:srgbClr val="FFFCF6"/>
                      </a:solidFill>
                      <a:prstDash val="solid"/>
                    </a:lnR>
                    <a:lnB w="19050">
                      <a:solidFill>
                        <a:srgbClr val="FFFCF6"/>
                      </a:solidFill>
                      <a:prstDash val="solid"/>
                    </a:lnB>
                    <a:solidFill>
                      <a:srgbClr val="D9DD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50">
                          <a:solidFill>
                            <a:srgbClr val="243D37"/>
                          </a:solidFill>
                          <a:latin typeface="LXGW WenKai TC"/>
                          <a:ea typeface="LXGW WenKai TC"/>
                          <a:cs typeface="LXGW WenKai TC"/>
                        </a:rPr>
                        <a:t>1.5%</a:t>
                      </a:r>
                    </a:p>
                  </a:txBody>
                  <a:tcPr marL="133350" marR="76200" marT="76200" marB="76200" anchor="ctr">
                    <a:lnR w="19050">
                      <a:solidFill>
                        <a:srgbClr val="FFFCF6"/>
                      </a:solidFill>
                      <a:prstDash val="solid"/>
                    </a:lnR>
                    <a:lnB w="19050">
                      <a:solidFill>
                        <a:srgbClr val="FFFCF6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32696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5F8C06-7103-4A05-B7B7-B5A013B79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rPr>
              <a:t>76%包括图中的哪些部分？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A49EC1-D292-4206-BFDA-2AB40BFCB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96025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11244F-2543-4A69-A544-EF4A1DF4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“家用电器占百分之七十六”，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F1E190-4162-41A5-87D9-AC977EE96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这包括图表中的哪些部分？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9DCCA3-04FB-43FC-A7FE-E864277F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先找类别，再相加验证。</a:t>
            </a:r>
          </a:p>
        </p:txBody>
      </p:sp>
    </p:spTree>
    <p:extLst>
      <p:ext uri="{BB962C8B-B14F-4D97-AF65-F5344CB8AC3E}">
        <p14:creationId xmlns:p14="http://schemas.microsoft.com/office/powerpoint/2010/main" val="15850062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EAA6DA-432B-4387-82B7-BC08AA1BF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单独类别与合并类别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0AF82A-BFFC-4208-8AE8-71C532248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96025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C5EE81-EBF9-4707-B65C-8C82EB92C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小型32%＋大型24%＋制冷取暖20%＝76%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EF051F-5F5C-4794-A3D6-FC2ECCD44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单独一类最大：小型电器，32%。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4AF333-6174-411D-BE8B-0B29A0352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合起来看：家用电器占大多数。</a:t>
            </a:r>
          </a:p>
        </p:txBody>
      </p:sp>
    </p:spTree>
    <p:extLst>
      <p:ext uri="{BB962C8B-B14F-4D97-AF65-F5344CB8AC3E}">
        <p14:creationId xmlns:p14="http://schemas.microsoft.com/office/powerpoint/2010/main" val="7320536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CCAFEE-F292-47B4-A0B4-9C74215A9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rPr>
              <a:t>第三段：怎样看整体变化？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0CF262-2E63-4B46-906C-E6F9F32EB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96025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E60E3C-BFFD-4812-B667-0E1D12D49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第3段如何说明电子垃圾总量的整体变化？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9BDC6B-5C22-4BA0-BFD9-D960883A8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第3段下面的折线图主要告诉我们什么？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9617B2-F093-47FF-958B-7D1A3D3DA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先核对年份、单位和线型。</a:t>
            </a:r>
          </a:p>
        </p:txBody>
      </p:sp>
    </p:spTree>
    <p:extLst>
      <p:ext uri="{BB962C8B-B14F-4D97-AF65-F5344CB8AC3E}">
        <p14:creationId xmlns:p14="http://schemas.microsoft.com/office/powerpoint/2010/main" val="5275527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EC4B4E-9943-4B0B-83EA-51E95E3D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全球电子垃圾总量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34AC30-3135-4EFC-B5E2-594B913A2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96025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09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D716B0-71AD-4D25-AECB-A2704D67BA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15567b601f4f88"/>
          <a:srcRect xmlns:a="http://schemas.openxmlformats.org/drawingml/2006/main" l="9668" t="38603" r="12266" b="34804"/>
          <a:stretch xmlns:a="http://schemas.openxmlformats.org/drawingml/2006/main"/>
        </p:blipFill>
        <p:spPr>
          <a:xfrm xmlns:a="http://schemas.openxmlformats.org/drawingml/2006/main">
            <a:off x="2286000" y="1809750"/>
            <a:ext cx="7191375" cy="33147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975C6D-687A-45CB-8F43-8AD506CF1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31445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百万吨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2E9D34-DA0A-4062-91FD-E1059441B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571625"/>
            <a:ext cx="714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80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84C05F-50E1-4269-B167-4F919E141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428875"/>
            <a:ext cx="714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4F3AA8-3357-4014-8BF0-07D34C2C2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67075"/>
            <a:ext cx="714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40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668D78-16A6-4B09-94B6-140095E45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114800"/>
            <a:ext cx="714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7837D3-9B20-495F-825A-ACE17A26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914900"/>
            <a:ext cx="714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D81197-6FA2-40A7-ABBB-7122900CC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76850"/>
            <a:ext cx="114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2014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408F6F-306E-41D9-8F0E-A2243F8C2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276850"/>
            <a:ext cx="114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2019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FF5FCE-53E1-4F2C-B900-1F78ADC49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276850"/>
            <a:ext cx="114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2024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A255C6-ECB7-4A71-B80D-DE219337A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276850"/>
            <a:ext cx="114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2030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EFF3BC-C200-411D-BBC6-FBB1B78C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276850"/>
            <a:ext cx="123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年份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EC65A2-AFB0-482B-9558-BB418228B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9150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实线：历史资料　　虚线：预测</a:t>
            </a:r>
          </a:p>
        </p:txBody>
      </p:sp>
    </p:spTree>
    <p:extLst>
      <p:ext uri="{BB962C8B-B14F-4D97-AF65-F5344CB8AC3E}">
        <p14:creationId xmlns:p14="http://schemas.microsoft.com/office/powerpoint/2010/main" val="9234583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8D0420-564D-4796-A99A-79B39ACE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按课文整理三个时间点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B1339A-7648-45C6-BDA0-5B220E5FB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96025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D44813-4B38-4CFF-BCC6-76D2B49ED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2014年：4440万吨。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813E2C-CEBA-4B54-AAE8-CFD84EA58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2019年：比2014年增加21%。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D934C5-17F5-4527-AFFC-83A407148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预计2030年：约7400万吨。</a:t>
            </a:r>
          </a:p>
        </p:txBody>
      </p:sp>
    </p:spTree>
    <p:extLst>
      <p:ext uri="{BB962C8B-B14F-4D97-AF65-F5344CB8AC3E}">
        <p14:creationId xmlns:p14="http://schemas.microsoft.com/office/powerpoint/2010/main" val="53483966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D66689-2755-4671-A985-6424BD8C7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rPr>
              <a:t>为什么要列举这些数字？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C26A2F-E544-4828-8091-CC9F4091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96025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FD8B8C-C746-4EF7-A4B5-E80FE8B80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加入数字原句，可连续加入多句。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2153C0-AEC8-4B03-9B5B-5502769A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用2—3句话说明：数字和折线图，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E03C2A-3826-4E98-BEE1-494A2D3B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怎样让我们看清电子垃圾的问题？</a:t>
            </a:r>
          </a:p>
        </p:txBody>
      </p:sp>
    </p:spTree>
    <p:extLst>
      <p:ext uri="{BB962C8B-B14F-4D97-AF65-F5344CB8AC3E}">
        <p14:creationId xmlns:p14="http://schemas.microsoft.com/office/powerpoint/2010/main" val="97326877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51B6F3-D061-4551-9296-FEEF06049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数字要联系说明重点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5161E3-1DF9-4356-899E-D6097F628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96025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CDAE9B-8336-4659-B35B-DFBEE477C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数量：总量很大。变化：持续增长。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8284FF-9A4A-43B4-8821-67BC4A860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具体年份、数量与增幅让变化清楚可见。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D1CA84-262F-405B-A7C4-37E47FCB8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这说明电子垃圾问题日益严重。</a:t>
            </a:r>
          </a:p>
        </p:txBody>
      </p:sp>
    </p:spTree>
    <p:extLst>
      <p:ext uri="{BB962C8B-B14F-4D97-AF65-F5344CB8AC3E}">
        <p14:creationId xmlns:p14="http://schemas.microsoft.com/office/powerpoint/2010/main" val="173721664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39899A-4F8A-4994-9FC5-5321C8DC4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“几乎会翻一番”与精确计算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71D751-30EA-40CF-98ED-E1E1719E0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96025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B7A8C7-CD39-4128-8C77-30E5C766C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课文原句保留，精确计算另作区分。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C5E685-9D0A-4C29-AC77-7F1D7E679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7400÷4440≈1.67，即增加约67%。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65D96C-034A-4329-A429-D3E4AFB9F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概括趋势时写“总量明显增长”。</a:t>
            </a:r>
          </a:p>
        </p:txBody>
      </p:sp>
    </p:spTree>
    <p:extLst>
      <p:ext uri="{BB962C8B-B14F-4D97-AF65-F5344CB8AC3E}">
        <p14:creationId xmlns:p14="http://schemas.microsoft.com/office/powerpoint/2010/main" val="109651999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EF5648-8F79-4DBC-876E-8B681120E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rPr>
              <a:t>仿写句子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8DE5F0-F00A-43E9-B217-BBD2C0868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96025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38D464-1A1B-43E7-8917-8235FD38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随着____________，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1B86B2-E392-4A90-81AE-2FBA8173A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____________逐年______。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ADFE35-9178-4E5D-BE91-E8FED0D66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前后变化要有合理联系。</a:t>
            </a:r>
          </a:p>
        </p:txBody>
      </p:sp>
    </p:spTree>
    <p:extLst>
      <p:ext uri="{BB962C8B-B14F-4D97-AF65-F5344CB8AC3E}">
        <p14:creationId xmlns:p14="http://schemas.microsoft.com/office/powerpoint/2010/main" val="129122299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4C7272-13FD-4EA9-B133-686504C67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仿句对照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C8B2A4-02A4-4852-97F7-C2F86E43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96025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17F991-13DD-46DF-9066-3EFE588A2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随着同学们越来越重视节约用水，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169A8E-E0BD-42D6-BF2C-8E674E6C1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学校的用水量逐年减少。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647387-6A4E-4258-9250-D6B7419EB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“逐年”是一年一年地，不能只写今天。</a:t>
            </a:r>
          </a:p>
        </p:txBody>
      </p:sp>
    </p:spTree>
    <p:extLst>
      <p:ext uri="{BB962C8B-B14F-4D97-AF65-F5344CB8AC3E}">
        <p14:creationId xmlns:p14="http://schemas.microsoft.com/office/powerpoint/2010/main" val="125242791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19B498-AB8B-4AEC-9163-0FC8E864A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rPr>
              <a:t>第四段：为什么泛滥成灾？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A6CD4A-8361-4843-AB95-4AFD0F39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96025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3E3EA4-9DA2-44B4-9528-EB11B9C04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电子垃圾为什么会泛滥成灾？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607DD1-0F74-4A6E-89E7-C17BAE6C8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先按“一是”“二是”分清两方面。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1B8568-1E72-4F70-B522-B492FFF47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用完整句口头回答。</a:t>
            </a:r>
          </a:p>
        </p:txBody>
      </p:sp>
    </p:spTree>
    <p:extLst>
      <p:ext uri="{BB962C8B-B14F-4D97-AF65-F5344CB8AC3E}">
        <p14:creationId xmlns:p14="http://schemas.microsoft.com/office/powerpoint/2010/main" val="188953062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74047A-BAE0-44F0-A087-CB3295D5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两方面共同增加电子垃圾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E0A773-DA75-4E5C-85F6-8901323F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96025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14E677-9B37-4AD6-83BC-C807879DF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产品：易损坏、寿命短、维修途径有限。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128D5D-AE42-456E-AA5C-11502BD7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人们：喜新厌旧、缺乏危害认识。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C7D96D-6041-42EF-AE54-3EBFB9A66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不断追新并随意丢弃，使垃圾更多。</a:t>
            </a:r>
          </a:p>
        </p:txBody>
      </p:sp>
    </p:spTree>
    <p:extLst>
      <p:ext uri="{BB962C8B-B14F-4D97-AF65-F5344CB8AC3E}">
        <p14:creationId xmlns:p14="http://schemas.microsoft.com/office/powerpoint/2010/main" val="58769189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C1E554-BA02-4295-85CF-E4BC07EDA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rPr>
              <a:t>第二课：第五段的说明方法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D78F3A-4ED4-4046-ADCF-D1CB024E3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96025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4F1DE6-4BBF-4A6B-97F7-54BEF660D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第5段使用了哪些说明方法？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66ECAD-5E08-4E18-97F9-45D4DD3A4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用来说明什么？</a:t>
            </a:r>
          </a:p>
        </p:txBody>
      </p:sp>
    </p:spTree>
    <p:extLst>
      <p:ext uri="{BB962C8B-B14F-4D97-AF65-F5344CB8AC3E}">
        <p14:creationId xmlns:p14="http://schemas.microsoft.com/office/powerpoint/2010/main" val="194777403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F73E06-7747-4178-8327-AD9B1566B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举例子与列数字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4F8ED5-5292-4263-AAFB-77B4EC399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96025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3A9EA1-688D-4883-B65A-96A738C35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举例子：用具体事物说明一般情况。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BBFECE-2497-486C-850B-5798ADF3E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列数字：用数量、比例说明大小或程度。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E0C07B-6CEE-48F5-BB42-CFC21728C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答题还要说：具体说明了什么。</a:t>
            </a:r>
          </a:p>
        </p:txBody>
      </p:sp>
    </p:spTree>
    <p:extLst>
      <p:ext uri="{BB962C8B-B14F-4D97-AF65-F5344CB8AC3E}">
        <p14:creationId xmlns:p14="http://schemas.microsoft.com/office/powerpoint/2010/main" val="199203821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EB18CD-CE55-49FF-86F5-849BA9F5C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rPr>
              <a:t>第五段：找完整的证据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7FC388-21AF-4BDB-8EF3-3F8F89155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96025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E25DFD-3590-4BE3-BF2E-3DBD7DE6F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9055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连续加入两句原文，</a:t>
            </a:r>
          </a:p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再写出：</a:t>
            </a:r>
          </a:p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方法＋例子／数字＋重点。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C70ABF-A156-47E1-BD39-965EE028D7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2ccd28e06c4474"/>
          <a:srcRect xmlns:a="http://schemas.openxmlformats.org/drawingml/2006/main" l="50586" t="5273" r="391" b="69466"/>
          <a:stretch xmlns:a="http://schemas.openxmlformats.org/drawingml/2006/main"/>
        </p:blipFill>
        <p:spPr>
          <a:xfrm xmlns:a="http://schemas.openxmlformats.org/drawingml/2006/main">
            <a:off x="7381875" y="1714500"/>
            <a:ext cx="4095750" cy="316563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06218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BFE8A6-020C-4342-8179-343B585F4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手机的例子说明什么？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511634-232D-4F7A-8CDD-1FC413114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96025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0434B7-61FF-4E31-971A-DBF1BC26C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以智能手机和其中的贵金属为例，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4E4C3F-B973-4EF1-A13F-A3B73C22C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具体说明电子垃圾中有可利用的资源。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B5E800-040A-4081-8149-A2D82A226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一般说明与具体事物联系起来。</a:t>
            </a:r>
          </a:p>
        </p:txBody>
      </p:sp>
    </p:spTree>
    <p:extLst>
      <p:ext uri="{BB962C8B-B14F-4D97-AF65-F5344CB8AC3E}">
        <p14:creationId xmlns:p14="http://schemas.microsoft.com/office/powerpoint/2010/main" val="86685545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BB0D12-ED89-423D-9190-57EC2CD58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数字说明什么？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8655CC-36B4-4933-A4A3-67783A39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96025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0BE44E-169E-4F84-85CB-F018683B2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60种：说明手机材料中的资源丰富。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D5632E-0EDC-4B60-8A21-E8A0B4938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95亿美元：说明全部回收的价值很高。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267FF4-CE70-41D8-BA1A-AC5A0B135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注意“如果”“全部回收”的条件。</a:t>
            </a:r>
          </a:p>
        </p:txBody>
      </p:sp>
    </p:spTree>
    <p:extLst>
      <p:ext uri="{BB962C8B-B14F-4D97-AF65-F5344CB8AC3E}">
        <p14:creationId xmlns:p14="http://schemas.microsoft.com/office/powerpoint/2010/main" val="24661243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8E95BD-A042-4CDD-A7C6-AC23BF051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把方法与作用连起来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D810E5-C8F2-4A9A-9F8C-D0FC3055C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96025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0B1ED8-F69A-446F-897C-ED9302B97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本段用了举例子和列数字，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D39508-860F-4C80-8E0E-B3678689D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以手机及其中金属为例，列出有关数量，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1C9A11-9127-4AEF-9A9A-043609BCA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具体说明大部分电子垃圾可回收、价值高。</a:t>
            </a:r>
          </a:p>
        </p:txBody>
      </p:sp>
    </p:spTree>
    <p:extLst>
      <p:ext uri="{BB962C8B-B14F-4D97-AF65-F5344CB8AC3E}">
        <p14:creationId xmlns:p14="http://schemas.microsoft.com/office/powerpoint/2010/main" val="179398212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49D0B7-3B04-4887-91B2-949EE1D15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rPr>
              <a:t>第六段：为什么要写回收价值？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CF5DF4-DCFA-41F2-B4A6-1315563BC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96025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7E2C52-DC36-45A7-A8F1-A36996D8E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作者为什么要说明可回收电子垃圾的价值？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0A0F8E-1447-48C7-9582-1858EDADF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留意“遗憾的是”前后写了什么。</a:t>
            </a:r>
          </a:p>
        </p:txBody>
      </p:sp>
    </p:spTree>
    <p:extLst>
      <p:ext uri="{BB962C8B-B14F-4D97-AF65-F5344CB8AC3E}">
        <p14:creationId xmlns:p14="http://schemas.microsoft.com/office/powerpoint/2010/main" val="561888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F1C786-5E82-4C5C-B274-1F9EA8C82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可回收价值与实际利用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63679C-E317-4B90-B62F-AF019384D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96025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5329F6-EA34-453B-BC64-CCA6AD546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2019年：估计可回收价值570亿美元。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8A1040-479E-4F6E-AC4C-BF106430E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现实：大部分填埋，再利用不到20%。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ABF1B5-9E5B-4D79-A3D3-B0ED71F5B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资源值得回收，却有大量尚未利用。</a:t>
            </a:r>
          </a:p>
        </p:txBody>
      </p:sp>
    </p:spTree>
    <p:extLst>
      <p:ext uri="{BB962C8B-B14F-4D97-AF65-F5344CB8AC3E}">
        <p14:creationId xmlns:p14="http://schemas.microsoft.com/office/powerpoint/2010/main" val="174488474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6B1EF0-5270-4C54-A285-AB583D6BB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rPr>
              <a:t>第七段：处理不好会有什么危害？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D769DA-9FC2-44B9-AAC1-E06BCAD51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96025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01F0C3-5854-42C8-8218-D66BD1B48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电子垃圾处理不好会有什么危害？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1A8AD4-4377-4D12-84E4-24A91447C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找“渗透”“污染”“影响”。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776EB7-F67B-43F8-9C77-987C6EED0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先按顺序点选，再口头说明。</a:t>
            </a:r>
          </a:p>
        </p:txBody>
      </p:sp>
    </p:spTree>
    <p:extLst>
      <p:ext uri="{BB962C8B-B14F-4D97-AF65-F5344CB8AC3E}">
        <p14:creationId xmlns:p14="http://schemas.microsoft.com/office/powerpoint/2010/main" val="82280747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B4878E-16D0-4FFC-99E2-D3FDD54D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填埋后的危害过程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112614-E562-4E22-91FE-671302940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96025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27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360AE1-057A-40F5-9F63-2FEA8B8D97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3b0163dd68499c"/>
          <a:srcRect xmlns:a="http://schemas.openxmlformats.org/drawingml/2006/main" l="50586" t="5273" r="391" b="72396"/>
          <a:stretch xmlns:a="http://schemas.openxmlformats.org/drawingml/2006/main"/>
        </p:blipFill>
        <p:spPr>
          <a:xfrm xmlns:a="http://schemas.openxmlformats.org/drawingml/2006/main">
            <a:off x="685800" y="1809750"/>
            <a:ext cx="5048250" cy="3449302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A7370E-05E4-49E0-9CB1-33D0B87B1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57375"/>
            <a:ext cx="5238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重金属渗透到地下。</a:t>
            </a:r>
          </a:p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污染土壤和地下水源。</a:t>
            </a:r>
          </a:p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影响动植物与人类健康。</a:t>
            </a:r>
          </a:p>
        </p:txBody>
      </p:sp>
    </p:spTree>
    <p:extLst>
      <p:ext uri="{BB962C8B-B14F-4D97-AF65-F5344CB8AC3E}">
        <p14:creationId xmlns:p14="http://schemas.microsoft.com/office/powerpoint/2010/main" val="18704221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AC45CD-F8EE-44D1-9958-6B9CE309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rPr>
              <a:t>第八段：为什么设置许多回收点？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03BDA7-8F8D-4B72-BC03-D8B313C25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96025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28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1F4C03-B8CE-49EA-99B1-7EA24E693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为什么要在300多个地点设置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E08195-FEEC-49F7-94A5-455E82C9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电子垃圾回收箱？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881CBD-C9CC-47D2-95D4-EC6F5CDCC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数量多、遍布全岛，对公众有什么帮助？</a:t>
            </a:r>
          </a:p>
        </p:txBody>
      </p:sp>
    </p:spTree>
    <p:extLst>
      <p:ext uri="{BB962C8B-B14F-4D97-AF65-F5344CB8AC3E}">
        <p14:creationId xmlns:p14="http://schemas.microsoft.com/office/powerpoint/2010/main" val="53261601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1C80F0-5428-4D23-B169-34E0E3BE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直接信息与合理推断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E6ED4A-B9D4-43F1-9908-7922F43D0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96025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29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415A26-49E9-425B-A62B-95E49A156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原文：收集公众投放的废弃电子产品。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7E9C11-39B5-4F8D-BAAD-C86607989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原文：交给专人集中处理，再循环利用。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C71C86-3741-41BA-8588-B18208593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推断：回收点遍布全岛，方便公众投放。</a:t>
            </a:r>
          </a:p>
        </p:txBody>
      </p:sp>
    </p:spTree>
    <p:extLst>
      <p:ext uri="{BB962C8B-B14F-4D97-AF65-F5344CB8AC3E}">
        <p14:creationId xmlns:p14="http://schemas.microsoft.com/office/powerpoint/2010/main" val="41917160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7EAAEE-D130-43E0-BD71-21836B945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rPr>
              <a:t>第九段：为什么要三思而行？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5F0783-135A-4C5F-9975-8F4FF2043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96025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B27C39-5D88-4F68-8085-9A595D9B0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最后一段为什么强调更换手机时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5BE7E2-3405-4E66-B612-C93556FE0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要三思而行？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5BB00D-FED5-4294-97A8-F91C5F5E4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更换前和更换后，各要注意什么？</a:t>
            </a:r>
          </a:p>
        </p:txBody>
      </p:sp>
    </p:spTree>
    <p:extLst>
      <p:ext uri="{BB962C8B-B14F-4D97-AF65-F5344CB8AC3E}">
        <p14:creationId xmlns:p14="http://schemas.microsoft.com/office/powerpoint/2010/main" val="157185246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E6AC5F-44CA-4747-BDE8-8CAD4B657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把前文落实为行动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017815-0E7E-4391-B3A1-106C0D37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96025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31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833E7D-D6AD-4190-9847-A91FFDB5D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更换前：先考虑是否确有需要。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7952F2-40BA-4D0B-8056-9BE504BBE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更换后：妥善处理旧手机。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A84256-8A7C-482C-AF9C-C03E948E3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减少垃圾，珍惜资源，避免不当处理。</a:t>
            </a:r>
          </a:p>
        </p:txBody>
      </p:sp>
    </p:spTree>
    <p:extLst>
      <p:ext uri="{BB962C8B-B14F-4D97-AF65-F5344CB8AC3E}">
        <p14:creationId xmlns:p14="http://schemas.microsoft.com/office/powerpoint/2010/main" val="103138788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84C65F-2DDE-4B39-93DF-036FF134E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rPr>
              <a:t>必做开放题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7B49EF-BA4B-463C-9435-1337BFA92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96025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32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8F0117-8F90-4566-AFD6-BD569AABF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想想看，你在生活中怎么做才能减少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A767E6-C260-4835-846B-48203AAB0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电子垃圾，为环保尽一份力？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0F0299-AEA2-4D99-B46E-96E1187BE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为什么这样做有效？请举具体例子。</a:t>
            </a:r>
          </a:p>
        </p:txBody>
      </p:sp>
    </p:spTree>
    <p:extLst>
      <p:ext uri="{BB962C8B-B14F-4D97-AF65-F5344CB8AC3E}">
        <p14:creationId xmlns:p14="http://schemas.microsoft.com/office/powerpoint/2010/main" val="117097632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0404A6-6367-4BF1-96CF-72CF37C4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建议、理由、例子与回扣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7EC62F-6A23-4558-A67C-9E1C83A7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96025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33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F08B79-4616-43E4-8DFB-8D330761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建议：我准备怎样做？理由：为什么有效？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E7C7CA-D937-4555-9580-748016C81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例子：在什么具体情境中怎样做？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62F825-9804-453F-9A6A-2CF3E13CC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回扣：这怎样减少垃圾或利用资源？</a:t>
            </a:r>
          </a:p>
        </p:txBody>
      </p:sp>
    </p:spTree>
    <p:extLst>
      <p:ext uri="{BB962C8B-B14F-4D97-AF65-F5344CB8AC3E}">
        <p14:creationId xmlns:p14="http://schemas.microsoft.com/office/powerpoint/2010/main" val="161477022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E5A38E-0566-469C-92CB-2C7B3992B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开放回应示例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6A8BC1-2F54-47CC-B89B-A156520FC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96025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34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755F17-BF55-494E-83A1-F1E8DAC04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建议：继续使用仍能满足需要的手机。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77E31D-348D-4F49-8D0E-930C04233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理由：减少为了追新而提前丢弃。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345E7F-9D02-4A3E-9FA7-892D5AAD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例子：新款推出，旧机仍适用，就继续用。</a:t>
            </a:r>
          </a:p>
        </p:txBody>
      </p:sp>
    </p:spTree>
    <p:extLst>
      <p:ext uri="{BB962C8B-B14F-4D97-AF65-F5344CB8AC3E}">
        <p14:creationId xmlns:p14="http://schemas.microsoft.com/office/powerpoint/2010/main" val="38923683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57B23C-0BF2-4F47-B2D1-DDF0D49EA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解释例子怎样支持建议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2EF11A-A6A3-4D67-B6CF-FE1C9BD96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96025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35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9460CE-4E88-4FA5-B731-2A5610907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继续用适用的旧机，可减少不必要购买，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591C54-6928-452F-A51A-1257DCD2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也减少本来还能使用的手机被提前丢弃。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2BE81D-6985-4DBA-99B4-903EBCA20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因此，这个做法能从源头减少电子垃圾。</a:t>
            </a:r>
          </a:p>
        </p:txBody>
      </p:sp>
    </p:spTree>
    <p:extLst>
      <p:ext uri="{BB962C8B-B14F-4D97-AF65-F5344CB8AC3E}">
        <p14:creationId xmlns:p14="http://schemas.microsoft.com/office/powerpoint/2010/main" val="1847427889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940FC2-D33C-4219-B8FC-1A211DA99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检查与订正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3A7BAC-BE81-406F-83AD-99D995354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96025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36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58566F-F3A8-46C1-9FB0-87C931146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答案是否真正回答了“为什么”？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E71B4E-D1CB-4D13-A2F1-BBE55BE99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证据、年份、单位与预测是否准确？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D3F6BC-CF74-4BA6-A400-82055B815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完成订正，整理自己的词语本。</a:t>
            </a:r>
          </a:p>
        </p:txBody>
      </p:sp>
    </p:spTree>
    <p:extLst>
      <p:ext uri="{BB962C8B-B14F-4D97-AF65-F5344CB8AC3E}">
        <p14:creationId xmlns:p14="http://schemas.microsoft.com/office/powerpoint/2010/main" val="10982086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LXGW WenKai TC"/>
        <a:ea typeface=""/>
        <a:cs typeface=""/>
      </a:majorFont>
      <a:minorFont>
        <a:latin typeface="LXGW WenKai T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2026-10-20T05:30:29.1790000Z</dcterms:created>
  <dcterms:modified xsi:type="dcterms:W3CDTF">2026-10-20T05:30:29.1790000Z</dcterms:modified>
</coreProperties>
</file>