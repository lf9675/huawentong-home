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132baaf0634e31" /><Relationship Type="http://schemas.openxmlformats.org/officeDocument/2006/relationships/extended-properties" Target="/docProps/app.xml" Id="Rd55a3a46cf38485c" /><Relationship Type="http://schemas.openxmlformats.org/officeDocument/2006/relationships/officeDocument" Target="/ppt/presentation.xml" Id="Rcd247b8b74cf48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3f52cdd6114c91"/>
  </p:sldMasterIdLst>
  <p:notesMasterIdLst>
    <p:notesMasterId xmlns:r="http://schemas.openxmlformats.org/officeDocument/2006/relationships" r:id="Rda7afea68acb4da5"/>
  </p:notesMasterIdLst>
  <p:sldIdLst>
    <p:sldId xmlns:r="http://schemas.openxmlformats.org/officeDocument/2006/relationships" id="256" r:id="R55b33171116f42d0"/>
    <p:sldId xmlns:r="http://schemas.openxmlformats.org/officeDocument/2006/relationships" id="257" r:id="Rb48d27b9d6154099"/>
    <p:sldId xmlns:r="http://schemas.openxmlformats.org/officeDocument/2006/relationships" id="258" r:id="Rce2f1e9450a14f84"/>
    <p:sldId xmlns:r="http://schemas.openxmlformats.org/officeDocument/2006/relationships" id="259" r:id="R080060431688451c"/>
    <p:sldId xmlns:r="http://schemas.openxmlformats.org/officeDocument/2006/relationships" id="260" r:id="R435a656ee23b459e"/>
    <p:sldId xmlns:r="http://schemas.openxmlformats.org/officeDocument/2006/relationships" id="261" r:id="Rdf78a6da11d04f15"/>
    <p:sldId xmlns:r="http://schemas.openxmlformats.org/officeDocument/2006/relationships" id="262" r:id="R884f937845ae42d6"/>
    <p:sldId xmlns:r="http://schemas.openxmlformats.org/officeDocument/2006/relationships" id="263" r:id="Rb314385e22314da2"/>
    <p:sldId xmlns:r="http://schemas.openxmlformats.org/officeDocument/2006/relationships" id="264" r:id="Rb2f07c69500541c3"/>
    <p:sldId xmlns:r="http://schemas.openxmlformats.org/officeDocument/2006/relationships" id="265" r:id="Rff6671a2580e43c9"/>
    <p:sldId xmlns:r="http://schemas.openxmlformats.org/officeDocument/2006/relationships" id="266" r:id="Re4f918906e184cb2"/>
    <p:sldId xmlns:r="http://schemas.openxmlformats.org/officeDocument/2006/relationships" id="267" r:id="R9dfb4dc1b5264dcc"/>
    <p:sldId xmlns:r="http://schemas.openxmlformats.org/officeDocument/2006/relationships" id="268" r:id="R99dac451661343a7"/>
    <p:sldId xmlns:r="http://schemas.openxmlformats.org/officeDocument/2006/relationships" id="269" r:id="Ra1c72ca6a38d444b"/>
    <p:sldId xmlns:r="http://schemas.openxmlformats.org/officeDocument/2006/relationships" id="270" r:id="R16c9424b2dbe40a7"/>
    <p:sldId xmlns:r="http://schemas.openxmlformats.org/officeDocument/2006/relationships" id="271" r:id="R4197688827d0458a"/>
    <p:sldId xmlns:r="http://schemas.openxmlformats.org/officeDocument/2006/relationships" id="272" r:id="R67acf840564a44a7"/>
    <p:sldId xmlns:r="http://schemas.openxmlformats.org/officeDocument/2006/relationships" id="273" r:id="Ra8a6472359344766"/>
    <p:sldId xmlns:r="http://schemas.openxmlformats.org/officeDocument/2006/relationships" id="274" r:id="R794b826bb9d44c06"/>
    <p:sldId xmlns:r="http://schemas.openxmlformats.org/officeDocument/2006/relationships" id="275" r:id="R5228781e59bf4eb4"/>
    <p:sldId xmlns:r="http://schemas.openxmlformats.org/officeDocument/2006/relationships" id="276" r:id="R0f6af111318e4494"/>
    <p:sldId xmlns:r="http://schemas.openxmlformats.org/officeDocument/2006/relationships" id="277" r:id="R6efc9f264c474391"/>
    <p:sldId xmlns:r="http://schemas.openxmlformats.org/officeDocument/2006/relationships" id="278" r:id="Re1fd03af3fc7438b"/>
    <p:sldId xmlns:r="http://schemas.openxmlformats.org/officeDocument/2006/relationships" id="279" r:id="Rd5f05701bcc54d71"/>
    <p:sldId xmlns:r="http://schemas.openxmlformats.org/officeDocument/2006/relationships" id="280" r:id="R96604de4b31141be"/>
    <p:sldId xmlns:r="http://schemas.openxmlformats.org/officeDocument/2006/relationships" id="281" r:id="Rdaddd051cfe44739"/>
    <p:sldId xmlns:r="http://schemas.openxmlformats.org/officeDocument/2006/relationships" id="282" r:id="Re106e12e723a488b"/>
    <p:sldId xmlns:r="http://schemas.openxmlformats.org/officeDocument/2006/relationships" id="283" r:id="R8d18a5d7ef9d4206"/>
    <p:sldId xmlns:r="http://schemas.openxmlformats.org/officeDocument/2006/relationships" id="284" r:id="R91fd43ca519e4f11"/>
    <p:sldId xmlns:r="http://schemas.openxmlformats.org/officeDocument/2006/relationships" id="285" r:id="R759c56e3844b4c5e"/>
    <p:sldId xmlns:r="http://schemas.openxmlformats.org/officeDocument/2006/relationships" id="286" r:id="R9251173d6c8b4705"/>
    <p:sldId xmlns:r="http://schemas.openxmlformats.org/officeDocument/2006/relationships" id="287" r:id="R38a83499a9134637"/>
    <p:sldId xmlns:r="http://schemas.openxmlformats.org/officeDocument/2006/relationships" id="288" r:id="R909fc064b26c4e15"/>
    <p:sldId xmlns:r="http://schemas.openxmlformats.org/officeDocument/2006/relationships" id="289" r:id="Rd6bb4e14ec344776"/>
    <p:sldId xmlns:r="http://schemas.openxmlformats.org/officeDocument/2006/relationships" id="290" r:id="R54d0aeaf116d435c"/>
    <p:sldId xmlns:r="http://schemas.openxmlformats.org/officeDocument/2006/relationships" id="291" r:id="R4b220a9734be4c4c"/>
    <p:sldId xmlns:r="http://schemas.openxmlformats.org/officeDocument/2006/relationships" id="292" r:id="R6abe04ecd3d84fad"/>
    <p:sldId xmlns:r="http://schemas.openxmlformats.org/officeDocument/2006/relationships" id="293" r:id="Re8a0c083b85a4f80"/>
    <p:sldId xmlns:r="http://schemas.openxmlformats.org/officeDocument/2006/relationships" id="294" r:id="Rf40edaa3a9264008"/>
    <p:sldId xmlns:r="http://schemas.openxmlformats.org/officeDocument/2006/relationships" id="295" r:id="R25df10ae05374638"/>
    <p:sldId xmlns:r="http://schemas.openxmlformats.org/officeDocument/2006/relationships" id="296" r:id="R71056821e5274cce"/>
    <p:sldId xmlns:r="http://schemas.openxmlformats.org/officeDocument/2006/relationships" id="297" r:id="R36210f54c0ec4ae6"/>
    <p:sldId xmlns:r="http://schemas.openxmlformats.org/officeDocument/2006/relationships" id="298" r:id="R6f17de9afe4a45bd"/>
    <p:sldId xmlns:r="http://schemas.openxmlformats.org/officeDocument/2006/relationships" id="299" r:id="Rb58807bdf78d4fec"/>
    <p:sldId xmlns:r="http://schemas.openxmlformats.org/officeDocument/2006/relationships" id="300" r:id="Ra75c23f47b4b447e"/>
    <p:sldId xmlns:r="http://schemas.openxmlformats.org/officeDocument/2006/relationships" id="301" r:id="Recb932e2c4994e1c"/>
    <p:sldId xmlns:r="http://schemas.openxmlformats.org/officeDocument/2006/relationships" id="302" r:id="Rdd71694213984ae2"/>
    <p:sldId xmlns:r="http://schemas.openxmlformats.org/officeDocument/2006/relationships" id="303" r:id="R60a125439ec540b5"/>
    <p:sldId xmlns:r="http://schemas.openxmlformats.org/officeDocument/2006/relationships" id="304" r:id="Rc4bed92d4a8848d2"/>
    <p:sldId xmlns:r="http://schemas.openxmlformats.org/officeDocument/2006/relationships" id="305" r:id="R9995ba43db3d48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8c066ebc724a21" /><Relationship Type="http://schemas.openxmlformats.org/officeDocument/2006/relationships/slideMaster" Target="/ppt/slideMasters/slideMaster1.xml" Id="Ra23f52cdd6114c91" /><Relationship Type="http://schemas.openxmlformats.org/officeDocument/2006/relationships/notesMaster" Target="/ppt/notesMasters/notesMaster1.xml" Id="Rda7afea68acb4da5" /><Relationship Type="http://schemas.openxmlformats.org/officeDocument/2006/relationships/presProps" Target="/ppt/presProps.xml" Id="Re52379984c9748ea" /><Relationship Type="http://schemas.openxmlformats.org/officeDocument/2006/relationships/tableStyles" Target="/ppt/tableStyles.xml" Id="Rc926882ab33e4b92" /><Relationship Type="http://schemas.openxmlformats.org/officeDocument/2006/relationships/slide" Target="/ppt/slides/slide1.xml" Id="R55b33171116f42d0" /><Relationship Type="http://schemas.openxmlformats.org/officeDocument/2006/relationships/slide" Target="/ppt/slides/slide2.xml" Id="Rb48d27b9d6154099" /><Relationship Type="http://schemas.openxmlformats.org/officeDocument/2006/relationships/slide" Target="/ppt/slides/slide3.xml" Id="Rce2f1e9450a14f84" /><Relationship Type="http://schemas.openxmlformats.org/officeDocument/2006/relationships/slide" Target="/ppt/slides/slide4.xml" Id="R080060431688451c" /><Relationship Type="http://schemas.openxmlformats.org/officeDocument/2006/relationships/slide" Target="/ppt/slides/slide5.xml" Id="R435a656ee23b459e" /><Relationship Type="http://schemas.openxmlformats.org/officeDocument/2006/relationships/slide" Target="/ppt/slides/slide6.xml" Id="Rdf78a6da11d04f15" /><Relationship Type="http://schemas.openxmlformats.org/officeDocument/2006/relationships/slide" Target="/ppt/slides/slide7.xml" Id="R884f937845ae42d6" /><Relationship Type="http://schemas.openxmlformats.org/officeDocument/2006/relationships/slide" Target="/ppt/slides/slide8.xml" Id="Rb314385e22314da2" /><Relationship Type="http://schemas.openxmlformats.org/officeDocument/2006/relationships/slide" Target="/ppt/slides/slide9.xml" Id="Rb2f07c69500541c3" /><Relationship Type="http://schemas.openxmlformats.org/officeDocument/2006/relationships/slide" Target="/ppt/slides/slide10.xml" Id="Rff6671a2580e43c9" /><Relationship Type="http://schemas.openxmlformats.org/officeDocument/2006/relationships/slide" Target="/ppt/slides/slide11.xml" Id="Re4f918906e184cb2" /><Relationship Type="http://schemas.openxmlformats.org/officeDocument/2006/relationships/slide" Target="/ppt/slides/slide12.xml" Id="R9dfb4dc1b5264dcc" /><Relationship Type="http://schemas.openxmlformats.org/officeDocument/2006/relationships/slide" Target="/ppt/slides/slide13.xml" Id="R99dac451661343a7" /><Relationship Type="http://schemas.openxmlformats.org/officeDocument/2006/relationships/slide" Target="/ppt/slides/slide14.xml" Id="Ra1c72ca6a38d444b" /><Relationship Type="http://schemas.openxmlformats.org/officeDocument/2006/relationships/slide" Target="/ppt/slides/slide15.xml" Id="R16c9424b2dbe40a7" /><Relationship Type="http://schemas.openxmlformats.org/officeDocument/2006/relationships/slide" Target="/ppt/slides/slide16.xml" Id="R4197688827d0458a" /><Relationship Type="http://schemas.openxmlformats.org/officeDocument/2006/relationships/slide" Target="/ppt/slides/slide17.xml" Id="R67acf840564a44a7" /><Relationship Type="http://schemas.openxmlformats.org/officeDocument/2006/relationships/slide" Target="/ppt/slides/slide18.xml" Id="Ra8a6472359344766" /><Relationship Type="http://schemas.openxmlformats.org/officeDocument/2006/relationships/slide" Target="/ppt/slides/slide19.xml" Id="R794b826bb9d44c06" /><Relationship Type="http://schemas.openxmlformats.org/officeDocument/2006/relationships/slide" Target="/ppt/slides/slide20.xml" Id="R5228781e59bf4eb4" /><Relationship Type="http://schemas.openxmlformats.org/officeDocument/2006/relationships/slide" Target="/ppt/slides/slide21.xml" Id="R0f6af111318e4494" /><Relationship Type="http://schemas.openxmlformats.org/officeDocument/2006/relationships/slide" Target="/ppt/slides/slide22.xml" Id="R6efc9f264c474391" /><Relationship Type="http://schemas.openxmlformats.org/officeDocument/2006/relationships/slide" Target="/ppt/slides/slide23.xml" Id="Re1fd03af3fc7438b" /><Relationship Type="http://schemas.openxmlformats.org/officeDocument/2006/relationships/slide" Target="/ppt/slides/slide24.xml" Id="Rd5f05701bcc54d71" /><Relationship Type="http://schemas.openxmlformats.org/officeDocument/2006/relationships/slide" Target="/ppt/slides/slide25.xml" Id="R96604de4b31141be" /><Relationship Type="http://schemas.openxmlformats.org/officeDocument/2006/relationships/slide" Target="/ppt/slides/slide26.xml" Id="Rdaddd051cfe44739" /><Relationship Type="http://schemas.openxmlformats.org/officeDocument/2006/relationships/slide" Target="/ppt/slides/slide27.xml" Id="Re106e12e723a488b" /><Relationship Type="http://schemas.openxmlformats.org/officeDocument/2006/relationships/slide" Target="/ppt/slides/slide28.xml" Id="R8d18a5d7ef9d4206" /><Relationship Type="http://schemas.openxmlformats.org/officeDocument/2006/relationships/slide" Target="/ppt/slides/slide29.xml" Id="R91fd43ca519e4f11" /><Relationship Type="http://schemas.openxmlformats.org/officeDocument/2006/relationships/slide" Target="/ppt/slides/slide30.xml" Id="R759c56e3844b4c5e" /><Relationship Type="http://schemas.openxmlformats.org/officeDocument/2006/relationships/slide" Target="/ppt/slides/slide31.xml" Id="R9251173d6c8b4705" /><Relationship Type="http://schemas.openxmlformats.org/officeDocument/2006/relationships/slide" Target="/ppt/slides/slide32.xml" Id="R38a83499a9134637" /><Relationship Type="http://schemas.openxmlformats.org/officeDocument/2006/relationships/slide" Target="/ppt/slides/slide33.xml" Id="R909fc064b26c4e15" /><Relationship Type="http://schemas.openxmlformats.org/officeDocument/2006/relationships/slide" Target="/ppt/slides/slide34.xml" Id="Rd6bb4e14ec344776" /><Relationship Type="http://schemas.openxmlformats.org/officeDocument/2006/relationships/slide" Target="/ppt/slides/slide35.xml" Id="R54d0aeaf116d435c" /><Relationship Type="http://schemas.openxmlformats.org/officeDocument/2006/relationships/slide" Target="/ppt/slides/slide36.xml" Id="R4b220a9734be4c4c" /><Relationship Type="http://schemas.openxmlformats.org/officeDocument/2006/relationships/slide" Target="/ppt/slides/slide37.xml" Id="R6abe04ecd3d84fad" /><Relationship Type="http://schemas.openxmlformats.org/officeDocument/2006/relationships/slide" Target="/ppt/slides/slide38.xml" Id="Re8a0c083b85a4f80" /><Relationship Type="http://schemas.openxmlformats.org/officeDocument/2006/relationships/slide" Target="/ppt/slides/slide39.xml" Id="Rf40edaa3a9264008" /><Relationship Type="http://schemas.openxmlformats.org/officeDocument/2006/relationships/slide" Target="/ppt/slides/slide40.xml" Id="R25df10ae05374638" /><Relationship Type="http://schemas.openxmlformats.org/officeDocument/2006/relationships/slide" Target="/ppt/slides/slide41.xml" Id="R71056821e5274cce" /><Relationship Type="http://schemas.openxmlformats.org/officeDocument/2006/relationships/slide" Target="/ppt/slides/slide42.xml" Id="R36210f54c0ec4ae6" /><Relationship Type="http://schemas.openxmlformats.org/officeDocument/2006/relationships/slide" Target="/ppt/slides/slide43.xml" Id="R6f17de9afe4a45bd" /><Relationship Type="http://schemas.openxmlformats.org/officeDocument/2006/relationships/slide" Target="/ppt/slides/slide44.xml" Id="Rb58807bdf78d4fec" /><Relationship Type="http://schemas.openxmlformats.org/officeDocument/2006/relationships/slide" Target="/ppt/slides/slide45.xml" Id="Ra75c23f47b4b447e" /><Relationship Type="http://schemas.openxmlformats.org/officeDocument/2006/relationships/slide" Target="/ppt/slides/slide46.xml" Id="Recb932e2c4994e1c" /><Relationship Type="http://schemas.openxmlformats.org/officeDocument/2006/relationships/slide" Target="/ppt/slides/slide47.xml" Id="Rdd71694213984ae2" /><Relationship Type="http://schemas.openxmlformats.org/officeDocument/2006/relationships/slide" Target="/ppt/slides/slide48.xml" Id="R60a125439ec540b5" /><Relationship Type="http://schemas.openxmlformats.org/officeDocument/2006/relationships/slide" Target="/ppt/slides/slide49.xml" Id="Rc4bed92d4a8848d2" /><Relationship Type="http://schemas.openxmlformats.org/officeDocument/2006/relationships/slide" Target="/ppt/slides/slide50.xml" Id="R9995ba43db3d48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8435c4674248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890bd7bc35465c" /><Relationship Type="http://schemas.openxmlformats.org/officeDocument/2006/relationships/notesMaster" Target="/ppt/notesMasters/notesMaster1.xml" Id="R6231bdb5b93348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53863856634b25" /><Relationship Type="http://schemas.openxmlformats.org/officeDocument/2006/relationships/notesMaster" Target="/ppt/notesMasters/notesMaster1.xml" Id="R08d9a50c44964a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07634a23b14ae7" /><Relationship Type="http://schemas.openxmlformats.org/officeDocument/2006/relationships/notesMaster" Target="/ppt/notesMasters/notesMaster1.xml" Id="R5a4584cea4754e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4eb2532e154de9" /><Relationship Type="http://schemas.openxmlformats.org/officeDocument/2006/relationships/notesMaster" Target="/ppt/notesMasters/notesMaster1.xml" Id="Rc912cd055ff54c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be18a8190a4d65" /><Relationship Type="http://schemas.openxmlformats.org/officeDocument/2006/relationships/notesMaster" Target="/ppt/notesMasters/notesMaster1.xml" Id="R7f78726e9ba24a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e92b17f50d48b2" /><Relationship Type="http://schemas.openxmlformats.org/officeDocument/2006/relationships/notesMaster" Target="/ppt/notesMasters/notesMaster1.xml" Id="Reb52da83d41d4b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d4ac9f29f741b7" /><Relationship Type="http://schemas.openxmlformats.org/officeDocument/2006/relationships/notesMaster" Target="/ppt/notesMasters/notesMaster1.xml" Id="R73e6726507454a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f37d007c884f2f" /><Relationship Type="http://schemas.openxmlformats.org/officeDocument/2006/relationships/notesMaster" Target="/ppt/notesMasters/notesMaster1.xml" Id="R73fe82fd720f4d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6cc9f549bb4971" /><Relationship Type="http://schemas.openxmlformats.org/officeDocument/2006/relationships/notesMaster" Target="/ppt/notesMasters/notesMaster1.xml" Id="Rb9e8d900bbf34c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be5d4d7dcf4428" /><Relationship Type="http://schemas.openxmlformats.org/officeDocument/2006/relationships/notesMaster" Target="/ppt/notesMasters/notesMaster1.xml" Id="R027a7f06d98340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1354d8fbdc49d9" /><Relationship Type="http://schemas.openxmlformats.org/officeDocument/2006/relationships/notesMaster" Target="/ppt/notesMasters/notesMaster1.xml" Id="Rcc4015277ff444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e6960c63884cb9" /><Relationship Type="http://schemas.openxmlformats.org/officeDocument/2006/relationships/notesMaster" Target="/ppt/notesMasters/notesMaster1.xml" Id="Rb2d2665e2a1d41f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de310ce95624d3d" /><Relationship Type="http://schemas.openxmlformats.org/officeDocument/2006/relationships/notesMaster" Target="/ppt/notesMasters/notesMaster1.xml" Id="Rbac210960f024d0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896316e775d4c3e" /><Relationship Type="http://schemas.openxmlformats.org/officeDocument/2006/relationships/notesMaster" Target="/ppt/notesMasters/notesMaster1.xml" Id="R65fb91b046a148c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e6470922f6c4d2d" /><Relationship Type="http://schemas.openxmlformats.org/officeDocument/2006/relationships/notesMaster" Target="/ppt/notesMasters/notesMaster1.xml" Id="Rdd3ae8be1c62430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72ebdd2891649f4" /><Relationship Type="http://schemas.openxmlformats.org/officeDocument/2006/relationships/notesMaster" Target="/ppt/notesMasters/notesMaster1.xml" Id="Rfd237c57b69f403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5c2bd3c94004263" /><Relationship Type="http://schemas.openxmlformats.org/officeDocument/2006/relationships/notesMaster" Target="/ppt/notesMasters/notesMaster1.xml" Id="R9c5795df131443d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016a175c3444e2e" /><Relationship Type="http://schemas.openxmlformats.org/officeDocument/2006/relationships/notesMaster" Target="/ppt/notesMasters/notesMaster1.xml" Id="R14e7a583657f44c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43a20d8d31e439c" /><Relationship Type="http://schemas.openxmlformats.org/officeDocument/2006/relationships/notesMaster" Target="/ppt/notesMasters/notesMaster1.xml" Id="R0855107160f14a8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6c4077a18bc4d8d" /><Relationship Type="http://schemas.openxmlformats.org/officeDocument/2006/relationships/notesMaster" Target="/ppt/notesMasters/notesMaster1.xml" Id="R6f08a58d4af0403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fd13061eb1f4c85" /><Relationship Type="http://schemas.openxmlformats.org/officeDocument/2006/relationships/notesMaster" Target="/ppt/notesMasters/notesMaster1.xml" Id="R10ee1ebf62cb4a2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0643b6aeb434557" /><Relationship Type="http://schemas.openxmlformats.org/officeDocument/2006/relationships/notesMaster" Target="/ppt/notesMasters/notesMaster1.xml" Id="Rc4a5d5c5f7324aa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0625d0b02e2478f" /><Relationship Type="http://schemas.openxmlformats.org/officeDocument/2006/relationships/notesMaster" Target="/ppt/notesMasters/notesMaster1.xml" Id="Reb887ac70c1c40b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fd57ddd7ba04ef4" /><Relationship Type="http://schemas.openxmlformats.org/officeDocument/2006/relationships/notesMaster" Target="/ppt/notesMasters/notesMaster1.xml" Id="Rd678028ecc30496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d126e34756741eb" /><Relationship Type="http://schemas.openxmlformats.org/officeDocument/2006/relationships/notesMaster" Target="/ppt/notesMasters/notesMaster1.xml" Id="R5f0765eb89d9489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b9836854ada420a" /><Relationship Type="http://schemas.openxmlformats.org/officeDocument/2006/relationships/notesMaster" Target="/ppt/notesMasters/notesMaster1.xml" Id="R06b46aa077524e4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9fb860bec1f4d56" /><Relationship Type="http://schemas.openxmlformats.org/officeDocument/2006/relationships/notesMaster" Target="/ppt/notesMasters/notesMaster1.xml" Id="R176089619bfb404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f2a64368a4d48b7" /><Relationship Type="http://schemas.openxmlformats.org/officeDocument/2006/relationships/notesMaster" Target="/ppt/notesMasters/notesMaster1.xml" Id="Red0316e9bff8430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7f77dbcf11f4895" /><Relationship Type="http://schemas.openxmlformats.org/officeDocument/2006/relationships/notesMaster" Target="/ppt/notesMasters/notesMaster1.xml" Id="R6ccfe975a3384e1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0952cad7d9d4a8e" /><Relationship Type="http://schemas.openxmlformats.org/officeDocument/2006/relationships/notesMaster" Target="/ppt/notesMasters/notesMaster1.xml" Id="Re0841dd2636a446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ebae0c7c6a7436e" /><Relationship Type="http://schemas.openxmlformats.org/officeDocument/2006/relationships/notesMaster" Target="/ppt/notesMasters/notesMaster1.xml" Id="Rf2e65187d95b404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06861335a2c4405" /><Relationship Type="http://schemas.openxmlformats.org/officeDocument/2006/relationships/notesMaster" Target="/ppt/notesMasters/notesMaster1.xml" Id="R1c369bfd51df44d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5270ecd2cec44bd" /><Relationship Type="http://schemas.openxmlformats.org/officeDocument/2006/relationships/notesMaster" Target="/ppt/notesMasters/notesMaster1.xml" Id="R9f4895f0b7a649d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9272b3335f14a24" /><Relationship Type="http://schemas.openxmlformats.org/officeDocument/2006/relationships/notesMaster" Target="/ppt/notesMasters/notesMaster1.xml" Id="Rd462d8c66400460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d2bdc1d20634a10" /><Relationship Type="http://schemas.openxmlformats.org/officeDocument/2006/relationships/notesMaster" Target="/ppt/notesMasters/notesMaster1.xml" Id="Rac5d0c879f90409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ebee1752ee843f9" /><Relationship Type="http://schemas.openxmlformats.org/officeDocument/2006/relationships/notesMaster" Target="/ppt/notesMasters/notesMaster1.xml" Id="R04b17b55d2ec44b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179402c828a4f52" /><Relationship Type="http://schemas.openxmlformats.org/officeDocument/2006/relationships/notesMaster" Target="/ppt/notesMasters/notesMaster1.xml" Id="R644932860f17445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ec705757438459f" /><Relationship Type="http://schemas.openxmlformats.org/officeDocument/2006/relationships/notesMaster" Target="/ppt/notesMasters/notesMaster1.xml" Id="Re036d100a622478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21980a6840a40ee" /><Relationship Type="http://schemas.openxmlformats.org/officeDocument/2006/relationships/notesMaster" Target="/ppt/notesMasters/notesMaster1.xml" Id="Rb0bf9cf93082423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1c19138dad24d87" /><Relationship Type="http://schemas.openxmlformats.org/officeDocument/2006/relationships/notesMaster" Target="/ppt/notesMasters/notesMaster1.xml" Id="R6f92c86da4fa4c2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06f5310942c48e3" /><Relationship Type="http://schemas.openxmlformats.org/officeDocument/2006/relationships/notesMaster" Target="/ppt/notesMasters/notesMaster1.xml" Id="R61e9582d843d415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09abe27707a4c2d" /><Relationship Type="http://schemas.openxmlformats.org/officeDocument/2006/relationships/notesMaster" Target="/ppt/notesMasters/notesMaster1.xml" Id="R71b01dd778f74b1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a2d234b2cbd4cf2" /><Relationship Type="http://schemas.openxmlformats.org/officeDocument/2006/relationships/notesMaster" Target="/ppt/notesMasters/notesMaster1.xml" Id="Rab6201d38bcb47a7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dc88512f64b84a3b" /><Relationship Type="http://schemas.openxmlformats.org/officeDocument/2006/relationships/notesMaster" Target="/ppt/notesMasters/notesMaster1.xml" Id="Rf2fb932994be424d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623beb778944740" /><Relationship Type="http://schemas.openxmlformats.org/officeDocument/2006/relationships/notesMaster" Target="/ppt/notesMasters/notesMaster1.xml" Id="R8955c219b7cb4bd8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1b05a0dc8a2467e" /><Relationship Type="http://schemas.openxmlformats.org/officeDocument/2006/relationships/notesMaster" Target="/ppt/notesMasters/notesMaster1.xml" Id="R975148f22b3d4364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0f455f4631874af7" /><Relationship Type="http://schemas.openxmlformats.org/officeDocument/2006/relationships/notesMaster" Target="/ppt/notesMasters/notesMaster1.xml" Id="Rc3babf9138134cdd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2cf5a247bed34cc0" /><Relationship Type="http://schemas.openxmlformats.org/officeDocument/2006/relationships/notesMaster" Target="/ppt/notesMasters/notesMaster1.xml" Id="R4d5d44151b984732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6a9c33b80a1b4984" /><Relationship Type="http://schemas.openxmlformats.org/officeDocument/2006/relationships/notesMaster" Target="/ppt/notesMasters/notesMaster1.xml" Id="R8f3634c46ae14c56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a762425672044ace" /><Relationship Type="http://schemas.openxmlformats.org/officeDocument/2006/relationships/notesMaster" Target="/ppt/notesMasters/notesMaster1.xml" Id="Rad25801660004b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导入：家里会留下多少塑料袋？买一次东西会用几个？听两三名学生回答，不另增书面任务。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教参2.2：第一段引号题</a:t>
            </a:r>
          </a:p>
          <a:p xmlns:a="http://schemas.openxmlformats.org/drawingml/2006/main">
            <a:r>
              <a:t>教师示范先比较词语通常含义与本段语境。先问后揭。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“得奖”通常是好事，但这里获评的是“最糟糕的发明”。引号表示特殊含义，带有反讽意味，突出这种发明产生的负面影响。</a:t>
            </a:r>
          </a:p>
          <a:p xmlns:a="http://schemas.openxmlformats.org/drawingml/2006/main">
            <a:r>
              <a:t>不把引号一律解释成引用人物说话。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课本第二段图表旁注；其余追问来自教参2.2</a:t>
            </a:r>
          </a:p>
          <a:p xmlns:a="http://schemas.openxmlformats.org/drawingml/2006/main">
            <a:r>
              <a:t>在学习单点取与趋势对应的原句。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保留教材原图的曲线与绘图区，仅将坐标标签放大为可编辑文字。没有逐年原始数据，不制作虚假的精确年度序列。纵轴单位为百万吨，横轴为年份。局部下降可见。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从二十世纪五十年代开始，全球塑料产量整体上升很快。</a:t>
            </a:r>
          </a:p>
          <a:p xmlns:a="http://schemas.openxmlformats.org/drawingml/2006/main">
            <a:r>
              <a:t>塑料不等于塑料袋，全球不等于我国。“几乎直线上升”不表示每年增加。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教参2.2：塑料袋风靡题</a:t>
            </a:r>
          </a:p>
          <a:p xmlns:a="http://schemas.openxmlformats.org/drawingml/2006/main">
            <a:r>
              <a:t>学生独立点选，不因数量醒目就把结果当原因。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因为一次性塑料袋廉价、卫生、方便和耐用，适合人们购物等日常需要，所以很快在世界各地流行。</a:t>
            </a:r>
          </a:p>
          <a:p xmlns:a="http://schemas.openxmlformats.org/drawingml/2006/main">
            <a:r>
              <a:t>四项信息均来自第三段。2011年每分钟100万个是课文历史资料。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课本第四段旁注；图表信息追问来自教参2.2</a:t>
            </a:r>
          </a:p>
          <a:p xmlns:a="http://schemas.openxmlformats.org/drawingml/2006/main">
            <a:r>
              <a:t>先读图表标题，再看类别及比例。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教材引自新加坡环境理事会。五类为0个15%、不去超市3%、1—2个33%、3—5个35%、6个或以上14%，合计100%。保留“不去超市”，不擅自重算分母。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饼状图说明的主要内容是什么？</a:t>
            </a:r>
          </a:p>
          <a:p xmlns:a="http://schemas.openxmlformats.org/drawingml/2006/main">
            <a:r>
              <a:t>课文使用了饼状图中的哪些主要信息？除了这些主要信息，饼状图还提供了哪些信息？</a:t>
            </a:r>
          </a:p>
          <a:p xmlns:a="http://schemas.openxmlformats.org/drawingml/2006/main">
            <a:r>
              <a:t>为什么要列举这些数字？</a:t>
            </a:r>
          </a:p>
          <a:p xmlns:a="http://schemas.openxmlformats.org/drawingml/2006/main">
            <a:r>
              <a:t>提示最低界线是3，不是只取3—5那一类。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饼状图呈现受访者每次上超市使用塑料袋的数量类别及比例。课文选用3至5个占35%，并由35%加14%得出至少3个占49%，即大约一半。图中还显示0个占15%、不去超市占3%、1至2个占33%。这些数字具体说明人们使用塑料袋的情况，用量很大；8.2亿个及相当于126个滨海湾花园的比较，让庞大的用量更容易理解。</a:t>
            </a:r>
          </a:p>
          <a:p xmlns:a="http://schemas.openxmlformats.org/drawingml/2006/main">
            <a:r>
              <a:t>其余资料：0个15%；不去超市3%；1—2个33%。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课本第四段旁注；图表信息追问来自教参2.2</a:t>
            </a:r>
          </a:p>
          <a:p xmlns:a="http://schemas.openxmlformats.org/drawingml/2006/main">
            <a:r>
              <a:t>第一课独立写答：数字作用。可点取多句证据，写2—3句。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本题书面解释建议4分：用量大1分；引用适切数量或比例1分；指出用面积作比较1分；解释比较帮助理解庞大数量1分。各点独立给分。图表点选单独记录。</a:t>
            </a:r>
          </a:p>
          <a:p xmlns:a="http://schemas.openxmlformats.org/drawingml/2006/main">
            <a:r>
              <a:t>第一课末核对和订正。不能只答“具体准确”。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课本第五段旁注；示意图作用题来自教参2.2</a:t>
            </a:r>
          </a:p>
          <a:p xmlns:a="http://schemas.openxmlformats.org/drawingml/2006/main">
            <a:r>
              <a:t>先找不同去向，再配对后果。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焚烧产生有害烟尘和有毒气体，会污染空气；填埋的塑料垃圾不易腐烂、降解，会严重污染土壤；进入河流和海洋的塑料垃圾会被动物当成食物吞食，导致消化道堵塞而死亡。示意图把不同去向和相应危害放在同一画面，配合文字，让读者更直观地理解。</a:t>
            </a:r>
          </a:p>
          <a:p xmlns:a="http://schemas.openxmlformats.org/drawingml/2006/main">
            <a:r>
              <a:t>教材说明的是塑料垃圾焚烧产生的有害物质及其污染风险；不扩展成所有现代设施排放均未经处理。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焚烧产生有害烟尘和有毒气体，会污染空气；填埋的塑料垃圾不易腐烂、降解，会严重污染土壤；进入河流和海洋的塑料垃圾会被动物当成食物吞食，导致消化道堵塞而死亡。示意图把不同去向和相应危害放在同一画面，配合文字，让读者更直观地理解。</a:t>
            </a:r>
          </a:p>
          <a:p xmlns:a="http://schemas.openxmlformats.org/drawingml/2006/main">
            <a:r>
              <a:t>保留“也不一定”，不能推断满200年一定完全分解。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焚烧产生有害烟尘和有毒气体，会污染空气；填埋的塑料垃圾不易腐烂、降解，会严重污染土壤；进入河流和海洋的塑料垃圾会被动物当成食物吞食，导致消化道堵塞而死亡。示意图把不同去向和相应危害放在同一画面，配合文字，让读者更直观地理解。</a:t>
            </a:r>
          </a:p>
          <a:p xmlns:a="http://schemas.openxmlformats.org/drawingml/2006/main">
            <a:r>
              <a:t>动物将水中的塑料垃圾当作食物，误食导致消化道堵塞，可能死亡。依据是教材说明，不只看漫画推断。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你认为课文为什么要用示意图来说明塑料垃圾的危害？</a:t>
            </a:r>
          </a:p>
          <a:p xmlns:a="http://schemas.openxmlformats.org/drawingml/2006/main">
            <a:r>
              <a:t>学生先口头解释，再揭下一页。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把“塑料垃圾去哪里”和“造成什么危害”对应起来，再说图怎样帮助理解。保留“200年也不一定能腐烂、降解”的限定，不能写成恰好200年便完全分解。</a:t>
            </a:r>
          </a:p>
          <a:p xmlns:a="http://schemas.openxmlformats.org/drawingml/2006/main">
            <a:r>
              <a:t>这些关系同时呈现，使危害更直观。“生动形象”四字本身不是完整作用。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课本第六段旁注及教参2.2</a:t>
            </a:r>
          </a:p>
          <a:p xmlns:a="http://schemas.openxmlformats.org/drawingml/2006/main">
            <a:r>
              <a:t>第二课独立书面作答，允许累加两句原文。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课文指出，我国每年使用17.6亿个塑料制品，其中将近一半是在超市使用的塑料袋，说明使用量庞大。2017年，这些塑料制品绝大部分最终成为垃圾，仅6%再循环使用，说明回收比例很低。因此，大量使用加上少量回收，造成严重的塑料垃圾问题。</a:t>
            </a:r>
          </a:p>
          <a:p xmlns:a="http://schemas.openxmlformats.org/drawingml/2006/main">
            <a:r>
              <a:t>课文还有“将近一半是在超市使用的塑料袋”。保留限定。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建议4分：17.6亿个及对象准确1分；说明用量大1分；2017年仅6%再循环或绝大部分成垃圾1分；解释大量使用而回收少造成垃圾多1分。各点独立给分。将近一半是可补充证据，不因漏答这一项清零。</a:t>
            </a:r>
          </a:p>
          <a:p xmlns:a="http://schemas.openxmlformats.org/drawingml/2006/main">
            <a:r>
              <a:t>仅抄出数字可见定位；解释其意义才完成证据与判断的联系。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只抄第一句评价；只写回收率低而漏掉庞大用量；把6%说成当前塑料袋回收率。</a:t>
            </a:r>
          </a:p>
          <a:p xmlns:a="http://schemas.openxmlformats.org/drawingml/2006/main">
            <a:r>
              <a:t>不要把这一数字写成2026年塑料袋的回收率。此页用于答后纠错。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教师随段支架，为教参第八段比较题作准备</a:t>
            </a:r>
          </a:p>
          <a:p xmlns:a="http://schemas.openxmlformats.org/drawingml/2006/main">
            <a:r>
              <a:t>这是第八段比较的随段支架，口头回答即可。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征收塑料袋税，让消费者付费购买塑料袋，不提供塑料袋；此外，使用可降解材料制造塑料袋，以减少环境污染。</a:t>
            </a:r>
          </a:p>
          <a:p xmlns:a="http://schemas.openxmlformats.org/drawingml/2006/main">
            <a:r>
              <a:t>不把可降解理解为在任何环境都立即消失。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课本第八段旁注及教参2.2</a:t>
            </a:r>
          </a:p>
          <a:p xmlns:a="http://schemas.openxmlformats.org/drawingml/2006/main">
            <a:r>
              <a:t>让学生先点选，再口头说明比较理由。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课文特别指出，我国许多机构采用宣传、教育和奖励等方式，鼓励国人购物时自备购物袋。收费则是两段都提到的做法。</a:t>
            </a:r>
          </a:p>
          <a:p xmlns:a="http://schemas.openxmlformats.org/drawingml/2006/main">
            <a:r>
              <a:t>“不同”只限课文信息，不推出别国没有宣传教育。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教参2.2结尾题；课本预习三</a:t>
            </a:r>
          </a:p>
          <a:p xmlns:a="http://schemas.openxmlformats.org/drawingml/2006/main">
            <a:r>
              <a:t>先概括末段，再回看首段，不提前打乱逐段阅读。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结尾概括塑料带来的便利和塑料袋造成的严重环境威胁，并提出对未来发明的反思。它呼应开头“最糟糕的发明”的评价，提醒人们在享受便利时也要考虑长远危害。以此为题能引起读者对这一反差的关注，并点明文章所说明的环境问题。</a:t>
            </a:r>
          </a:p>
          <a:p xmlns:a="http://schemas.openxmlformats.org/drawingml/2006/main">
            <a:r>
              <a:t>第9段“然而”提示两面。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先概括末段，再回看开头。首尾呼应是内容相互照应，不是简单重复相同字词。题目是文中引用的评价，不代表对所有发明做了客观排名。</a:t>
            </a:r>
          </a:p>
          <a:p xmlns:a="http://schemas.openxmlformats.org/drawingml/2006/main">
            <a:r>
              <a:t>首尾呼应（ending echoes the opening）。不只因两个词重复而判定。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读课文，想一想本文为什么以“人类最糟糕的发明”为题目。</a:t>
            </a:r>
          </a:p>
          <a:p xmlns:a="http://schemas.openxmlformats.org/drawingml/2006/main">
            <a:r>
              <a:t>保留课本预习三的问法。先口头答，后揭。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结尾概括塑料带来的便利和塑料袋造成的严重环境威胁，并提出对未来发明的反思。它呼应开头“最糟糕的发明”的评价，提醒人们在享受便利时也要考虑长远危害。以此为题能引起读者对这一反差的关注，并点明文章所说明的环境问题。</a:t>
            </a:r>
          </a:p>
          <a:p xmlns:a="http://schemas.openxmlformats.org/drawingml/2006/main">
            <a:r>
              <a:t>评价来自课文引述，不是独立核实的客观发明排名。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课本预习二。先请学生说，下一步再对照这页；通过全文图表回看核对。此页为讲评，不作为新评分任务。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课本预习一（1—5）</a:t>
            </a:r>
          </a:p>
          <a:p xmlns:a="http://schemas.openxmlformats.org/drawingml/2006/main">
            <a:r>
              <a:t>五项按原序保留。已预习者只核对。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价钱很便宜：廉价；独占、专卖：垄断；制止、控制：遏制；充满，到处都是：充斥；费尽心思：煞费苦心。</a:t>
            </a:r>
          </a:p>
          <a:p xmlns:a="http://schemas.openxmlformats.org/drawingml/2006/main">
            <a:r>
              <a:t>每个词放回对应段落理解。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保持原句所说明的对象与范围。25÷40=62.5%，因此超过二分之一；也可用能满足比较且正确的分数，但不能说超过三分之二。第三、四句原有“大约”，改写后仍须保留。</a:t>
            </a:r>
          </a:p>
          <a:p xmlns:a="http://schemas.openxmlformats.org/drawingml/2006/main">
            <a:r>
              <a:t>在学习单“课本例句”可展开教材六个例句。每一形式都先示例，再操作。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1. 由于天气干旱，这条河的水位越来越低。（有……的趋势）</a:t>
            </a:r>
          </a:p>
          <a:p xmlns:a="http://schemas.openxmlformats.org/drawingml/2006/main">
            <a:r>
              <a:t>先口头改写，再在学习单点选。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课本《阅读放大镜》一（1）。保留对象“这条河的水位”，变化方向是下降。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2. 这个班级的总人数是40人，其中女生有25人。（……超过……的几分之几）</a:t>
            </a:r>
          </a:p>
          <a:p xmlns:a="http://schemas.openxmlformats.org/drawingml/2006/main">
            <a:r>
              <a:t>算清部分和整体的关系。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课本《阅读放大镜》一（2）。也接受超过五分之三等正确改写；不能说超过三分之二。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3. 根据我的调查，我们班同学的零用钱大约一半用于午餐。（……有百分之几……）</a:t>
            </a:r>
          </a:p>
          <a:p xmlns:a="http://schemas.openxmlformats.org/drawingml/2006/main">
            <a:r>
              <a:t>不能省去“大约”。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课本《阅读放大镜》一（3）。零用钱是这里的整体，不是同学人数。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4. 新加坡国家美术馆占地6万4000平方米，大约有9个足球场那么大。（……相当于……）</a:t>
            </a:r>
          </a:p>
          <a:p xmlns:a="http://schemas.openxmlformats.org/drawingml/2006/main">
            <a:r>
              <a:t>沿用教材练习的陈述，不将其说成核实后的当前场馆资料。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课本《阅读放大镜》一（4）。保留“大约”，用面积与面积比较。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教师开放题，承接教参3.2“发明塑料袋的用意”“为何成为最糟糕的发明”的讨论</a:t>
            </a:r>
          </a:p>
          <a:p xmlns:a="http://schemas.openxmlformats.org/drawingml/2006/main">
            <a:r>
              <a:t>必做。先独立想，再讨论，最后形成个人书面回应。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立场可以不同，重点是讲清“为什么”。说明发明满足什么需要、使用或处理带来什么后果，再用具体资料支持判断。不能只说“因为不好，所以最糟糕”。</a:t>
            </a:r>
          </a:p>
          <a:p xmlns:a="http://schemas.openxmlformats.org/drawingml/2006/main">
            <a:r>
              <a:t>四个输入框为同一道开放题；不要只勾“已讨论”或只选立场。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我部分认同。塑料袋廉价、方便，解决了购物携带物品的需要；但大量使用和丢弃会造成长期污染。例如课文示意图说明，动物会误食流入河海的塑料垃圾，导致消化道堵塞。这个后果说明，我们不能只看发明带来的便利，还要减少不必要的使用并妥善处理废物。因此，我认为更应反思人们的使用和处理方式。</a:t>
            </a:r>
          </a:p>
          <a:p xmlns:a="http://schemas.openxmlformats.org/drawingml/2006/main">
            <a:r>
              <a:t>仅在学生完成初答后显示。不是唯一立场。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建议4分：立场1分；解释合理1分；具体依据1分；解释依据与立场的联系1分。接受不同立场及等义表述。不给关键词自动分，不因不同意示例而扣分。</a:t>
            </a:r>
          </a:p>
          <a:p xmlns:a="http://schemas.openxmlformats.org/drawingml/2006/main">
            <a:r>
              <a:t>允许认同或不认同，但需准确理解课文、合理解释。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核心课文《人类最糟糕的发明》。来源：用户提供的教材、教参与五张原有漫画。</a:t>
            </a:r>
          </a:p>
          <a:p xmlns:a="http://schemas.openxmlformats.org/drawingml/2006/main">
            <a:r>
              <a:t>无新短文，无一周测。教师核对三项书面回应。自动正确率只统计客观任务，不能代表全部阅读能力。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944802fa564cd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b20f718e0e4e4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34bc107aa7467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cf5fd3a78d4d7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670aa8ec7c4ea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641442c95546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9904F2-F4A0-4EFC-A7EE-00C131F8BE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28FCAFE-7478-47D2-9614-BB3ED1D4883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F4B70FF-5FD2-4180-BE36-977C89E87E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8AD24E-DCA9-49E9-84F5-DB4D4569E9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A851779-7878-471D-989C-8800D74B82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BFA1856-1F39-415D-9DF0-19DA75994C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6DA1A9A-29A3-46C1-94E0-64EEF84EDA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A94F396-721B-4392-9B97-95D13D389CA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D612A7-45F9-4E9C-B269-0AB7616121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40AEE0-9183-4E04-B947-F56621C1C1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02cf79f9a74e47" /><Relationship Type="http://schemas.openxmlformats.org/officeDocument/2006/relationships/slideLayout" Target="/ppt/slideLayouts/slideLayout1.xml" Id="Rb0275d38cbca408d" /><Relationship Type="http://schemas.openxmlformats.org/officeDocument/2006/relationships/slideLayout" Target="/ppt/slideLayouts/slideLayout2.xml" Id="R18c0f989f14542f7" /><Relationship Type="http://schemas.openxmlformats.org/officeDocument/2006/relationships/slideLayout" Target="/ppt/slideLayouts/slideLayout3.xml" Id="R3a5e0ac2579148bb" /><Relationship Type="http://schemas.openxmlformats.org/officeDocument/2006/relationships/slideLayout" Target="/ppt/slideLayouts/slideLayout4.xml" Id="Rc053411e402e4a26" /><Relationship Type="http://schemas.openxmlformats.org/officeDocument/2006/relationships/slideLayout" Target="/ppt/slideLayouts/slideLayout5.xml" Id="R1096061511d1469a" /><Relationship Type="http://schemas.openxmlformats.org/officeDocument/2006/relationships/slideLayout" Target="/ppt/slideLayouts/slideLayout6.xml" Id="R9330da60922c46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275d38cbca408d"/>
    <p:sldLayoutId xmlns:r="http://schemas.openxmlformats.org/officeDocument/2006/relationships" id="2147483650" r:id="R18c0f989f14542f7"/>
    <p:sldLayoutId xmlns:r="http://schemas.openxmlformats.org/officeDocument/2006/relationships" id="2147483651" r:id="R3a5e0ac2579148bb"/>
    <p:sldLayoutId xmlns:r="http://schemas.openxmlformats.org/officeDocument/2006/relationships" id="2147483652" r:id="Rc053411e402e4a26"/>
    <p:sldLayoutId xmlns:r="http://schemas.openxmlformats.org/officeDocument/2006/relationships" id="2147483653" r:id="R1096061511d1469a"/>
    <p:sldLayoutId xmlns:r="http://schemas.openxmlformats.org/officeDocument/2006/relationships" id="2147483654" r:id="R9330da60922c46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9e279658e84751" /><Relationship Type="http://schemas.openxmlformats.org/officeDocument/2006/relationships/image" Target="/ppt/media/image.png" Id="Raabad92eebc247d8" /><Relationship Type="http://schemas.openxmlformats.org/officeDocument/2006/relationships/notesSlide" Target="/ppt/notesSlides/notesSlide1.xml" Id="R57d8206ccb944d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ce8365839446d8" /><Relationship Type="http://schemas.openxmlformats.org/officeDocument/2006/relationships/notesSlide" Target="/ppt/notesSlides/notesSlide2.xml" Id="R441d863d29ec48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11ea91ebaa4ba8" /><Relationship Type="http://schemas.openxmlformats.org/officeDocument/2006/relationships/notesSlide" Target="/ppt/notesSlides/notesSlide3.xml" Id="Rd440d0a132ea4a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60d6cf300b4b91" /><Relationship Type="http://schemas.openxmlformats.org/officeDocument/2006/relationships/notesSlide" Target="/ppt/notesSlides/notesSlide4.xml" Id="R9e0d6742b79043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c55478b5414786" /><Relationship Type="http://schemas.openxmlformats.org/officeDocument/2006/relationships/image" Target="/ppt/media/image2.png" Id="R62d0859066e24733" /><Relationship Type="http://schemas.openxmlformats.org/officeDocument/2006/relationships/notesSlide" Target="/ppt/notesSlides/notesSlide5.xml" Id="Rb94896ba7a8243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985f13f0dc4829" /><Relationship Type="http://schemas.openxmlformats.org/officeDocument/2006/relationships/notesSlide" Target="/ppt/notesSlides/notesSlide6.xml" Id="R219a292a15b84e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34b75d7f2040a4" /><Relationship Type="http://schemas.openxmlformats.org/officeDocument/2006/relationships/notesSlide" Target="/ppt/notesSlides/notesSlide7.xml" Id="R9a2c8b0165ba4fb9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dbb506641e49401a" /><Relationship Type="http://schemas.openxmlformats.org/officeDocument/2006/relationships/image" Target="../media/image.png" Id="Ra471f00fdfc34bc6" /><Relationship Type="http://schemas.openxmlformats.org/officeDocument/2006/relationships/notesSlide" Target="/ppt/notesSlides/notesSlide8.xml" Id="R19218290021b4e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e1fcee6c394767" /><Relationship Type="http://schemas.openxmlformats.org/officeDocument/2006/relationships/notesSlide" Target="/ppt/notesSlides/notesSlide9.xml" Id="R4b01eab4b93c45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4c070421014f1a" /><Relationship Type="http://schemas.openxmlformats.org/officeDocument/2006/relationships/chart" Target="/ppt/slides/charts/chart1.xml" Id="R112e5b2435b94aed" /><Relationship Type="http://schemas.openxmlformats.org/officeDocument/2006/relationships/notesSlide" Target="/ppt/notesSlides/notesSlide10.xml" Id="R3b6bb44d891e49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58d98a57b546dc" /><Relationship Type="http://schemas.openxmlformats.org/officeDocument/2006/relationships/notesSlide" Target="/ppt/notesSlides/notesSlide11.xml" Id="R51909b9f257546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20fa89a47342ca" /><Relationship Type="http://schemas.openxmlformats.org/officeDocument/2006/relationships/notesSlide" Target="/ppt/notesSlides/notesSlide12.xml" Id="R727e7a64c17e4d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ed7235e6ba4c82" /><Relationship Type="http://schemas.openxmlformats.org/officeDocument/2006/relationships/notesSlide" Target="/ppt/notesSlides/notesSlide13.xml" Id="Rf3ec44e9427a4e1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6b98770705465c" /><Relationship Type="http://schemas.openxmlformats.org/officeDocument/2006/relationships/notesSlide" Target="/ppt/notesSlides/notesSlide14.xml" Id="R1f3e21e869f34d5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da34619b574fe0" /><Relationship Type="http://schemas.openxmlformats.org/officeDocument/2006/relationships/notesSlide" Target="/ppt/notesSlides/notesSlide15.xml" Id="R71d3c04170154c0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b825e54a484d57" /><Relationship Type="http://schemas.openxmlformats.org/officeDocument/2006/relationships/image" Target="/ppt/media/image4.png" Id="Rc46f906f739d4cf4" /><Relationship Type="http://schemas.openxmlformats.org/officeDocument/2006/relationships/notesSlide" Target="/ppt/notesSlides/notesSlide16.xml" Id="R1b204f6730db4015" /></Relationships>
</file>

<file path=ppt/slides/_rels/slide1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d58042d071494427" /><Relationship Type="http://schemas.openxmlformats.org/officeDocument/2006/relationships/image" Target="../media/image4.png" Id="R77ff70cf766f4227" /><Relationship Type="http://schemas.openxmlformats.org/officeDocument/2006/relationships/notesSlide" Target="/ppt/notesSlides/notesSlide17.xml" Id="Ra6037256fc5748ab" /></Relationships>
</file>

<file path=ppt/slides/_rels/slide1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d9fe1b3808354b2f" /><Relationship Type="http://schemas.openxmlformats.org/officeDocument/2006/relationships/image" Target="../media/image4.png" Id="Re281f5e9976545f3" /><Relationship Type="http://schemas.openxmlformats.org/officeDocument/2006/relationships/notesSlide" Target="/ppt/notesSlides/notesSlide18.xml" Id="R9565ed4cb2ba455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524e2b5e87477d" /><Relationship Type="http://schemas.openxmlformats.org/officeDocument/2006/relationships/notesSlide" Target="/ppt/notesSlides/notesSlide19.xml" Id="Rea6f143b1b30433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708ea97c594c80" /><Relationship Type="http://schemas.openxmlformats.org/officeDocument/2006/relationships/notesSlide" Target="/ppt/notesSlides/notesSlide20.xml" Id="Rdf0e263ac4ad4f0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80c2b9b692405e" /><Relationship Type="http://schemas.openxmlformats.org/officeDocument/2006/relationships/notesSlide" Target="/ppt/notesSlides/notesSlide21.xml" Id="R28567f9903e5449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27930fedcc419f" /><Relationship Type="http://schemas.openxmlformats.org/officeDocument/2006/relationships/notesSlide" Target="/ppt/notesSlides/notesSlide22.xml" Id="R96f84600006f45a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6ecd8e227e4586" /><Relationship Type="http://schemas.openxmlformats.org/officeDocument/2006/relationships/notesSlide" Target="/ppt/notesSlides/notesSlide23.xml" Id="R6272a7d85df04e4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ccd8c4f5d34b0f" /><Relationship Type="http://schemas.openxmlformats.org/officeDocument/2006/relationships/notesSlide" Target="/ppt/notesSlides/notesSlide24.xml" Id="R348aa74a79c64b2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757332a6124753" /><Relationship Type="http://schemas.openxmlformats.org/officeDocument/2006/relationships/notesSlide" Target="/ppt/notesSlides/notesSlide25.xml" Id="Ra5c69fac35fa478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ba209a234f462c" /><Relationship Type="http://schemas.openxmlformats.org/officeDocument/2006/relationships/notesSlide" Target="/ppt/notesSlides/notesSlide26.xml" Id="Ra072a90c7589459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67ab35d2c1415c" /><Relationship Type="http://schemas.openxmlformats.org/officeDocument/2006/relationships/notesSlide" Target="/ppt/notesSlides/notesSlide27.xml" Id="Rff8e3a12f0284fe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a89d12fce04055" /><Relationship Type="http://schemas.openxmlformats.org/officeDocument/2006/relationships/notesSlide" Target="/ppt/notesSlides/notesSlide28.xml" Id="Rade2dac15dc94bc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08e7dea94a4068" /><Relationship Type="http://schemas.openxmlformats.org/officeDocument/2006/relationships/notesSlide" Target="/ppt/notesSlides/notesSlide29.xml" Id="R409cba88fbc94c3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87e88e260140a1" /><Relationship Type="http://schemas.openxmlformats.org/officeDocument/2006/relationships/notesSlide" Target="/ppt/notesSlides/notesSlide30.xml" Id="Rda947fdeb9a547d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5187cddd5f48be" /><Relationship Type="http://schemas.openxmlformats.org/officeDocument/2006/relationships/notesSlide" Target="/ppt/notesSlides/notesSlide31.xml" Id="R0d3273160d04491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64ea4bd18f4ccd" /><Relationship Type="http://schemas.openxmlformats.org/officeDocument/2006/relationships/notesSlide" Target="/ppt/notesSlides/notesSlide32.xml" Id="R9b64ddca7c554a1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4c385d588b47e0" /><Relationship Type="http://schemas.openxmlformats.org/officeDocument/2006/relationships/notesSlide" Target="/ppt/notesSlides/notesSlide33.xml" Id="R1e9196b4b7774a3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c37970ed6249dc" /><Relationship Type="http://schemas.openxmlformats.org/officeDocument/2006/relationships/notesSlide" Target="/ppt/notesSlides/notesSlide34.xml" Id="R55a5e5167ab040f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93f280086b47e1" /><Relationship Type="http://schemas.openxmlformats.org/officeDocument/2006/relationships/notesSlide" Target="/ppt/notesSlides/notesSlide35.xml" Id="R417df0c4cfc54b9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5a73487f804f46" /><Relationship Type="http://schemas.openxmlformats.org/officeDocument/2006/relationships/notesSlide" Target="/ppt/notesSlides/notesSlide36.xml" Id="R9610b8ee277843f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23da9c177b46bc" /><Relationship Type="http://schemas.openxmlformats.org/officeDocument/2006/relationships/notesSlide" Target="/ppt/notesSlides/notesSlide37.xml" Id="R98e75da8c578405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c7c65b5e634139" /><Relationship Type="http://schemas.openxmlformats.org/officeDocument/2006/relationships/notesSlide" Target="/ppt/notesSlides/notesSlide38.xml" Id="Rbe32a4ef69ac44d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12d67d91ee469e" /><Relationship Type="http://schemas.openxmlformats.org/officeDocument/2006/relationships/notesSlide" Target="/ppt/notesSlides/notesSlide39.xml" Id="Ra7b449b19a304de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5b96c021a64585" /><Relationship Type="http://schemas.openxmlformats.org/officeDocument/2006/relationships/notesSlide" Target="/ppt/notesSlides/notesSlide40.xml" Id="Rb876e50360fd412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d898f8f934407f" /><Relationship Type="http://schemas.openxmlformats.org/officeDocument/2006/relationships/notesSlide" Target="/ppt/notesSlides/notesSlide41.xml" Id="R30f0b89d5ba7464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25c93c01754f1a" /><Relationship Type="http://schemas.openxmlformats.org/officeDocument/2006/relationships/notesSlide" Target="/ppt/notesSlides/notesSlide42.xml" Id="Rc940666252b248d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1a5899da6f4670" /><Relationship Type="http://schemas.openxmlformats.org/officeDocument/2006/relationships/notesSlide" Target="/ppt/notesSlides/notesSlide43.xml" Id="R9f680cfa999f49c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7db8b22ad24999" /><Relationship Type="http://schemas.openxmlformats.org/officeDocument/2006/relationships/notesSlide" Target="/ppt/notesSlides/notesSlide44.xml" Id="R1ca902fb5e9c42e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53edaaa0fd418e" /><Relationship Type="http://schemas.openxmlformats.org/officeDocument/2006/relationships/notesSlide" Target="/ppt/notesSlides/notesSlide45.xml" Id="Rf15c9c2fabff4aa8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613ac9028d4a43" /><Relationship Type="http://schemas.openxmlformats.org/officeDocument/2006/relationships/notesSlide" Target="/ppt/notesSlides/notesSlide46.xml" Id="R5199991a7af5467c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de32a1fa0a49a0" /><Relationship Type="http://schemas.openxmlformats.org/officeDocument/2006/relationships/notesSlide" Target="/ppt/notesSlides/notesSlide47.xml" Id="Rce1b474193b34ddb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bcd65abdfe4942" /><Relationship Type="http://schemas.openxmlformats.org/officeDocument/2006/relationships/notesSlide" Target="/ppt/notesSlides/notesSlide48.xml" Id="R87f6e7d415664cc5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5998da8969492b" /><Relationship Type="http://schemas.openxmlformats.org/officeDocument/2006/relationships/notesSlide" Target="/ppt/notesSlides/notesSlide49.xml" Id="R5cae5f71ea424793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939e6613b845df" /><Relationship Type="http://schemas.openxmlformats.org/officeDocument/2006/relationships/notesSlide" Target="/ppt/notesSlides/notesSlide50.xml" Id="R44cb62708d744de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pieChart>
        <c:ser>
          <c:idx val="0"/>
          <c:order val="0"/>
          <c:tx>
            <c:v>受访者比例</c:v>
          </c:tx>
          <c:dPt>
            <c:idx val="0"/>
            <c:spPr>
              <a:solidFill xmlns:a="http://schemas.openxmlformats.org/drawingml/2006/main">
                <a:srgbClr val="337951"/>
              </a:solidFill>
            </c:spPr>
          </c:dPt>
          <c:dPt>
            <c:idx val="1"/>
            <c:spPr>
              <a:solidFill xmlns:a="http://schemas.openxmlformats.org/drawingml/2006/main">
                <a:srgbClr val="7F8D72"/>
              </a:solidFill>
            </c:spPr>
          </c:dPt>
          <c:dPt>
            <c:idx val="2"/>
            <c:spPr>
              <a:solidFill xmlns:a="http://schemas.openxmlformats.org/drawingml/2006/main">
                <a:srgbClr val="EFD967"/>
              </a:solidFill>
            </c:spPr>
          </c:dPt>
          <c:dPt>
            <c:idx val="3"/>
            <c:spPr>
              <a:solidFill xmlns:a="http://schemas.openxmlformats.org/drawingml/2006/main">
                <a:srgbClr val="B0C64F"/>
              </a:solidFill>
            </c:spPr>
          </c:dPt>
          <c:dPt>
            <c:idx val="4"/>
            <c:spPr>
              <a:solidFill xmlns:a="http://schemas.openxmlformats.org/drawingml/2006/main">
                <a:srgbClr val="CC635F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0个</c:v>
                </c:pt>
                <c:pt idx="1">
                  <c:v>不去超市</c:v>
                </c:pt>
                <c:pt idx="2">
                  <c:v>1—2个</c:v>
                </c:pt>
                <c:pt idx="3">
                  <c:v>3—5个</c:v>
                </c:pt>
                <c:pt idx="4">
                  <c:v>6个或以上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15</c:v>
                </c:pt>
                <c:pt idx="1">
                  <c:v>3</c:v>
                </c:pt>
                <c:pt idx="2">
                  <c:v>33</c:v>
                </c:pt>
                <c:pt idx="3">
                  <c:v>35</c:v>
                </c:pt>
                <c:pt idx="4">
                  <c:v>14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850" b="1">
                  <a:solidFill>
                    <a:srgbClr val="203D36"/>
                  </a:solidFill>
                  <a:latin typeface="LXGW WenKai TC"/>
                  <a:ea typeface="LXGW WenKai TC"/>
                  <a:cs typeface="LXGW WenKai TC"/>
                </a:defRPr>
              </a:pPr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0"/>
        </c:dLbls>
      </c:pieChart>
      <c:spPr>
        <a:solidFill xmlns:a="http://schemas.openxmlformats.org/drawingml/2006/main">
          <a:srgbClr val="FFFCF6"/>
        </a:solidFill>
      </c:spPr>
    </c:plotArea>
    <c:plotVisOnly val="1"/>
  </c:chart>
  <c:spPr>
    <a:solidFill xmlns:a="http://schemas.openxmlformats.org/drawingml/2006/main">
      <a:srgbClr val="FFFCF6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A7D15-A418-437E-BB49-CCE6409C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人类最糟糕的发明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5817C-5098-4B5D-9D8E-33160A0D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1F4E6-EC74-4B10-9FAA-9319A44A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57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中二高级华文 · 单元三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D00DE-8BE4-4D88-8952-E95D7379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rPr>
              <a:t>结合图表，掌握说明重点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B9DBC-BAB7-4ABE-85A9-3BE1D250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先读原文，再用证据解释。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D19FD-22F7-496D-9E4C-BA4DDB382F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ad92eebc247d8"/>
          <a:srcRect xmlns:a="http://schemas.openxmlformats.org/drawingml/2006/main" l="195" t="10286" r="50098" b="68229"/>
          <a:stretch xmlns:a="http://schemas.openxmlformats.org/drawingml/2006/main"/>
        </p:blipFill>
        <p:spPr>
          <a:xfrm xmlns:a="http://schemas.openxmlformats.org/drawingml/2006/main">
            <a:off x="7429500" y="1676400"/>
            <a:ext cx="4095750" cy="26553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8068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04B165-FE63-478E-B877-942C3578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第一段：“得奖”为什么加引号？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6C5E8-0E76-445B-80AF-109FEBD9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83AF7-0FC0-4639-9409-FF769CF2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通常，“得奖”让人想到什么？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69E16-6D1F-494A-B801-CF1AC358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这次“得奖”得到的是什么评价？</a:t>
            </a:r>
          </a:p>
        </p:txBody>
      </p:sp>
    </p:spTree>
    <p:extLst>
      <p:ext uri="{BB962C8B-B14F-4D97-AF65-F5344CB8AC3E}">
        <p14:creationId xmlns:p14="http://schemas.microsoft.com/office/powerpoint/2010/main" val="11379301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1EEFC-5024-4D49-9E7C-B36209CD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“得奖”的特殊含义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8E994-F2A0-43E0-8374-44A1322E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B8882-91C7-424B-ACD9-3BA709C8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通常的得奖：受到肯定。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FA665-3741-42C6-A624-69C6FA0F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这里的得奖：获评“最糟糕”。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961800-91DB-4616-8733-E80DAB84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引号带有反讽意味，突出负面评价。</a:t>
            </a:r>
          </a:p>
        </p:txBody>
      </p:sp>
    </p:spTree>
    <p:extLst>
      <p:ext uri="{BB962C8B-B14F-4D97-AF65-F5344CB8AC3E}">
        <p14:creationId xmlns:p14="http://schemas.microsoft.com/office/powerpoint/2010/main" val="20548320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FF07E-E137-49AD-81EF-635BB0EC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第二段：结合图表读趋势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C2D4A-6EA6-44B4-811A-A715B9AC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CE154-DF7E-474F-9DAC-2226F614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这个图表要告诉我们什么？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34415-F81C-4347-946C-E6448AF3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先看标题、年份和单位。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862A8-A582-4D01-8676-B92A822B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再看整条曲线怎样变化。</a:t>
            </a:r>
          </a:p>
        </p:txBody>
      </p:sp>
    </p:spTree>
    <p:extLst>
      <p:ext uri="{BB962C8B-B14F-4D97-AF65-F5344CB8AC3E}">
        <p14:creationId xmlns:p14="http://schemas.microsoft.com/office/powerpoint/2010/main" val="4762573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8F7D79-3D01-40C2-9DDC-A42505EF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全球塑料产量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7A262-927E-4695-B91C-3F63B167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05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B690A-A8FC-458F-84D4-95ABCC1E1B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d0859066e24733"/>
          <a:srcRect xmlns:a="http://schemas.openxmlformats.org/drawingml/2006/main" l="29472" t="58082" r="24927" b="10237"/>
          <a:stretch xmlns:a="http://schemas.openxmlformats.org/drawingml/2006/main"/>
        </p:blipFill>
        <p:spPr>
          <a:xfrm xmlns:a="http://schemas.openxmlformats.org/drawingml/2006/main">
            <a:off x="3352800" y="1457325"/>
            <a:ext cx="4429125" cy="4191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0DC4C-E859-434C-9AC8-0372DC15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7160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百万吨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BFC0D-F17D-4033-8AD1-9A14EF5A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352550"/>
            <a:ext cx="90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400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B371C-C405-476C-B7BD-65B3B5E2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00300"/>
            <a:ext cx="90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300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AE59A-06DF-43F8-BD89-21C2260C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48050"/>
            <a:ext cx="90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200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7DC690-BDFF-406A-890E-AF690EDB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95800"/>
            <a:ext cx="90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100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5BECA-10B2-48D9-939F-CF7F77B1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43550"/>
            <a:ext cx="90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08446-2442-4C36-8CD0-ED05DD86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734050"/>
            <a:ext cx="102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1950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7D66B9-504B-4AE8-80E3-DC7D24C1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734050"/>
            <a:ext cx="102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1970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87ABA9-238F-44F4-94BA-F191A7F1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34050"/>
            <a:ext cx="102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1990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66D16-DAF7-4BF9-8513-7E7E6E45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5734050"/>
            <a:ext cx="102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2020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AEA6FA-F353-495C-88F9-A2EA06F0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7340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年份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578F18-8AB8-4179-AD8C-2F38DF4B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3360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教材图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43F92D-61AB-4944-92B3-657BE635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看整体变化</a:t>
            </a:r>
          </a:p>
          <a:p xmlns:a="http://schemas.openxmlformats.org/drawingml/2006/main">
            <a: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也留意波动</a:t>
            </a:r>
          </a:p>
        </p:txBody>
      </p:sp>
    </p:spTree>
    <p:extLst>
      <p:ext uri="{BB962C8B-B14F-4D97-AF65-F5344CB8AC3E}">
        <p14:creationId xmlns:p14="http://schemas.microsoft.com/office/powerpoint/2010/main" val="17804764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65597-D3DC-43DE-B2F5-D1FC9CAF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趋势概括要保留对象与范围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7B242-59EE-4202-A991-14DB7786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43694-0C2B-4828-B478-3E1C6407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从二十世纪五十年代开始，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D2ADD-FB69-4DD5-B0CD-112F1677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全球塑料产量整体快速上升。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2A522-BC4A-4B91-85A4-B9E5E3E1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“几乎”提醒我们：局部仍有波动。</a:t>
            </a:r>
          </a:p>
        </p:txBody>
      </p:sp>
    </p:spTree>
    <p:extLst>
      <p:ext uri="{BB962C8B-B14F-4D97-AF65-F5344CB8AC3E}">
        <p14:creationId xmlns:p14="http://schemas.microsoft.com/office/powerpoint/2010/main" val="9659042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78D40-EBFF-4529-A588-8EC5C3A0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第三段：为什么风靡全世界？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667F0-EC44-40B2-A38B-BBC013E5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90AB6-9FAA-4B9A-838E-FC53B1DF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找“因为”后面的并列词语。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43D60-8E56-475C-9620-FC840DF1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“每分钟一百万个”属于原因，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9B829-A686-426D-B5F6-B07469F3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还是广泛使用的表现？</a:t>
            </a:r>
          </a:p>
        </p:txBody>
      </p:sp>
    </p:spTree>
    <p:extLst>
      <p:ext uri="{BB962C8B-B14F-4D97-AF65-F5344CB8AC3E}">
        <p14:creationId xmlns:p14="http://schemas.microsoft.com/office/powerpoint/2010/main" val="15018698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03529-F95F-4181-B638-F978EB89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广泛流行的原因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EF6D1-E778-4929-98D4-7BC4AA9E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2D04CB-8350-45BB-AE80-FBEF35F2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4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45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45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45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45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45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45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45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45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45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45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rPr>
              <a:t>廉价、卫生、方便、耐用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99CA1-F97E-4C79-B867-4DE66425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这些特点满足了购物等</a:t>
            </a:r>
          </a:p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日常使用的需要。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27F30-C949-4999-98A9-C0F678F94B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1f00fdfc34bc6"/>
          <a:srcRect xmlns:a="http://schemas.openxmlformats.org/drawingml/2006/main" l="50684" t="54102" r="195" b="26042"/>
          <a:stretch xmlns:a="http://schemas.openxmlformats.org/drawingml/2006/main"/>
        </p:blipFill>
        <p:spPr>
          <a:xfrm xmlns:a="http://schemas.openxmlformats.org/drawingml/2006/main">
            <a:off x="7334250" y="1657350"/>
            <a:ext cx="4095750" cy="248350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0720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A6C9B-8730-4266-9F6D-4268F75D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第四段：饼状图在说明什么？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48351-8451-48B4-A229-7424493D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694539-C36D-4F9C-B0EE-1DD9A7D2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饼状图说明的主要内容是什么？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18E95-58D3-4698-AEC1-3C6781FA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课文用了哪些信息？图中还有哪些？</a:t>
            </a:r>
          </a:p>
        </p:txBody>
      </p:sp>
    </p:spTree>
    <p:extLst>
      <p:ext uri="{BB962C8B-B14F-4D97-AF65-F5344CB8AC3E}">
        <p14:creationId xmlns:p14="http://schemas.microsoft.com/office/powerpoint/2010/main" val="21247231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BD392-8093-4B34-8AA8-3ADD0026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每次上超市使用多少个塑料袋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AF5C8-F326-4665-8E6A-643CB485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10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7E36BCA2-86D6-4D70-BFCE-9B13BB856F93}"/>
              </a:ext>
            </a:extLst>
          </p:cNvPr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5810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2e5b2435b94aed"/>
          </a:graphicData>
        </a:graphic>
      </p:graphicFrame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11B1B-8026-4592-8A5A-4440803BD339}"/>
              </a:ext>
            </a:extLst>
          </p:cNvPr>
          <p:cNvGraphicFramePr/>
          <p:nvPr/>
        </p:nvGraphicFramePr>
        <p:xfrm>
          <a:off xmlns:a="http://schemas.openxmlformats.org/drawingml/2006/main" x="7000875" y="1638300"/>
          <a:ext xmlns:a="http://schemas.openxmlformats.org/drawingml/2006/main" cx="4333875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5125"/>
                <a:gridCol w="1428750"/>
              </a:tblGrid>
              <a:tr h="762000">
                <a:tc>
                  <a:txBody>
                    <a:bodyPr/>
                    <a:lstStyle/>
                    <a:p>
                      <a:r>
                        <a:rPr sz="2850">
                          <a:solidFill>
                            <a:srgbClr val="FFFFF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0个</a:t>
                      </a:r>
                    </a:p>
                  </a:txBody>
                  <a:tcPr marL="133350" marR="76200" marT="95250" marB="95250" anchor="ctr">
                    <a:lnL w="28575">
                      <a:solidFill>
                        <a:srgbClr val="FFFCF6"/>
                      </a:solidFill>
                      <a:prstDash val="solid"/>
                    </a:lnL>
                    <a:lnR w="28575">
                      <a:solidFill>
                        <a:srgbClr val="FFFCF6"/>
                      </a:solidFill>
                      <a:prstDash val="solid"/>
                    </a:lnR>
                    <a:lnT w="28575">
                      <a:solidFill>
                        <a:srgbClr val="FFFCF6"/>
                      </a:solidFill>
                      <a:prstDash val="solid"/>
                    </a:lnT>
                    <a:lnB w="28575">
                      <a:solidFill>
                        <a:srgbClr val="FFFCF6"/>
                      </a:solidFill>
                      <a:prstDash val="solid"/>
                    </a:lnB>
                    <a:solidFill>
                      <a:srgbClr val="3379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>
                          <a:solidFill>
                            <a:srgbClr val="203D36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15%</a:t>
                      </a:r>
                    </a:p>
                  </a:txBody>
                  <a:tcPr marL="133350" marR="76200" marT="95250" marB="95250" anchor="ctr">
                    <a:lnR w="28575">
                      <a:solidFill>
                        <a:srgbClr val="FFFCF6"/>
                      </a:solidFill>
                      <a:prstDash val="solid"/>
                    </a:lnR>
                    <a:lnT w="28575">
                      <a:solidFill>
                        <a:srgbClr val="FFFCF6"/>
                      </a:solidFill>
                      <a:prstDash val="solid"/>
                    </a:lnT>
                    <a:lnB w="28575">
                      <a:solidFill>
                        <a:srgbClr val="FFFCF6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850">
                          <a:solidFill>
                            <a:srgbClr val="FFFFF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不去超市</a:t>
                      </a:r>
                    </a:p>
                  </a:txBody>
                  <a:tcPr marL="133350" marR="76200" marT="95250" marB="95250" anchor="ctr">
                    <a:lnL w="28575">
                      <a:solidFill>
                        <a:srgbClr val="FFFCF6"/>
                      </a:solidFill>
                      <a:prstDash val="solid"/>
                    </a:lnL>
                    <a:lnR w="28575">
                      <a:solidFill>
                        <a:srgbClr val="FFFCF6"/>
                      </a:solidFill>
                      <a:prstDash val="solid"/>
                    </a:lnR>
                    <a:lnB w="28575">
                      <a:solidFill>
                        <a:srgbClr val="FFFCF6"/>
                      </a:solidFill>
                      <a:prstDash val="solid"/>
                    </a:lnB>
                    <a:solidFill>
                      <a:srgbClr val="7F8D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>
                          <a:solidFill>
                            <a:srgbClr val="203D36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3%</a:t>
                      </a:r>
                    </a:p>
                  </a:txBody>
                  <a:tcPr marL="133350" marR="76200" marT="95250" marB="95250" anchor="ctr">
                    <a:lnR w="28575">
                      <a:solidFill>
                        <a:srgbClr val="FFFCF6"/>
                      </a:solidFill>
                      <a:prstDash val="solid"/>
                    </a:lnR>
                    <a:lnB w="28575">
                      <a:solidFill>
                        <a:srgbClr val="FFFCF6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850">
                          <a:solidFill>
                            <a:srgbClr val="203D36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1—2个</a:t>
                      </a:r>
                    </a:p>
                  </a:txBody>
                  <a:tcPr marL="133350" marR="76200" marT="95250" marB="95250" anchor="ctr">
                    <a:lnL w="28575">
                      <a:solidFill>
                        <a:srgbClr val="FFFCF6"/>
                      </a:solidFill>
                      <a:prstDash val="solid"/>
                    </a:lnL>
                    <a:lnR w="28575">
                      <a:solidFill>
                        <a:srgbClr val="FFFCF6"/>
                      </a:solidFill>
                      <a:prstDash val="solid"/>
                    </a:lnR>
                    <a:lnB w="28575">
                      <a:solidFill>
                        <a:srgbClr val="FFFCF6"/>
                      </a:solidFill>
                      <a:prstDash val="solid"/>
                    </a:lnB>
                    <a:solidFill>
                      <a:srgbClr val="EFD96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>
                          <a:solidFill>
                            <a:srgbClr val="203D36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33%</a:t>
                      </a:r>
                    </a:p>
                  </a:txBody>
                  <a:tcPr marL="133350" marR="76200" marT="95250" marB="95250" anchor="ctr">
                    <a:lnR w="28575">
                      <a:solidFill>
                        <a:srgbClr val="FFFCF6"/>
                      </a:solidFill>
                      <a:prstDash val="solid"/>
                    </a:lnR>
                    <a:lnB w="28575">
                      <a:solidFill>
                        <a:srgbClr val="FFFCF6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850">
                          <a:solidFill>
                            <a:srgbClr val="203D36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3—5个</a:t>
                      </a:r>
                    </a:p>
                  </a:txBody>
                  <a:tcPr marL="133350" marR="76200" marT="95250" marB="95250" anchor="ctr">
                    <a:lnL w="28575">
                      <a:solidFill>
                        <a:srgbClr val="FFFCF6"/>
                      </a:solidFill>
                      <a:prstDash val="solid"/>
                    </a:lnL>
                    <a:lnR w="28575">
                      <a:solidFill>
                        <a:srgbClr val="FFFCF6"/>
                      </a:solidFill>
                      <a:prstDash val="solid"/>
                    </a:lnR>
                    <a:lnB w="28575">
                      <a:solidFill>
                        <a:srgbClr val="FFFCF6"/>
                      </a:solidFill>
                      <a:prstDash val="solid"/>
                    </a:lnB>
                    <a:solidFill>
                      <a:srgbClr val="B0C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>
                          <a:solidFill>
                            <a:srgbClr val="203D36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35%</a:t>
                      </a:r>
                    </a:p>
                  </a:txBody>
                  <a:tcPr marL="133350" marR="76200" marT="95250" marB="95250" anchor="ctr">
                    <a:lnR w="28575">
                      <a:solidFill>
                        <a:srgbClr val="FFFCF6"/>
                      </a:solidFill>
                      <a:prstDash val="solid"/>
                    </a:lnR>
                    <a:lnB w="28575">
                      <a:solidFill>
                        <a:srgbClr val="FFFCF6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850">
                          <a:solidFill>
                            <a:srgbClr val="FFFFF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6个或以上</a:t>
                      </a:r>
                    </a:p>
                  </a:txBody>
                  <a:tcPr marL="133350" marR="76200" marT="95250" marB="95250" anchor="ctr">
                    <a:lnL w="28575">
                      <a:solidFill>
                        <a:srgbClr val="FFFCF6"/>
                      </a:solidFill>
                      <a:prstDash val="solid"/>
                    </a:lnL>
                    <a:lnR w="28575">
                      <a:solidFill>
                        <a:srgbClr val="FFFCF6"/>
                      </a:solidFill>
                      <a:prstDash val="solid"/>
                    </a:lnR>
                    <a:lnB w="28575">
                      <a:solidFill>
                        <a:srgbClr val="FFFCF6"/>
                      </a:solidFill>
                      <a:prstDash val="solid"/>
                    </a:lnB>
                    <a:solidFill>
                      <a:srgbClr val="CC63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>
                          <a:solidFill>
                            <a:srgbClr val="203D36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14%</a:t>
                      </a:r>
                    </a:p>
                  </a:txBody>
                  <a:tcPr marL="133350" marR="76200" marT="95250" marB="95250" anchor="ctr">
                    <a:lnR w="28575">
                      <a:solidFill>
                        <a:srgbClr val="FFFCF6"/>
                      </a:solidFill>
                      <a:prstDash val="solid"/>
                    </a:lnR>
                    <a:lnB w="28575">
                      <a:solidFill>
                        <a:srgbClr val="FFFCF6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4A3DF-24C5-40AE-A427-BB4A7842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0个：不用塑料袋／自备购物袋</a:t>
            </a:r>
          </a:p>
        </p:txBody>
      </p:sp>
    </p:spTree>
    <p:extLst>
      <p:ext uri="{BB962C8B-B14F-4D97-AF65-F5344CB8AC3E}">
        <p14:creationId xmlns:p14="http://schemas.microsoft.com/office/powerpoint/2010/main" val="19231402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E9C4F-16AC-422C-B2BE-959CBBAB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“至少3个”包括哪些人？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5CA8C-A635-4A5F-9C0C-ADC1C07B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E2936-E8DA-4AF5-AAD3-B09784EC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3—5个，还是1—2个？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5D9AF-2686-4DF7-A1AC-E03D9700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6个或以上，要不要算进去？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4BA4D-B30E-45D9-B722-5E045F63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先在学习单点选，再说出理由。</a:t>
            </a:r>
          </a:p>
        </p:txBody>
      </p:sp>
    </p:spTree>
    <p:extLst>
      <p:ext uri="{BB962C8B-B14F-4D97-AF65-F5344CB8AC3E}">
        <p14:creationId xmlns:p14="http://schemas.microsoft.com/office/powerpoint/2010/main" val="972620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CFF5A-0D97-4AEA-9B30-67AC7EEE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用两类数据说明“大约一半”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6E0A2-5FD6-4DF4-BD97-7F51068F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56A3D-32EB-48C1-8855-930C006A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3—5个：35%　6个或以上：14%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002B5-7EBC-4FA4-BD14-DF919D36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35%＋14%＝49%，大约一半。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97310-4BC1-451C-8D9A-208511E4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这里的比例属于人，不是袋数。</a:t>
            </a:r>
          </a:p>
        </p:txBody>
      </p:sp>
    </p:spTree>
    <p:extLst>
      <p:ext uri="{BB962C8B-B14F-4D97-AF65-F5344CB8AC3E}">
        <p14:creationId xmlns:p14="http://schemas.microsoft.com/office/powerpoint/2010/main" val="15373225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8B6BD-CDA5-4C35-B193-57DCF2C0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为什么要列举这些数字？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040AD-5430-4991-BE83-91FA03FB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A1251-E911-4A42-B4F7-565AF054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本地每年使用8.2亿个塑料袋。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CBFD5-567B-4C8E-A0B9-FE959B95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铺平的面积相当于126个滨海湾花园。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B1D67-F7C7-4054-9524-89FE791C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这些数字怎样帮助读者理解？</a:t>
            </a:r>
          </a:p>
        </p:txBody>
      </p:sp>
    </p:spTree>
    <p:extLst>
      <p:ext uri="{BB962C8B-B14F-4D97-AF65-F5344CB8AC3E}">
        <p14:creationId xmlns:p14="http://schemas.microsoft.com/office/powerpoint/2010/main" val="11098655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809E7-D98F-443D-8FE1-93EEE3B4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从数量，解释到表达作用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6E9CB-6A42-44C4-BD09-25361624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856DB-A036-4CA9-B7E7-406A0937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数字具体说明使用量庞大。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108F0-F1CF-412E-BC94-96CC1442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花园的面积是熟悉的比较对象，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21A24-645D-40C4-9542-80D64499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让读者更容易想象这些袋子有多少。</a:t>
            </a:r>
          </a:p>
        </p:txBody>
      </p:sp>
    </p:spTree>
    <p:extLst>
      <p:ext uri="{BB962C8B-B14F-4D97-AF65-F5344CB8AC3E}">
        <p14:creationId xmlns:p14="http://schemas.microsoft.com/office/powerpoint/2010/main" val="14604591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88EEB-6044-41E9-BEFF-298DF4CA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第二课：第五段的危害图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71E24-12FC-4AB0-845B-ED93CF22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1E373-D6CA-4DD2-B0E7-3153F5B9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塑料垃圾对环境有哪些危害？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03ACB-CFD0-4B09-BF8E-E604BC40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按焚烧、填埋、流入河海三条去向读图。</a:t>
            </a:r>
          </a:p>
        </p:txBody>
      </p:sp>
    </p:spTree>
    <p:extLst>
      <p:ext uri="{BB962C8B-B14F-4D97-AF65-F5344CB8AC3E}">
        <p14:creationId xmlns:p14="http://schemas.microsoft.com/office/powerpoint/2010/main" val="171648330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EDEFB-9ADE-45C6-AAE7-61274027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危害一：焚烧后的烟尘与毒气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CAFB6-11C2-461A-9581-A94B1C4C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EC825-4422-4794-9294-7296BF9869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6f906f739d4cf4"/>
          <a:srcRect xmlns:a="http://schemas.openxmlformats.org/drawingml/2006/main" l="195" t="33203" r="50098" b="46354"/>
          <a:stretch xmlns:a="http://schemas.openxmlformats.org/drawingml/2006/main"/>
        </p:blipFill>
        <p:spPr>
          <a:xfrm xmlns:a="http://schemas.openxmlformats.org/drawingml/2006/main">
            <a:off x="685800" y="1543050"/>
            <a:ext cx="5334000" cy="329052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6E9AA-8357-4699-A225-2A3BFA1F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4762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焚烧产生有害烟尘</a:t>
            </a:r>
          </a:p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和有毒气体，</a:t>
            </a:r>
          </a:p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会污染空气。</a:t>
            </a:r>
          </a:p>
        </p:txBody>
      </p:sp>
    </p:spTree>
    <p:extLst>
      <p:ext uri="{BB962C8B-B14F-4D97-AF65-F5344CB8AC3E}">
        <p14:creationId xmlns:p14="http://schemas.microsoft.com/office/powerpoint/2010/main" val="6078455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78E3A-6EAC-4111-B1EC-7254137F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危害二：填埋后难以降解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82CE5-3CE3-466F-A91E-A3FCB7E5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6BD2F-5B6A-4BFC-BB26-6874828768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f70cf766f4227"/>
          <a:srcRect xmlns:a="http://schemas.openxmlformats.org/drawingml/2006/main" l="50684" t="33203" r="195" b="46354"/>
          <a:stretch xmlns:a="http://schemas.openxmlformats.org/drawingml/2006/main"/>
        </p:blipFill>
        <p:spPr>
          <a:xfrm xmlns:a="http://schemas.openxmlformats.org/drawingml/2006/main">
            <a:off x="685800" y="1543050"/>
            <a:ext cx="5334000" cy="332977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C0E90-A4AB-4674-96C4-CFBEE22F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4857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埋在地里200年，</a:t>
            </a:r>
          </a:p>
          <a:p xmlns:a="http://schemas.openxmlformats.org/drawingml/2006/main">
            <a: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也不一定能腐烂、降解，</a:t>
            </a:r>
          </a:p>
          <a:p xmlns:a="http://schemas.openxmlformats.org/drawingml/2006/main">
            <a: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会严重污染土壤。</a:t>
            </a:r>
          </a:p>
        </p:txBody>
      </p:sp>
    </p:spTree>
    <p:extLst>
      <p:ext uri="{BB962C8B-B14F-4D97-AF65-F5344CB8AC3E}">
        <p14:creationId xmlns:p14="http://schemas.microsoft.com/office/powerpoint/2010/main" val="5215025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F4B35-7E18-44FF-8A1D-9B28908B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危害三：动物误食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E18D8-97FE-4477-AF2A-3752D059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18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B62F4-26C0-4575-B968-6CEC1A869A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1f5e9976545f3"/>
          <a:srcRect xmlns:a="http://schemas.openxmlformats.org/drawingml/2006/main" l="50684" t="54167" r="195" b="25911"/>
          <a:stretch xmlns:a="http://schemas.openxmlformats.org/drawingml/2006/main"/>
        </p:blipFill>
        <p:spPr>
          <a:xfrm xmlns:a="http://schemas.openxmlformats.org/drawingml/2006/main">
            <a:off x="685800" y="1543050"/>
            <a:ext cx="5334000" cy="324493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47DD6-BA56-4BC0-9610-B0F2D9B1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4762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当作食物吞食。</a:t>
            </a:r>
          </a:p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消化道受到堵塞。</a:t>
            </a:r>
          </a:p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生命受到威胁。</a:t>
            </a:r>
          </a:p>
        </p:txBody>
      </p:sp>
    </p:spTree>
    <p:extLst>
      <p:ext uri="{BB962C8B-B14F-4D97-AF65-F5344CB8AC3E}">
        <p14:creationId xmlns:p14="http://schemas.microsoft.com/office/powerpoint/2010/main" val="2206703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F8BE6-4987-4CE8-A797-874930F1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示意图为什么能帮助说明？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980D2-E4B3-4D5A-A3FA-E0AC26F7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6829A-846C-4FAE-9205-10275B6E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你认为课文为什么要用示意图，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5BD2A-FE2F-419D-8329-F72377EF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来说明塑料垃圾的危害？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F0920-02B1-4420-81A7-1D0B5DFB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图中哪些内容和文字互相对应？</a:t>
            </a:r>
          </a:p>
        </p:txBody>
      </p:sp>
    </p:spTree>
    <p:extLst>
      <p:ext uri="{BB962C8B-B14F-4D97-AF65-F5344CB8AC3E}">
        <p14:creationId xmlns:p14="http://schemas.microsoft.com/office/powerpoint/2010/main" val="212330236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3D714-79AE-4589-8ADA-9B1F995D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图把去向和危害对应起来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BAB2A-BA52-4EFF-9A98-C773D167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62262-E781-4005-85FE-C0C6ABB2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焚烧：有害烟尘和毒气污染空气。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26325-C545-4693-9332-AC1B1E0E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填埋：难降解，污染土壤。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B8160-6809-444B-83B6-93E71E72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流入河海：动物误食，危及生命。</a:t>
            </a:r>
          </a:p>
        </p:txBody>
      </p:sp>
    </p:spTree>
    <p:extLst>
      <p:ext uri="{BB962C8B-B14F-4D97-AF65-F5344CB8AC3E}">
        <p14:creationId xmlns:p14="http://schemas.microsoft.com/office/powerpoint/2010/main" val="13914315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A6EEB-064C-456B-BE96-D970A538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第六段：怎样看出问题严重？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E9131-DA35-4F40-A784-FAF523FF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B73E8-D59E-420E-9598-A099C46E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从哪里能看出我国塑料垃圾问题非常严重？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F8AC5-F438-450F-9DF9-561A616D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先找完整证据，再解释说明什么。</a:t>
            </a:r>
          </a:p>
        </p:txBody>
      </p:sp>
    </p:spTree>
    <p:extLst>
      <p:ext uri="{BB962C8B-B14F-4D97-AF65-F5344CB8AC3E}">
        <p14:creationId xmlns:p14="http://schemas.microsoft.com/office/powerpoint/2010/main" val="109541950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9E728-380B-426D-8150-3DA3DEDC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两句证据，各自说明什么？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CE90A-959A-4F79-9E6B-3AB2BA9A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25CB4-1D3F-49E1-8555-B57CF15F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每年使用17.6亿个塑料制品。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819AB-CEBF-4AE3-82A9-825EA4C7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2017年，仅6%再循环使用。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73ABF-9568-4375-990B-483F1A67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把数量与比例转换成自己的判断。</a:t>
            </a:r>
          </a:p>
        </p:txBody>
      </p:sp>
    </p:spTree>
    <p:extLst>
      <p:ext uri="{BB962C8B-B14F-4D97-AF65-F5344CB8AC3E}">
        <p14:creationId xmlns:p14="http://schemas.microsoft.com/office/powerpoint/2010/main" val="192766424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F1826-BB18-4A60-A923-03BEBE43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证据与结论之间的联系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391D0-4BF2-40B9-9ABA-FBEA1873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5E177-A4E8-4308-923A-78A6EA10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17.6亿个：说明使用量庞大。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B7837-6725-436E-95A4-42174C36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仅6%再循环：说明回收比例很低。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3F8D6-81FC-4403-A63F-913A46E1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大量使用而回收少，造成很多垃圾。</a:t>
            </a:r>
          </a:p>
        </p:txBody>
      </p:sp>
    </p:spTree>
    <p:extLst>
      <p:ext uri="{BB962C8B-B14F-4D97-AF65-F5344CB8AC3E}">
        <p14:creationId xmlns:p14="http://schemas.microsoft.com/office/powerpoint/2010/main" val="79542968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C3404-8CB1-4586-B5AD-1CBBD828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6%的对象与年份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D169B-92AB-4284-814A-54BCB1E1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ED3BF-DF94-4A4C-9166-541C374C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对象：本段所说的塑料制品。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952E4-2B77-483C-83DA-EDC0D337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年份：2017年。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0EE0DB-BB5B-47CF-859D-392E7475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作答时保留对象，避免偷换范围。</a:t>
            </a:r>
          </a:p>
        </p:txBody>
      </p:sp>
    </p:spTree>
    <p:extLst>
      <p:ext uri="{BB962C8B-B14F-4D97-AF65-F5344CB8AC3E}">
        <p14:creationId xmlns:p14="http://schemas.microsoft.com/office/powerpoint/2010/main" val="49822502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14C5D-5A3C-49FE-B19C-87E7BE28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第七段：其他国家的措施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6C93E-7B77-4B1E-9C01-F7FB5A6C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28888-D879-4E78-9019-BBADFAA7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一些国家采取了哪些措施，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7F58A-51CA-4B08-BD16-1C400C22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来减少塑料袋的危害？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DF9C8-2294-4472-82D0-38719E3F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看“这些措施包括”和“此外”。</a:t>
            </a:r>
          </a:p>
        </p:txBody>
      </p:sp>
    </p:spTree>
    <p:extLst>
      <p:ext uri="{BB962C8B-B14F-4D97-AF65-F5344CB8AC3E}">
        <p14:creationId xmlns:p14="http://schemas.microsoft.com/office/powerpoint/2010/main" val="90351975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BD2B6-4B7F-4BA6-81DB-08C3E3BC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减用与改变材料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5D746-915F-4EF5-BA2D-4C024EB3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53FD5-D3CA-48A8-A94D-327341B5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征税、收费、不提供塑料袋。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C7A3B-14B3-4CB5-A6A6-DA66DC20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采用可降解材料制造塑料袋。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153D6-6EB0-415D-9879-3278E941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前者减少使用，后者着重减少污染。</a:t>
            </a:r>
          </a:p>
        </p:txBody>
      </p:sp>
    </p:spTree>
    <p:extLst>
      <p:ext uri="{BB962C8B-B14F-4D97-AF65-F5344CB8AC3E}">
        <p14:creationId xmlns:p14="http://schemas.microsoft.com/office/powerpoint/2010/main" val="28892376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EA697-8F3F-47AC-B431-F30E1013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第八段：本地做法有什么不同？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7A570-0774-4278-A659-FE1C82D7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DDBB6-2EAB-4888-BF16-0BC5C9AC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我国的做法和其他国家有什么不同之处？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68DF6-AA59-4C34-9042-A39D4541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先读第八段，再回看第七段。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6910F-CAE0-4212-9A2F-E88EA25F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收费是共同的，还是本地独有的？</a:t>
            </a:r>
          </a:p>
        </p:txBody>
      </p:sp>
    </p:spTree>
    <p:extLst>
      <p:ext uri="{BB962C8B-B14F-4D97-AF65-F5344CB8AC3E}">
        <p14:creationId xmlns:p14="http://schemas.microsoft.com/office/powerpoint/2010/main" val="33796822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3EB77-BEAF-488E-885B-F0AC0335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课文特别写出的本地做法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5B8F4-6E31-4F87-9E24-743B7548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D9F103-DEEC-4AAF-B211-E44CB2DA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宣传、教育和奖励，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EE10D-B1D7-4033-8545-D6FE1DA3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鼓励国人购物时自备购物袋。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66B6C-482C-490A-971B-D5E9076D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收费是第七、第八段都提到的做法。</a:t>
            </a:r>
          </a:p>
        </p:txBody>
      </p:sp>
    </p:spTree>
    <p:extLst>
      <p:ext uri="{BB962C8B-B14F-4D97-AF65-F5344CB8AC3E}">
        <p14:creationId xmlns:p14="http://schemas.microsoft.com/office/powerpoint/2010/main" val="148872057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9F96B-CD80-4A11-ABF8-BA5DC046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第三课：第九段与开头的关系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BDEFD-0EA8-4989-9C6E-1B1D6D9D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13AC2-C3EF-42E8-884E-25B47DDA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最后一段的主要内容是什么？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B750F-13B5-4010-BDCE-D48306C2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它和开头有什么关系？</a:t>
            </a:r>
          </a:p>
        </p:txBody>
      </p:sp>
    </p:spTree>
    <p:extLst>
      <p:ext uri="{BB962C8B-B14F-4D97-AF65-F5344CB8AC3E}">
        <p14:creationId xmlns:p14="http://schemas.microsoft.com/office/powerpoint/2010/main" val="30609170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C1343-6CA5-4186-A69F-F2AB451C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结尾概括两面，并提出反思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1F36D-8735-411E-AE2E-8F6E9BAF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5AEF8-2802-4D85-BE1F-189D5B02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便利：塑料给生活带来方便。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EA3CE-7B47-4448-BACD-94CBBE0D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威胁：废弃塑料袋造成环境问题。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CD561-3A1D-445C-9B32-17143D83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反思：将来还会出现这样的发明吗？</a:t>
            </a:r>
          </a:p>
        </p:txBody>
      </p:sp>
    </p:spTree>
    <p:extLst>
      <p:ext uri="{BB962C8B-B14F-4D97-AF65-F5344CB8AC3E}">
        <p14:creationId xmlns:p14="http://schemas.microsoft.com/office/powerpoint/2010/main" val="197311321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309F1-29D0-4923-A0AD-3CE38CFA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首尾呼应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419DF-57CC-4C77-AC56-FBE09676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DC1ED-7215-4395-8CBE-1CFA2CD0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开头：“最糟糕的发明”的评价。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1E21E1-7AFE-444A-B1D9-667E10D1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结尾：“这样的发明”的追问。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24A34-C560-4589-93D3-49BB50F8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结尾回应开头，让全文意思更完整。</a:t>
            </a:r>
          </a:p>
        </p:txBody>
      </p:sp>
    </p:spTree>
    <p:extLst>
      <p:ext uri="{BB962C8B-B14F-4D97-AF65-F5344CB8AC3E}">
        <p14:creationId xmlns:p14="http://schemas.microsoft.com/office/powerpoint/2010/main" val="178387842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4A679-37A4-472F-9E5C-A97A6DC0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为什么用“人类最糟糕的发明”为题？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C9C54-963E-4DA8-BAB5-9D461695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45B5C-543C-432A-8A8F-2D7767C9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塑料袋有哪些好处？又有哪些坏处？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5E3DA-F140-4C18-B531-6536CA9A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题目突出了什么值得注意的反差？</a:t>
            </a:r>
          </a:p>
        </p:txBody>
      </p:sp>
    </p:spTree>
    <p:extLst>
      <p:ext uri="{BB962C8B-B14F-4D97-AF65-F5344CB8AC3E}">
        <p14:creationId xmlns:p14="http://schemas.microsoft.com/office/powerpoint/2010/main" val="38940827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D97A9-010C-4098-842E-5555DD51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题目引起对便利与危害的关注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EAAEC-021A-442C-8A8F-35976236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18C569-7C43-4A4E-BBB8-8A5EC5D2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便利的发明，却造成严重环境问题。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E83F4-7EBC-48DD-9702-86028BEC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“最糟糕”引起读者关注这个反差，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C1790-F20A-4554-A215-D1081AFE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也点明文章所说明的问题。</a:t>
            </a:r>
          </a:p>
        </p:txBody>
      </p:sp>
    </p:spTree>
    <p:extLst>
      <p:ext uri="{BB962C8B-B14F-4D97-AF65-F5344CB8AC3E}">
        <p14:creationId xmlns:p14="http://schemas.microsoft.com/office/powerpoint/2010/main" val="38883861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64992-BAE0-41C0-A5BF-C0F472F3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课文中有哪些图表？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C0966-0C6C-4E7D-B7CA-EA1936E4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FFA20-CDDF-41D9-AEFB-5B5F05A6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折线图：显示产量的变化。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DBA11-C25A-4760-978C-1E6E596E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饼状图：显示各类受访者的比例。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A33B2-5544-466A-9AFD-BF940706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示意图：显示塑料垃圾的危害。</a:t>
            </a:r>
          </a:p>
        </p:txBody>
      </p:sp>
    </p:spTree>
    <p:extLst>
      <p:ext uri="{BB962C8B-B14F-4D97-AF65-F5344CB8AC3E}">
        <p14:creationId xmlns:p14="http://schemas.microsoft.com/office/powerpoint/2010/main" val="113621082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937E3-B1F9-41C0-8D97-0C817190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课本预习：根据解释找词语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1AA5D-A0D9-4210-B36B-80AD0AC0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04722-595F-4B9D-AF6C-7C967DB1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价钱很便宜。　独占，专卖。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D107D-1CAB-43F2-81EC-C25E6890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制止，控制。　充满，到处都是。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F77EC-A754-49D5-A331-174C5FE3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费尽心思。</a:t>
            </a:r>
          </a:p>
        </p:txBody>
      </p:sp>
    </p:spTree>
    <p:extLst>
      <p:ext uri="{BB962C8B-B14F-4D97-AF65-F5344CB8AC3E}">
        <p14:creationId xmlns:p14="http://schemas.microsoft.com/office/powerpoint/2010/main" val="154735182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1701A-0896-4277-A1BC-AEB62DFB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词语与意思对应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57B52-2633-402A-87D4-753CF45E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B88DE-CB18-46AD-AC4C-89D05B37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廉价：价钱很便宜。　垄断：独占，专卖。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899ED-8013-49F1-8D2C-D2E68FD6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遏制：制止、控制。　充斥：充满、到处都是。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B8561-F9F3-4192-A247-8B695F7D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煞费苦心：费尽心思。</a:t>
            </a:r>
          </a:p>
        </p:txBody>
      </p:sp>
    </p:spTree>
    <p:extLst>
      <p:ext uri="{BB962C8B-B14F-4D97-AF65-F5344CB8AC3E}">
        <p14:creationId xmlns:p14="http://schemas.microsoft.com/office/powerpoint/2010/main" val="210956051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663BDC-60D8-4CFB-B100-D449032C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说明用语：先核对对象和关系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E094C-EB71-42D5-9E62-DAC6FABE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72150-AE33-42A8-BBE6-2D7FFBE2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有……的趋势：说明变化方向。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B5A2D-7724-4FF5-8C0A-7050B0CB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超过……的几分之几：比较比例。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3C865-AB96-4AF9-B281-61B196E9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有百分之几：说明一部分占多少。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3E858-100E-42F0-9BD8-F2EC15E1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相当于：用熟悉事物说明大小。</a:t>
            </a:r>
          </a:p>
        </p:txBody>
      </p:sp>
    </p:spTree>
    <p:extLst>
      <p:ext uri="{BB962C8B-B14F-4D97-AF65-F5344CB8AC3E}">
        <p14:creationId xmlns:p14="http://schemas.microsoft.com/office/powerpoint/2010/main" val="83233129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B9901-CA38-4DCE-AD30-3C2885AD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改写练习一：趋势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5C9859-9AA0-48CA-B6A1-B1C43136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EE3A6-1DFC-4975-95FF-1C2F63A6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由于天气干旱，这条河的水位越来越低。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F8CA2-A08C-4F60-9278-43E9CDAE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用“有……的趋势”改写。</a:t>
            </a:r>
          </a:p>
        </p:txBody>
      </p:sp>
    </p:spTree>
    <p:extLst>
      <p:ext uri="{BB962C8B-B14F-4D97-AF65-F5344CB8AC3E}">
        <p14:creationId xmlns:p14="http://schemas.microsoft.com/office/powerpoint/2010/main" val="33101663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DDFDA-611A-4594-B342-5E38A617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趋势说明变化方向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8A2E2-D5B7-41C7-BB8E-4A2EEF0F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0CA32-BA35-47D6-8B43-B89CE145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由于天气干旱，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F244B2-E475-44AC-9BEB-616ADF86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076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这条河的水位有下降的趋势。</a:t>
            </a:r>
          </a:p>
        </p:txBody>
      </p:sp>
    </p:spTree>
    <p:extLst>
      <p:ext uri="{BB962C8B-B14F-4D97-AF65-F5344CB8AC3E}">
        <p14:creationId xmlns:p14="http://schemas.microsoft.com/office/powerpoint/2010/main" val="156290713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6E06F-A7A4-48E1-80FB-3E28994B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改写练习二：分数比较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40213-2572-4A5F-9CCB-EC50EC86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137B5-20CD-4DB0-858A-E7C6D881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4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4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4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4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4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4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4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4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4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4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全班40人，其中女生25人。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82D44-C8E9-4CDF-839F-D63C6A68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4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4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4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4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4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4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4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4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4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4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用“超过……的几分之几”改写。</a:t>
            </a:r>
          </a:p>
        </p:txBody>
      </p:sp>
    </p:spTree>
    <p:extLst>
      <p:ext uri="{BB962C8B-B14F-4D97-AF65-F5344CB8AC3E}">
        <p14:creationId xmlns:p14="http://schemas.microsoft.com/office/powerpoint/2010/main" val="66371041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1CF94-FB3F-4EC4-B47C-5431E5B1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25人占40人的多少？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1C509-3972-4BD5-B348-CE30DBA0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7C5808-A860-47A7-81FE-525D270D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25÷40＝62.5%，超过50%。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35BE1-DB2C-4E5E-BD2E-DC05CE5E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这个班级的女生人数，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2DF2D-1580-4628-A11D-993A3530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超过总人数的二分之一。</a:t>
            </a:r>
          </a:p>
        </p:txBody>
      </p:sp>
    </p:spTree>
    <p:extLst>
      <p:ext uri="{BB962C8B-B14F-4D97-AF65-F5344CB8AC3E}">
        <p14:creationId xmlns:p14="http://schemas.microsoft.com/office/powerpoint/2010/main" val="210771662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94288-56C3-4980-A31B-4D51FF1B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改写练习三：百分比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FDBFA-D201-41F7-B25D-4EC61902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42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937AA-1D94-487D-B2EE-147B2A0E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根据我的调查，我们班同学的零用钱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883D2-E778-46E8-AECF-B6F3DA7C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大约一半用于午餐。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6B583-9653-4D68-AA9A-E529CE25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用“有百分之几”改写。</a:t>
            </a:r>
          </a:p>
        </p:txBody>
      </p:sp>
    </p:spTree>
    <p:extLst>
      <p:ext uri="{BB962C8B-B14F-4D97-AF65-F5344CB8AC3E}">
        <p14:creationId xmlns:p14="http://schemas.microsoft.com/office/powerpoint/2010/main" val="64747314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1A8B9-76E3-4EA0-A89F-E277CF85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比例改写仍需保留“大约”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F9A57-A360-4F5D-9472-120954FD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43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483D9-1357-4BA7-9D0B-E10369F4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根据我的调查，我们班同学的零用钱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6C357-F7D9-43B5-B762-9DB2B7B4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有大约百分之五十用于午餐。</a:t>
            </a:r>
          </a:p>
        </p:txBody>
      </p:sp>
    </p:spTree>
    <p:extLst>
      <p:ext uri="{BB962C8B-B14F-4D97-AF65-F5344CB8AC3E}">
        <p14:creationId xmlns:p14="http://schemas.microsoft.com/office/powerpoint/2010/main" val="20856567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8498E-5D37-4304-9F78-FDADB653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改写练习四：面积比较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A3B1F-D065-4538-B9FF-2E1FC139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44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AE3AC-081F-4F13-9A44-7ACA9282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新加坡国家美术馆占地6万4000平方米，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7527E-FBA8-440D-9EE1-8AFB4706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大约有9个足球场那么大。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E2351-9F20-4FEB-927F-2E351E28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用“相当于”改写。</a:t>
            </a:r>
          </a:p>
        </p:txBody>
      </p:sp>
    </p:spTree>
    <p:extLst>
      <p:ext uri="{BB962C8B-B14F-4D97-AF65-F5344CB8AC3E}">
        <p14:creationId xmlns:p14="http://schemas.microsoft.com/office/powerpoint/2010/main" val="27432459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C9BC5-8DB0-48D1-9820-D75434CB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用熟悉的面积帮助理解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F1F0F-6AA3-4DC4-9C27-A920A3E4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45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3D613-7A07-4C18-99FE-F46C5009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新加坡国家美术馆占地6万4000平方米，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7172C-D76F-40A9-8515-6A958CD0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面积相当于大约9个足球场。</a:t>
            </a:r>
          </a:p>
        </p:txBody>
      </p:sp>
    </p:spTree>
    <p:extLst>
      <p:ext uri="{BB962C8B-B14F-4D97-AF65-F5344CB8AC3E}">
        <p14:creationId xmlns:p14="http://schemas.microsoft.com/office/powerpoint/2010/main" val="196032865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90B5C-792B-43C7-AD0C-8B1C3CCC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开放回应：你认同吗？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EBBC9-2529-4103-8577-2AA9A723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46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3297C-7E95-439D-80F3-7432597B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你认同塑料袋是“人类最糟糕的发明”吗？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D1B6D-5987-41D8-B5E5-CA27C4C4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为什么？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C9A6C-8A07-46F4-9434-7459B010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请结合课文或具体生活情境说明。</a:t>
            </a:r>
          </a:p>
        </p:txBody>
      </p:sp>
    </p:spTree>
    <p:extLst>
      <p:ext uri="{BB962C8B-B14F-4D97-AF65-F5344CB8AC3E}">
        <p14:creationId xmlns:p14="http://schemas.microsoft.com/office/powerpoint/2010/main" val="123174383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90EB7-62A3-4670-98C9-92A7CACE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立场、理由、例子、回扣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299FD-58C6-4B99-9253-4EE5EB58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4E4BC-4269-4A57-9101-194E50C0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立场：我怎么看？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15FC6-2048-47AD-8F58-807A6DF8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理由：为什么这样看？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65C3A-9634-4D13-9643-3B3E44E4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例子：什么具体资料或情境能说明？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D4943D-1E31-4659-BB05-E569C5CB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回扣：例子怎样支持我的看法？</a:t>
            </a:r>
          </a:p>
        </p:txBody>
      </p:sp>
    </p:spTree>
    <p:extLst>
      <p:ext uri="{BB962C8B-B14F-4D97-AF65-F5344CB8AC3E}">
        <p14:creationId xmlns:p14="http://schemas.microsoft.com/office/powerpoint/2010/main" val="143978696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9DBE8-F424-40E8-9B50-5DBDCDE1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示例：部分认同的理由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F8039-F40A-422D-A798-259FB61F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48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E6373-6EEA-4712-B3D9-E43A669E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塑料袋方便实用，满足携带物品的需要。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5F588-3E5F-4ECE-BCDF-DBB58402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但大量使用和丢弃，造成长期污染。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9259F1-206E-4B51-9E8F-30DF8C29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我部分认同，也重视使用与处理方式。</a:t>
            </a:r>
          </a:p>
        </p:txBody>
      </p:sp>
    </p:spTree>
    <p:extLst>
      <p:ext uri="{BB962C8B-B14F-4D97-AF65-F5344CB8AC3E}">
        <p14:creationId xmlns:p14="http://schemas.microsoft.com/office/powerpoint/2010/main" val="183423229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B1381-52CB-4BE8-A5F2-F61AACF7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例子要解释怎样支持看法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E1173-832B-4E85-B673-3B24A609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30BC0-B8F6-4EF9-945D-359DC7EE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动物误食塑料垃圾，消化道会堵塞。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ADD5D-5197-422A-A217-23D2AEAF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这说明只看便利、忽略后果，会造成危害。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AE579-A8EA-4388-B318-6839A59B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因此要减少不必要的使用并妥善处理。</a:t>
            </a:r>
          </a:p>
        </p:txBody>
      </p:sp>
    </p:spTree>
    <p:extLst>
      <p:ext uri="{BB962C8B-B14F-4D97-AF65-F5344CB8AC3E}">
        <p14:creationId xmlns:p14="http://schemas.microsoft.com/office/powerpoint/2010/main" val="39488956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78190-F536-41A8-80EF-A547F614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当堂对照与订正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21E9A-366D-4ED3-AFBE-ADEE10C0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1FB83-82A1-423D-9E81-3AD7FE27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图表：对象、年份、单位有没有读准？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67377-77A5-45ED-B2D6-9FA7E555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证据：解释它怎样支持结论了吗？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55276-A3AC-41F4-B5B1-A15FA404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开放题：例子和理由能支持立场吗？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06979-E4FF-4C6B-B079-6E067EF8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03D36"/>
                </a:solidFill>
                <a:latin typeface="LXGW WenKai TC"/>
                <a:ea typeface="LXGW WenKai TC"/>
                <a:cs typeface="LXGW WenKai TC"/>
              </a:rPr>
              <a:t>订正后整理词语，导出学习记录。</a:t>
            </a:r>
          </a:p>
        </p:txBody>
      </p:sp>
    </p:spTree>
    <p:extLst>
      <p:ext uri="{BB962C8B-B14F-4D97-AF65-F5344CB8AC3E}">
        <p14:creationId xmlns:p14="http://schemas.microsoft.com/office/powerpoint/2010/main" val="13971889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2026-10-20T04:35:55.8330000Z</dcterms:created>
  <dcterms:modified xsi:type="dcterms:W3CDTF">2026-10-20T04:35:55.8330000Z</dcterms:modified>
</coreProperties>
</file>