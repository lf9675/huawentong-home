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4c9b43ee1a44ac" /><Relationship Type="http://schemas.openxmlformats.org/officeDocument/2006/relationships/extended-properties" Target="/docProps/app.xml" Id="Rc58adf531a8e4ab1" /><Relationship Type="http://schemas.openxmlformats.org/officeDocument/2006/relationships/officeDocument" Target="/ppt/presentation.xml" Id="Re2aa696ab7f449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0b74df318e47a2"/>
  </p:sldMasterIdLst>
  <p:notesMasterIdLst>
    <p:notesMasterId xmlns:r="http://schemas.openxmlformats.org/officeDocument/2006/relationships" r:id="R46fbb0c4e6dd4e9d"/>
  </p:notesMasterIdLst>
  <p:sldIdLst>
    <p:sldId xmlns:r="http://schemas.openxmlformats.org/officeDocument/2006/relationships" id="256" r:id="R588c7240fd18497c"/>
    <p:sldId xmlns:r="http://schemas.openxmlformats.org/officeDocument/2006/relationships" id="257" r:id="Re7c33f755389463a"/>
    <p:sldId xmlns:r="http://schemas.openxmlformats.org/officeDocument/2006/relationships" id="258" r:id="Rc5e082b529d0467b"/>
    <p:sldId xmlns:r="http://schemas.openxmlformats.org/officeDocument/2006/relationships" id="259" r:id="R5351243b2a584adc"/>
    <p:sldId xmlns:r="http://schemas.openxmlformats.org/officeDocument/2006/relationships" id="260" r:id="Rbf70368a4cc3455b"/>
    <p:sldId xmlns:r="http://schemas.openxmlformats.org/officeDocument/2006/relationships" id="261" r:id="R0ac83e2559f649ed"/>
    <p:sldId xmlns:r="http://schemas.openxmlformats.org/officeDocument/2006/relationships" id="262" r:id="R8961557d46f64e3c"/>
    <p:sldId xmlns:r="http://schemas.openxmlformats.org/officeDocument/2006/relationships" id="263" r:id="R49533c7a139d4d3a"/>
    <p:sldId xmlns:r="http://schemas.openxmlformats.org/officeDocument/2006/relationships" id="264" r:id="Re6b226b2c2084694"/>
    <p:sldId xmlns:r="http://schemas.openxmlformats.org/officeDocument/2006/relationships" id="265" r:id="R706fce5a72bc4888"/>
    <p:sldId xmlns:r="http://schemas.openxmlformats.org/officeDocument/2006/relationships" id="266" r:id="Rf1613259ec17476a"/>
    <p:sldId xmlns:r="http://schemas.openxmlformats.org/officeDocument/2006/relationships" id="267" r:id="R4658966368a24e83"/>
    <p:sldId xmlns:r="http://schemas.openxmlformats.org/officeDocument/2006/relationships" id="268" r:id="Re8e0eea902bf4c50"/>
    <p:sldId xmlns:r="http://schemas.openxmlformats.org/officeDocument/2006/relationships" id="269" r:id="R4ab1bcebd9aa456f"/>
    <p:sldId xmlns:r="http://schemas.openxmlformats.org/officeDocument/2006/relationships" id="270" r:id="R5f52d83f319f4b95"/>
    <p:sldId xmlns:r="http://schemas.openxmlformats.org/officeDocument/2006/relationships" id="271" r:id="R83c3ee9909b1419f"/>
    <p:sldId xmlns:r="http://schemas.openxmlformats.org/officeDocument/2006/relationships" id="272" r:id="R2698cd1645ed45f8"/>
    <p:sldId xmlns:r="http://schemas.openxmlformats.org/officeDocument/2006/relationships" id="273" r:id="Rc80c22ae31f34a5e"/>
    <p:sldId xmlns:r="http://schemas.openxmlformats.org/officeDocument/2006/relationships" id="274" r:id="Ree893f833c0748f0"/>
    <p:sldId xmlns:r="http://schemas.openxmlformats.org/officeDocument/2006/relationships" id="275" r:id="Rc59d90c6ae8f425e"/>
    <p:sldId xmlns:r="http://schemas.openxmlformats.org/officeDocument/2006/relationships" id="276" r:id="R3e2cf0c562394132"/>
    <p:sldId xmlns:r="http://schemas.openxmlformats.org/officeDocument/2006/relationships" id="277" r:id="Rbbce05cf51574737"/>
    <p:sldId xmlns:r="http://schemas.openxmlformats.org/officeDocument/2006/relationships" id="278" r:id="R7999ca4580414b3d"/>
    <p:sldId xmlns:r="http://schemas.openxmlformats.org/officeDocument/2006/relationships" id="279" r:id="R88a22eb36fb24a59"/>
    <p:sldId xmlns:r="http://schemas.openxmlformats.org/officeDocument/2006/relationships" id="280" r:id="R02221a4280804b2d"/>
    <p:sldId xmlns:r="http://schemas.openxmlformats.org/officeDocument/2006/relationships" id="281" r:id="Rce533544fb444f70"/>
    <p:sldId xmlns:r="http://schemas.openxmlformats.org/officeDocument/2006/relationships" id="282" r:id="R00953c0644904dae"/>
    <p:sldId xmlns:r="http://schemas.openxmlformats.org/officeDocument/2006/relationships" id="283" r:id="Rb352d73abeb84f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b0e8c44afc45ea" /><Relationship Type="http://schemas.openxmlformats.org/officeDocument/2006/relationships/slideMaster" Target="/ppt/slideMasters/slideMaster1.xml" Id="R320b74df318e47a2" /><Relationship Type="http://schemas.openxmlformats.org/officeDocument/2006/relationships/notesMaster" Target="/ppt/notesMasters/notesMaster1.xml" Id="R46fbb0c4e6dd4e9d" /><Relationship Type="http://schemas.openxmlformats.org/officeDocument/2006/relationships/presProps" Target="/ppt/presProps.xml" Id="R0a99e173bf7a4bbb" /><Relationship Type="http://schemas.openxmlformats.org/officeDocument/2006/relationships/tableStyles" Target="/ppt/tableStyles.xml" Id="Rfa728a1071884ccb" /><Relationship Type="http://schemas.openxmlformats.org/officeDocument/2006/relationships/slide" Target="/ppt/slides/slide1.xml" Id="R588c7240fd18497c" /><Relationship Type="http://schemas.openxmlformats.org/officeDocument/2006/relationships/slide" Target="/ppt/slides/slide2.xml" Id="Re7c33f755389463a" /><Relationship Type="http://schemas.openxmlformats.org/officeDocument/2006/relationships/slide" Target="/ppt/slides/slide3.xml" Id="Rc5e082b529d0467b" /><Relationship Type="http://schemas.openxmlformats.org/officeDocument/2006/relationships/slide" Target="/ppt/slides/slide4.xml" Id="R5351243b2a584adc" /><Relationship Type="http://schemas.openxmlformats.org/officeDocument/2006/relationships/slide" Target="/ppt/slides/slide5.xml" Id="Rbf70368a4cc3455b" /><Relationship Type="http://schemas.openxmlformats.org/officeDocument/2006/relationships/slide" Target="/ppt/slides/slide6.xml" Id="R0ac83e2559f649ed" /><Relationship Type="http://schemas.openxmlformats.org/officeDocument/2006/relationships/slide" Target="/ppt/slides/slide7.xml" Id="R8961557d46f64e3c" /><Relationship Type="http://schemas.openxmlformats.org/officeDocument/2006/relationships/slide" Target="/ppt/slides/slide8.xml" Id="R49533c7a139d4d3a" /><Relationship Type="http://schemas.openxmlformats.org/officeDocument/2006/relationships/slide" Target="/ppt/slides/slide9.xml" Id="Re6b226b2c2084694" /><Relationship Type="http://schemas.openxmlformats.org/officeDocument/2006/relationships/slide" Target="/ppt/slides/slide10.xml" Id="R706fce5a72bc4888" /><Relationship Type="http://schemas.openxmlformats.org/officeDocument/2006/relationships/slide" Target="/ppt/slides/slide11.xml" Id="Rf1613259ec17476a" /><Relationship Type="http://schemas.openxmlformats.org/officeDocument/2006/relationships/slide" Target="/ppt/slides/slide12.xml" Id="R4658966368a24e83" /><Relationship Type="http://schemas.openxmlformats.org/officeDocument/2006/relationships/slide" Target="/ppt/slides/slide13.xml" Id="Re8e0eea902bf4c50" /><Relationship Type="http://schemas.openxmlformats.org/officeDocument/2006/relationships/slide" Target="/ppt/slides/slide14.xml" Id="R4ab1bcebd9aa456f" /><Relationship Type="http://schemas.openxmlformats.org/officeDocument/2006/relationships/slide" Target="/ppt/slides/slide15.xml" Id="R5f52d83f319f4b95" /><Relationship Type="http://schemas.openxmlformats.org/officeDocument/2006/relationships/slide" Target="/ppt/slides/slide16.xml" Id="R83c3ee9909b1419f" /><Relationship Type="http://schemas.openxmlformats.org/officeDocument/2006/relationships/slide" Target="/ppt/slides/slide17.xml" Id="R2698cd1645ed45f8" /><Relationship Type="http://schemas.openxmlformats.org/officeDocument/2006/relationships/slide" Target="/ppt/slides/slide18.xml" Id="Rc80c22ae31f34a5e" /><Relationship Type="http://schemas.openxmlformats.org/officeDocument/2006/relationships/slide" Target="/ppt/slides/slide19.xml" Id="Ree893f833c0748f0" /><Relationship Type="http://schemas.openxmlformats.org/officeDocument/2006/relationships/slide" Target="/ppt/slides/slide20.xml" Id="Rc59d90c6ae8f425e" /><Relationship Type="http://schemas.openxmlformats.org/officeDocument/2006/relationships/slide" Target="/ppt/slides/slide21.xml" Id="R3e2cf0c562394132" /><Relationship Type="http://schemas.openxmlformats.org/officeDocument/2006/relationships/slide" Target="/ppt/slides/slide22.xml" Id="Rbbce05cf51574737" /><Relationship Type="http://schemas.openxmlformats.org/officeDocument/2006/relationships/slide" Target="/ppt/slides/slide23.xml" Id="R7999ca4580414b3d" /><Relationship Type="http://schemas.openxmlformats.org/officeDocument/2006/relationships/slide" Target="/ppt/slides/slide24.xml" Id="R88a22eb36fb24a59" /><Relationship Type="http://schemas.openxmlformats.org/officeDocument/2006/relationships/slide" Target="/ppt/slides/slide25.xml" Id="R02221a4280804b2d" /><Relationship Type="http://schemas.openxmlformats.org/officeDocument/2006/relationships/slide" Target="/ppt/slides/slide26.xml" Id="Rce533544fb444f70" /><Relationship Type="http://schemas.openxmlformats.org/officeDocument/2006/relationships/slide" Target="/ppt/slides/slide27.xml" Id="R00953c0644904dae" /><Relationship Type="http://schemas.openxmlformats.org/officeDocument/2006/relationships/slide" Target="/ppt/slides/slide28.xml" Id="Rb352d73abeb8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47252f4a5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eef655cd384e95" /><Relationship Type="http://schemas.openxmlformats.org/officeDocument/2006/relationships/notesMaster" Target="/ppt/notesMasters/notesMaster1.xml" Id="R50684db5e80f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fca9e8cd494e6a" /><Relationship Type="http://schemas.openxmlformats.org/officeDocument/2006/relationships/notesMaster" Target="/ppt/notesMasters/notesMaster1.xml" Id="R25e8fa31f474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d31c2a382b4405" /><Relationship Type="http://schemas.openxmlformats.org/officeDocument/2006/relationships/notesMaster" Target="/ppt/notesMasters/notesMaster1.xml" Id="Re232d301a8bd4d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d81d2164014f8c" /><Relationship Type="http://schemas.openxmlformats.org/officeDocument/2006/relationships/notesMaster" Target="/ppt/notesMasters/notesMaster1.xml" Id="Rbba15f597b8941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8afe88c1984641" /><Relationship Type="http://schemas.openxmlformats.org/officeDocument/2006/relationships/notesMaster" Target="/ppt/notesMasters/notesMaster1.xml" Id="Rb8f0ee8c72bf4f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6a7a88affa4d04" /><Relationship Type="http://schemas.openxmlformats.org/officeDocument/2006/relationships/notesMaster" Target="/ppt/notesMasters/notesMaster1.xml" Id="R12ab5bae189e43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64fd22f00b43f3" /><Relationship Type="http://schemas.openxmlformats.org/officeDocument/2006/relationships/notesMaster" Target="/ppt/notesMasters/notesMaster1.xml" Id="R09d7e1b56aa846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8da783b3104d84" /><Relationship Type="http://schemas.openxmlformats.org/officeDocument/2006/relationships/notesMaster" Target="/ppt/notesMasters/notesMaster1.xml" Id="R27fd3aa3fc6e48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1dbf325af4535" /><Relationship Type="http://schemas.openxmlformats.org/officeDocument/2006/relationships/notesMaster" Target="/ppt/notesMasters/notesMaster1.xml" Id="R2f829bd8707a4b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aa719c6ae45d9" /><Relationship Type="http://schemas.openxmlformats.org/officeDocument/2006/relationships/notesMaster" Target="/ppt/notesMasters/notesMaster1.xml" Id="R037c87ebea654e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37cbe7571242ba" /><Relationship Type="http://schemas.openxmlformats.org/officeDocument/2006/relationships/notesMaster" Target="/ppt/notesMasters/notesMaster1.xml" Id="Ra995062aad2144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5dd6fb0e74f7c" /><Relationship Type="http://schemas.openxmlformats.org/officeDocument/2006/relationships/notesMaster" Target="/ppt/notesMasters/notesMaster1.xml" Id="R846d335711e445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ea65278c814b69" /><Relationship Type="http://schemas.openxmlformats.org/officeDocument/2006/relationships/notesMaster" Target="/ppt/notesMasters/notesMaster1.xml" Id="R5d3f34f9b08446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c074f3e019410b" /><Relationship Type="http://schemas.openxmlformats.org/officeDocument/2006/relationships/notesMaster" Target="/ppt/notesMasters/notesMaster1.xml" Id="R845b4512d41c4e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c607396e4f406f" /><Relationship Type="http://schemas.openxmlformats.org/officeDocument/2006/relationships/notesMaster" Target="/ppt/notesMasters/notesMaster1.xml" Id="Rb257e271c40747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bd60099a99497e" /><Relationship Type="http://schemas.openxmlformats.org/officeDocument/2006/relationships/notesMaster" Target="/ppt/notesMasters/notesMaster1.xml" Id="R056c23acf91946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313e5c90354755" /><Relationship Type="http://schemas.openxmlformats.org/officeDocument/2006/relationships/notesMaster" Target="/ppt/notesMasters/notesMaster1.xml" Id="R93fc86da4d6045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c42884c1324d2c" /><Relationship Type="http://schemas.openxmlformats.org/officeDocument/2006/relationships/notesMaster" Target="/ppt/notesMasters/notesMaster1.xml" Id="R9e157ec2ec5944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d3a10c0c57435f" /><Relationship Type="http://schemas.openxmlformats.org/officeDocument/2006/relationships/notesMaster" Target="/ppt/notesMasters/notesMaster1.xml" Id="R30b0f6831d7045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4aa84520ed1435f" /><Relationship Type="http://schemas.openxmlformats.org/officeDocument/2006/relationships/notesMaster" Target="/ppt/notesMasters/notesMaster1.xml" Id="R1a72495fff4c44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a93669de0d4fb0" /><Relationship Type="http://schemas.openxmlformats.org/officeDocument/2006/relationships/notesMaster" Target="/ppt/notesMasters/notesMaster1.xml" Id="Rf5f0814741b547b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9476e59a184da1" /><Relationship Type="http://schemas.openxmlformats.org/officeDocument/2006/relationships/notesMaster" Target="/ppt/notesMasters/notesMaster1.xml" Id="Rd966154f373e477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54699617074b32" /><Relationship Type="http://schemas.openxmlformats.org/officeDocument/2006/relationships/notesMaster" Target="/ppt/notesMasters/notesMaster1.xml" Id="R46fef4f694944e7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acdbc24fa834ff2" /><Relationship Type="http://schemas.openxmlformats.org/officeDocument/2006/relationships/notesMaster" Target="/ppt/notesMasters/notesMaster1.xml" Id="R8dd0b79d103744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d3a261f48d2404f" /><Relationship Type="http://schemas.openxmlformats.org/officeDocument/2006/relationships/notesMaster" Target="/ppt/notesMasters/notesMaster1.xml" Id="R66cc7f832b9b4f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e7cf1ee006c4a24" /><Relationship Type="http://schemas.openxmlformats.org/officeDocument/2006/relationships/notesMaster" Target="/ppt/notesMasters/notesMaster1.xml" Id="R3ec4529d4e004d1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5604828c61c4ca3" /><Relationship Type="http://schemas.openxmlformats.org/officeDocument/2006/relationships/notesMaster" Target="/ppt/notesMasters/notesMaster1.xml" Id="Ree18cfd8e74048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2bb0b0ec3a4427" /><Relationship Type="http://schemas.openxmlformats.org/officeDocument/2006/relationships/notesMaster" Target="/ppt/notesMasters/notesMaster1.xml" Id="Rd7ecd6ef0ed54b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导入3分钟。问：生活中哪些事情需要用水？先听两三个回答，不增加书面题。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水维持个人的生命，也支持国家持续发展。</a:t>
            </a:r>
          </a:p>
          <a:p xmlns:a="http://schemas.openxmlformats.org/drawingml/2006/main">
            <a:r>
              <a:t>教师示范：先圈“生命”和“国家”，再分别解释。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直接信息有两个对象：个人与国家。“重要因素”指影响发展的重要条件，不只是饮用水。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课本《阅读放大镜》二（1）；点选为教师支架</a:t>
            </a:r>
          </a:p>
          <a:p xmlns:a="http://schemas.openxmlformats.org/drawingml/2006/main">
            <a:r>
              <a:t>先问后揭。不要提前读出下一页答案。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“四大水喉”指四种供水来源。作答必须列出四种，不能把储水设施或家庭用途当成水源。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教参2.2：“四大水喉”挑战题；配对为教师支架</a:t>
            </a:r>
          </a:p>
          <a:p xmlns:a="http://schemas.openxmlformats.org/drawingml/2006/main">
            <a:r>
              <a:t>师生共构，9分钟环节的一部分。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新生水：生产成本昂贵。淡化水：消耗能源较多。进口水：受运输、天气干旱等因素影响。收集雨水：扩大集水区、增加蓄水池需占地，而我国土地有限。</a:t>
            </a:r>
          </a:p>
          <a:p xmlns:a="http://schemas.openxmlformats.org/drawingml/2006/main">
            <a:r>
              <a:t>最后一项应补足：我国土地资源有限。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教参2.2：每日用水需求引导题</a:t>
            </a:r>
          </a:p>
          <a:p xmlns:a="http://schemas.openxmlformats.org/drawingml/2006/main">
            <a:r>
              <a:t>教材资料截至2017年6月，不是2026年现况。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家庭用水占45%，非家庭用水占55%。非家庭用水是家庭以外的用水，例如工厂、商场等的用水。</a:t>
            </a:r>
          </a:p>
          <a:p xmlns:a="http://schemas.openxmlformats.org/drawingml/2006/main">
            <a:r>
              <a:t>先由学生完成点选，再揭示此页。例子为教师解释。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课本《阅读放大镜》二（2）；其余口头追问来自教参2.2</a:t>
            </a:r>
          </a:p>
          <a:p xmlns:a="http://schemas.openxmlformats.org/drawingml/2006/main">
            <a:r>
              <a:t>原数据：洗澡29%、冲马桶17%、处理食物16%、洗衣15%、洗手洗脸12%、清洗餐具7%、其他4%。总和100%。原图改自PUB 2018—2019年家庭用水量调查。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课本《阅读放大镜》二（2）；其余口头追问来自教参2.2</a:t>
            </a:r>
          </a:p>
          <a:p xmlns:a="http://schemas.openxmlformats.org/drawingml/2006/main">
            <a:r>
              <a:t>学生独立完成下拉排序；第二问口头回答。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按图中百分比比较，不能按生活经验猜测。29%大于25%，因此洗澡用水超过四分之一。这里的29%与上一图的45%，统计范围不同。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课本《阅读放大镜》二（3）（4）；数据取证为教师支架</a:t>
            </a:r>
          </a:p>
          <a:p xmlns:a="http://schemas.openxmlformats.org/drawingml/2006/main">
            <a:r>
              <a:t>教材图中2000—2018年的数据及2030年目标。横轴只列这些年份，不把未显示的年份当成连续逐年证据。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课本《阅读放大镜》二（3）（4）；数据取证为教师支架</a:t>
            </a:r>
          </a:p>
          <a:p xmlns:a="http://schemas.openxmlformats.org/drawingml/2006/main">
            <a:r>
              <a:t>8分钟环节：第一问点选，第二问独立书面概括，先答后看参考。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先核对年份与单位，再概括整个时段的变化。141公升是2018年的数据，130公升是2030年的目标，不能写成已经达到。图中没有每一年的数据，不能断言年年都下降。</a:t>
            </a:r>
          </a:p>
          <a:p xmlns:a="http://schemas.openxmlformats.org/drawingml/2006/main">
            <a:r>
              <a:t>不能把143（2017年）或130（目标）写成2018数据。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2018年是141公升。教材图中，2000—2018年我国每人每日平均用水量呈下降趋势，从165公升降至141公升；2030年130公升是目标。</a:t>
            </a:r>
          </a:p>
          <a:p xmlns:a="http://schemas.openxmlformats.org/drawingml/2006/main">
            <a:r>
              <a:t>独立回答后比较：对象、时段、方向、两个数据。未写目标不应抹去已正确回答的趋势。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教参2.2：结尾引导题</a:t>
            </a:r>
          </a:p>
          <a:p xmlns:a="http://schemas.openxmlformats.org/drawingml/2006/main">
            <a:r>
              <a:t>师生共构。不要求额外文字作答。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因为取得和储存水需要投入成本、能源、土地等资源，进口水还受运输、干旱等因素影响。水虽然能从水龙头流出，保障供水却不容易。</a:t>
            </a:r>
          </a:p>
          <a:p xmlns:a="http://schemas.openxmlformats.org/drawingml/2006/main">
            <a:r>
              <a:t>开源：拓展水源；节流：减少不必要的用水。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课本《阅读放大镜》一（1）—（5）</a:t>
            </a:r>
          </a:p>
          <a:p xmlns:a="http://schemas.openxmlformats.org/drawingml/2006/main">
            <a:r>
              <a:t>完整原句与学习单一致。先在学习单做五题，答案页再揭示。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替换后要保持原句意思。艰巨强调任务困难而繁重；昂贵说价格高；消耗与体力、能源等搭配；干旱指降雨不足而缺水；趋势指发展的方向。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课本《阅读放大镜》一（1）—（5）</a:t>
            </a:r>
          </a:p>
          <a:p xmlns:a="http://schemas.openxmlformats.org/drawingml/2006/main">
            <a:r>
              <a:t>完整原句与学习单一致。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替换后要保持原句意思。艰巨强调任务困难而繁重；昂贵说价格高；消耗与体力、能源等搭配；干旱指降雨不足而缺水；趋势指发展的方向。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课本《阅读放大镜》三；资料来源PUB官方网页与地图</a:t>
            </a:r>
          </a:p>
          <a:p xmlns:a="http://schemas.openxmlformats.org/drawingml/2006/main">
            <a:r>
              <a:t>点击教师页的PUB资料和地图。两三人一组，按区域指认，全班汇总。</a:t>
            </a:r>
          </a:p>
          <a:p xmlns:a="http://schemas.openxmlformats.org/drawingml/2006/main">
            <a:r>
              <a:t>https://www.pub.gov.sg/Public/WaterLoop/OurWaterStory/Local-Catchment-Water</a:t>
            </a:r>
          </a:p>
          <a:p xmlns:a="http://schemas.openxmlformats.org/drawingml/2006/main">
            <a:r>
              <a:t>https://www.pub.gov.sg/-/media/PUB/SG-Water-Loop/localcatchmentwater/Reservoir_Blue_Map_SG.png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PUB资料列出17个蓄水池，分布在中央、北部／东北部、西部、东部、南部市区及东北外岛。请结合官方地图核对全部名称与位置。</a:t>
            </a:r>
          </a:p>
          <a:p xmlns:a="http://schemas.openxmlformats.org/drawingml/2006/main">
            <a:r>
              <a:t>中央：MacRitchie、Lower Peirce、Upper Peirce、Upper Seletar；北部／东北部：Kranji、Lower Seletar、Punggol、Serangoon；西部：Tengeh、Poyan、Murai、Sarimbun、Jurong Lake、Pandan；东部：Bedok；南部市区：Marina；东北外岛：Tekong。英文名称用于与官方地图对应。</a:t>
            </a:r>
          </a:p>
          <a:p xmlns:a="http://schemas.openxmlformats.org/drawingml/2006/main">
            <a:r>
              <a:t>https://www.pub.gov.sg/Public/WaterLoop/OurWaterStory/Local-Catchment-Water</a:t>
            </a:r>
          </a:p>
          <a:p xmlns:a="http://schemas.openxmlformats.org/drawingml/2006/main">
            <a:r>
              <a:t>https://www.pub.gov.sg/-/media/PUB/SG-Water-Loop/localcatchmentwater/Reservoir_Blue_Map_SG.png</a:t>
            </a:r>
          </a:p>
          <a:p xmlns:a="http://schemas.openxmlformats.org/drawingml/2006/main">
            <a:r>
              <a:t>核对日期：2026年10月20日。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教师补充必做开放题；回应课文结尾及教参实践活动方向</a:t>
            </a:r>
          </a:p>
          <a:p xmlns:a="http://schemas.openxmlformats.org/drawingml/2006/main">
            <a:r>
              <a:t>独立写3—4句。接下来只给结构，不提前给具体建议。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先提出具体建议，再解释原因，用数据或情境支持，最后说明做法怎样减少浪费。可以提出其他合理办法，示例不是唯一答案。不能凭空声称一定节省某个百分比。</a:t>
            </a:r>
          </a:p>
          <a:p xmlns:a="http://schemas.openxmlformats.org/drawingml/2006/main">
            <a:r>
              <a:t>开放题由教师核对，不按关键词自动评分。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示例：我建议家人缩短淋浴时间，并在涂肥皂时关水。因为教材图中洗澡占家庭用水的29%，是比例最高的用途。比如涂肥皂时不让水继续流，就能减少这段时间不必要的用水。这样能针对用水较多的地方减少浪费。</a:t>
            </a:r>
          </a:p>
          <a:p xmlns:a="http://schemas.openxmlformats.org/drawingml/2006/main">
            <a:r>
              <a:t>示例不是唯一答案。不虚构可节省的精确百分比。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单元三 生活空间。课文与题目来源：用户提供教材和教学参考截图。</a:t>
            </a:r>
          </a:p>
          <a:p xmlns:a="http://schemas.openxmlformats.org/drawingml/2006/main">
            <a:r>
              <a:t>建议具体可行；解释为什么；引用数据或具体情境；说明怎样减少浪费</a:t>
            </a:r>
          </a:p>
          <a:p xmlns:a="http://schemas.openxmlformats.org/drawingml/2006/main">
            <a:r>
              <a:t>无新增出口题。用已有两项文字作答进行当堂检查。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dc98df79d4e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11fc9211449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6b0fee21f45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9457cd3f94a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af5a8992645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a4ce2449a40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E48109-2130-4933-AB65-9DAD81575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B7B0A8-BC7D-41AB-A646-F8C57D1C2A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023F9F-B68A-4552-93CA-F016678FC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D508BC-9861-43CC-8E7B-0A77C2541A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5592A0-D066-4DF1-899B-F99E475AC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F2C7D-CFBC-46F1-A221-D5E8FE04C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CDB044-0682-45FF-9AB6-7BDC382A09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F1B762-FA89-4FF4-A28A-1ADACA5C9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E38C69-1883-4B9C-A5FB-CB3E095C5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092BB3-612A-4D24-8CB9-C1F45FD249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ddca72781e467d" /><Relationship Type="http://schemas.openxmlformats.org/officeDocument/2006/relationships/slideLayout" Target="/ppt/slideLayouts/slideLayout1.xml" Id="R4e330af6229343d9" /><Relationship Type="http://schemas.openxmlformats.org/officeDocument/2006/relationships/slideLayout" Target="/ppt/slideLayouts/slideLayout2.xml" Id="Red62a38329774541" /><Relationship Type="http://schemas.openxmlformats.org/officeDocument/2006/relationships/slideLayout" Target="/ppt/slideLayouts/slideLayout3.xml" Id="R192a9f2f0c3541c4" /><Relationship Type="http://schemas.openxmlformats.org/officeDocument/2006/relationships/slideLayout" Target="/ppt/slideLayouts/slideLayout4.xml" Id="Rf02773cf7a8c455d" /><Relationship Type="http://schemas.openxmlformats.org/officeDocument/2006/relationships/slideLayout" Target="/ppt/slideLayouts/slideLayout5.xml" Id="R4239b1d365e04a0f" /><Relationship Type="http://schemas.openxmlformats.org/officeDocument/2006/relationships/slideLayout" Target="/ppt/slideLayouts/slideLayout6.xml" Id="Rf68307a6d3b446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30af6229343d9"/>
    <p:sldLayoutId xmlns:r="http://schemas.openxmlformats.org/officeDocument/2006/relationships" id="2147483650" r:id="Red62a38329774541"/>
    <p:sldLayoutId xmlns:r="http://schemas.openxmlformats.org/officeDocument/2006/relationships" id="2147483651" r:id="R192a9f2f0c3541c4"/>
    <p:sldLayoutId xmlns:r="http://schemas.openxmlformats.org/officeDocument/2006/relationships" id="2147483652" r:id="Rf02773cf7a8c455d"/>
    <p:sldLayoutId xmlns:r="http://schemas.openxmlformats.org/officeDocument/2006/relationships" id="2147483653" r:id="R4239b1d365e04a0f"/>
    <p:sldLayoutId xmlns:r="http://schemas.openxmlformats.org/officeDocument/2006/relationships" id="2147483654" r:id="Rf68307a6d3b446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f217ff89a4596" /><Relationship Type="http://schemas.openxmlformats.org/officeDocument/2006/relationships/image" Target="/ppt/media/image.png" Id="R6262b82dbbcf4f27" /><Relationship Type="http://schemas.openxmlformats.org/officeDocument/2006/relationships/notesSlide" Target="/ppt/notesSlides/notesSlide1.xml" Id="Rb3522876b2ae45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4fee18d6148b9" /><Relationship Type="http://schemas.openxmlformats.org/officeDocument/2006/relationships/notesSlide" Target="/ppt/notesSlides/notesSlide2.xml" Id="R262d3b32064946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1919adadf40de" /><Relationship Type="http://schemas.openxmlformats.org/officeDocument/2006/relationships/notesSlide" Target="/ppt/notesSlides/notesSlide3.xml" Id="R4ee7fb7b4d1548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d8b981218414d" /><Relationship Type="http://schemas.openxmlformats.org/officeDocument/2006/relationships/notesSlide" Target="/ppt/notesSlides/notesSlide4.xml" Id="R9315010df2d34d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3c07d7d8104414" /><Relationship Type="http://schemas.openxmlformats.org/officeDocument/2006/relationships/notesSlide" Target="/ppt/notesSlides/notesSlide5.xml" Id="Rb0628f7ac55e47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1155ac4464553" /><Relationship Type="http://schemas.openxmlformats.org/officeDocument/2006/relationships/notesSlide" Target="/ppt/notesSlides/notesSlide6.xml" Id="Rb61db608b72741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cfbfdcc054d66" /><Relationship Type="http://schemas.openxmlformats.org/officeDocument/2006/relationships/notesSlide" Target="/ppt/notesSlides/notesSlide7.xml" Id="R65b66724f12f40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010ab1610437c" /><Relationship Type="http://schemas.openxmlformats.org/officeDocument/2006/relationships/notesSlide" Target="/ppt/notesSlides/notesSlide8.xml" Id="R58f5e6ac91084b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fc83182634fdd" /><Relationship Type="http://schemas.openxmlformats.org/officeDocument/2006/relationships/notesSlide" Target="/ppt/notesSlides/notesSlide9.xml" Id="Ree5b454377e24b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c6a4e241f4868" /><Relationship Type="http://schemas.openxmlformats.org/officeDocument/2006/relationships/chart" Target="/ppt/slides/charts/chart1.xml" Id="R84b5a89e1cec40a2" /><Relationship Type="http://schemas.openxmlformats.org/officeDocument/2006/relationships/notesSlide" Target="/ppt/notesSlides/notesSlide10.xml" Id="R5fc168d413ab43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f88dd0aeb4e36" /><Relationship Type="http://schemas.openxmlformats.org/officeDocument/2006/relationships/notesSlide" Target="/ppt/notesSlides/notesSlide11.xml" Id="R45c8e0c6264a46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60e4baebe463e" /><Relationship Type="http://schemas.openxmlformats.org/officeDocument/2006/relationships/notesSlide" Target="/ppt/notesSlides/notesSlide12.xml" Id="R9dbf44212efc46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3ee78aa8a4567" /><Relationship Type="http://schemas.openxmlformats.org/officeDocument/2006/relationships/chart" Target="/ppt/slides/charts/chart2.xml" Id="Rf55c3fbd668448fe" /><Relationship Type="http://schemas.openxmlformats.org/officeDocument/2006/relationships/notesSlide" Target="/ppt/notesSlides/notesSlide13.xml" Id="R6530190de6a14f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4d812979d4c8a" /><Relationship Type="http://schemas.openxmlformats.org/officeDocument/2006/relationships/notesSlide" Target="/ppt/notesSlides/notesSlide14.xml" Id="R06ab881d04cf48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f4f878067424c" /><Relationship Type="http://schemas.openxmlformats.org/officeDocument/2006/relationships/notesSlide" Target="/ppt/notesSlides/notesSlide15.xml" Id="R888eac69293840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9435f4ffd4f11" /><Relationship Type="http://schemas.openxmlformats.org/officeDocument/2006/relationships/notesSlide" Target="/ppt/notesSlides/notesSlide16.xml" Id="Rb0d8f57f020f4a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57156e3324ea9" /><Relationship Type="http://schemas.openxmlformats.org/officeDocument/2006/relationships/notesSlide" Target="/ppt/notesSlides/notesSlide17.xml" Id="Rb9d92e53c52d46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33e5c3e0f4979" /><Relationship Type="http://schemas.openxmlformats.org/officeDocument/2006/relationships/notesSlide" Target="/ppt/notesSlides/notesSlide18.xml" Id="R59b6c313cf1643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faeba10224585" /><Relationship Type="http://schemas.openxmlformats.org/officeDocument/2006/relationships/notesSlide" Target="/ppt/notesSlides/notesSlide19.xml" Id="R719ec3ebbb4349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e78fca56b4dd0" /><Relationship Type="http://schemas.openxmlformats.org/officeDocument/2006/relationships/notesSlide" Target="/ppt/notesSlides/notesSlide20.xml" Id="Raaf6b730500d44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6530993c94977" /><Relationship Type="http://schemas.openxmlformats.org/officeDocument/2006/relationships/notesSlide" Target="/ppt/notesSlides/notesSlide21.xml" Id="R73ee5e67a67442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84ab1769242a5" /><Relationship Type="http://schemas.openxmlformats.org/officeDocument/2006/relationships/notesSlide" Target="/ppt/notesSlides/notesSlide22.xml" Id="R43d92e1f418643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395e59f7b4603" /><Relationship Type="http://schemas.openxmlformats.org/officeDocument/2006/relationships/notesSlide" Target="/ppt/notesSlides/notesSlide23.xml" Id="R59a1cd0fa2af43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f68782ad5435f" /><Relationship Type="http://schemas.openxmlformats.org/officeDocument/2006/relationships/notesSlide" Target="/ppt/notesSlides/notesSlide24.xml" Id="R0a3c52bb607042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e1653c77847fe" /><Relationship Type="http://schemas.openxmlformats.org/officeDocument/2006/relationships/notesSlide" Target="/ppt/notesSlides/notesSlide25.xml" Id="Rb617f277d75049e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125436afe4899" /><Relationship Type="http://schemas.openxmlformats.org/officeDocument/2006/relationships/notesSlide" Target="/ppt/notesSlides/notesSlide26.xml" Id="Rf65fcb24724643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cc899ad3f45f8" /><Relationship Type="http://schemas.openxmlformats.org/officeDocument/2006/relationships/notesSlide" Target="/ppt/notesSlides/notesSlide27.xml" Id="R61337811a8e442f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854822fec4075" /><Relationship Type="http://schemas.openxmlformats.org/officeDocument/2006/relationships/notesSlide" Target="/ppt/notesSlides/notesSlide28.xml" Id="R202ae58bc28d4f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家庭用水比例</c:v>
          </c:tx>
          <c:spPr>
            <a:solidFill xmlns:a="http://schemas.openxmlformats.org/drawingml/2006/main">
              <a:srgbClr val="176C8A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其他</c:v>
                </c:pt>
                <c:pt idx="1">
                  <c:v>清洗餐具</c:v>
                </c:pt>
                <c:pt idx="2">
                  <c:v>洗手洗脸</c:v>
                </c:pt>
                <c:pt idx="3">
                  <c:v>洗衣</c:v>
                </c:pt>
                <c:pt idx="4">
                  <c:v>处理食物</c:v>
                </c:pt>
                <c:pt idx="5">
                  <c:v>冲马桶</c:v>
                </c:pt>
                <c:pt idx="6">
                  <c:v>洗澡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</c:v>
                </c:pt>
                <c:pt idx="1">
                  <c:v>7</c:v>
                </c:pt>
                <c:pt idx="2">
                  <c:v>12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  <c:pt idx="6">
                  <c:v>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850" b="1">
                  <a:solidFill>
                    <a:srgbClr val="203D46"/>
                  </a:solidFill>
                  <a:latin typeface="LXGW WenKai TC"/>
                  <a:ea typeface="LXGW WenKai TC"/>
                  <a:cs typeface="LXGW WenKa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CF6"/>
        </a:solidFill>
      </c:spPr>
    </c:plotArea>
    <c:plotVisOnly val="1"/>
  </c:chart>
  <c:spPr>
    <a:solidFill xmlns:a="http://schemas.openxmlformats.org/drawingml/2006/main">
      <a:srgbClr val="FFFCF6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每人每日用水量</c:v>
          </c:tx>
          <c:spPr>
            <a:solidFill xmlns:a="http://schemas.openxmlformats.org/drawingml/2006/main">
              <a:srgbClr val="176C8A"/>
            </a:solidFill>
          </c:spPr>
          <c:invertIfNegative val="0"/>
          <c:dPt>
            <c:idx val="5"/>
            <c:invertIfNegative val="0"/>
            <c:spPr>
              <a:solidFill xmlns:a="http://schemas.openxmlformats.org/drawingml/2006/main">
                <a:srgbClr val="AD3B31"/>
              </a:solidFill>
            </c:spPr>
          </c:dPt>
          <c:cat>
            <c:numRef>
              <c:f>'Chart Data'!$A$2:$A$7</c:f>
              <c:numCache>
                <c:formatCode>General</c:formatCod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2017</c:v>
                </c:pt>
                <c:pt idx="4">
                  <c:v>2018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165</c:v>
                </c:pt>
                <c:pt idx="1">
                  <c:v>160</c:v>
                </c:pt>
                <c:pt idx="2">
                  <c:v>154</c:v>
                </c:pt>
                <c:pt idx="3">
                  <c:v>143</c:v>
                </c:pt>
                <c:pt idx="4">
                  <c:v>141</c:v>
                </c:pt>
                <c:pt idx="5">
                  <c:v>130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850" b="1">
                  <a:solidFill>
                    <a:srgbClr val="203D46"/>
                  </a:solidFill>
                  <a:latin typeface="LXGW WenKai TC"/>
                  <a:ea typeface="LXGW WenKai TC"/>
                  <a:cs typeface="LXGW WenKa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FC2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3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CF6"/>
        </a:solidFill>
      </c:spPr>
    </c:plotArea>
    <c:plotVisOnly val="1"/>
  </c:chart>
  <c:spPr>
    <a:solidFill xmlns:a="http://schemas.openxmlformats.org/drawingml/2006/main">
      <a:srgbClr val="FFFCF6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BE2B0-0AEA-460A-A78F-669ED7C4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水都去哪儿了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0673F-7517-4AE1-BA01-5BAE50C8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2B31E-A738-4C13-86FD-5998396C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中二高级华文 · 单元三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C799D-F731-4F4B-AA55-1224C69C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生活空间 · 一课时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4C274-911C-4766-8C5D-F440CEA3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rPr>
              <a:t>读懂图表</a:t>
            </a:r>
          </a:p>
          <a:p xmlns:a="http://schemas.openxmlformats.org/drawingml/2006/main">
            <a:pPr>
              <a:def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rPr>
              <a:t>说明为什么要珍惜水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77384-FDED-4886-ADF6-A4A23BE0F2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2b82dbbcf4f27"/>
          <a:srcRect xmlns:a="http://schemas.openxmlformats.org/drawingml/2006/main" l="879" t="8073" r="50391" b="70964"/>
          <a:stretch xmlns:a="http://schemas.openxmlformats.org/drawingml/2006/main"/>
        </p:blipFill>
        <p:spPr>
          <a:xfrm xmlns:a="http://schemas.openxmlformats.org/drawingml/2006/main">
            <a:off x="7524750" y="1619250"/>
            <a:ext cx="4000500" cy="25814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13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8045B-8B63-46DE-A47F-D051FD5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水对个人和国家同样重要吗？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20B0C-38A7-4F2E-AE72-7C846A6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F83C-5472-498E-936E-C006F387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水是生命之源，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BEA29-657D-4436-882E-4C705474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也是国家可持续发展的重要因素。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786B6-01AB-4AD3-8543-E27453D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说一说：分别对谁有什么作用？</a:t>
            </a:r>
          </a:p>
        </p:txBody>
      </p:sp>
    </p:spTree>
    <p:extLst>
      <p:ext uri="{BB962C8B-B14F-4D97-AF65-F5344CB8AC3E}">
        <p14:creationId xmlns:p14="http://schemas.microsoft.com/office/powerpoint/2010/main" val="1866666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EC211-8B37-414F-8858-93DB78BA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两个对象，两层意思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819B4-D4B0-4884-AC59-3954D3C6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A6BBE-DF25-4302-B5AD-EC9F0A86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个人：水维持生命。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A48AF-E541-48F4-8666-7B662E1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国家：水支持持续发展。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DCC9D-0B67-4D27-BD93-F598BE6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“因素”是影响结果的条件。</a:t>
            </a:r>
          </a:p>
        </p:txBody>
      </p:sp>
    </p:spTree>
    <p:extLst>
      <p:ext uri="{BB962C8B-B14F-4D97-AF65-F5344CB8AC3E}">
        <p14:creationId xmlns:p14="http://schemas.microsoft.com/office/powerpoint/2010/main" val="336422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E53AD-B44E-43DC-B351-B80B9D17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我国的“四大水喉”指什么？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14D50-ABF6-44F4-ABF5-E57929DC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5B072-E2C6-406D-9325-A3E95154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回到课文图中找四个名称。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ADF12-AC89-48B5-A9C5-B10ED2D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先自己说，再与同桌核对。</a:t>
            </a:r>
          </a:p>
        </p:txBody>
      </p:sp>
    </p:spTree>
    <p:extLst>
      <p:ext uri="{BB962C8B-B14F-4D97-AF65-F5344CB8AC3E}">
        <p14:creationId xmlns:p14="http://schemas.microsoft.com/office/powerpoint/2010/main" val="965550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BC5BC-B9E1-44F4-B8B0-58485247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四种供水来源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0BEB4-96F5-4BFC-8274-83AE6E36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0554F-D92A-4E79-8207-CCD6E107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新生水　　　　淡化水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AD0DA-B44D-4BA9-91CC-669A7CF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收集的雨水　　进口水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C8812-047F-4074-BE9E-3432CE4D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“四大水喉”比喻四种供水来源。</a:t>
            </a:r>
          </a:p>
        </p:txBody>
      </p:sp>
    </p:spTree>
    <p:extLst>
      <p:ext uri="{BB962C8B-B14F-4D97-AF65-F5344CB8AC3E}">
        <p14:creationId xmlns:p14="http://schemas.microsoft.com/office/powerpoint/2010/main" val="1629770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A75A-3431-45B2-8A39-02B05683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四种水源分别面临什么挑战？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5355B-501F-4C71-9523-D272FC7F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1C787-6B28-481C-A6B0-EF10454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新生水、淡化水、进口水、收集雨水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3039D-25C2-4234-804E-FB2845CA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逐项找：成本、能源、天气、土地。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1BCEA-D670-48ED-958C-146A8BF3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在学习单完成配对。</a:t>
            </a:r>
          </a:p>
        </p:txBody>
      </p:sp>
    </p:spTree>
    <p:extLst>
      <p:ext uri="{BB962C8B-B14F-4D97-AF65-F5344CB8AC3E}">
        <p14:creationId xmlns:p14="http://schemas.microsoft.com/office/powerpoint/2010/main" val="1972512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B68AB-7FE7-4D21-A751-6C916EB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保障供水也有困难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ADE6B-D6A0-467A-853D-7DC46524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57744-A8A5-40BC-8C3F-6B9F82D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新生水：生产成本昂贵。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8C28E-C471-4530-9142-3FFA34CC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淡化水：消耗能源较多。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B8982-9DF0-47FB-8468-90F3AB2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进口水：受运输、干旱等因素影响。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E2C8C-08B8-4867-A52D-AE40E812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收集雨水：集水、储水需要土地。</a:t>
            </a:r>
          </a:p>
        </p:txBody>
      </p:sp>
    </p:spTree>
    <p:extLst>
      <p:ext uri="{BB962C8B-B14F-4D97-AF65-F5344CB8AC3E}">
        <p14:creationId xmlns:p14="http://schemas.microsoft.com/office/powerpoint/2010/main" val="1964425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26E5-C95B-4841-94FC-44EB8E16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全国每日用水需求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30431-03F3-4AE7-8347-27EBDD5C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3E78F-EA01-4BFA-81B6-C4682F8F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0">
                <a:solidFill>
                  <a:srgbClr val="AD3B31"/>
                </a:solidFill>
                <a:latin typeface="LXGW WenKai TC"/>
                <a:ea typeface="LXGW WenKai TC"/>
                <a:cs typeface="LXGW WenKai TC"/>
              </a:rPr>
              <a:t>约4亿3000万加仑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9B642-7672-4FE3-A1F6-B45907F8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rPr>
              <a:t>截至2017年6月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5A602-E64B-42B2-AA2A-F410A63F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家庭用水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31E5B-AD6E-4E4A-A669-EE1117E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45%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E4AD8-E911-497B-A83F-F6D18D13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非家庭用水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C39A7-C3E5-44EA-BEAD-1C567E60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3387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55%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FC905-53A9-4637-8FA6-D91D0CA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整体：全国每日用水需求</a:t>
            </a:r>
          </a:p>
        </p:txBody>
      </p:sp>
    </p:spTree>
    <p:extLst>
      <p:ext uri="{BB962C8B-B14F-4D97-AF65-F5344CB8AC3E}">
        <p14:creationId xmlns:p14="http://schemas.microsoft.com/office/powerpoint/2010/main" val="155616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C2F5E-209D-4AA8-863C-3B61F4E5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45%的整体是什么？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2D936-765D-4A62-B808-6CC7D180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5C623-F575-4488-9C61-AF9D2F8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45%：家庭用水占全国用水的比例。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2F1AB-CCBA-4B51-98F6-986EA297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55%：家庭以外的用水。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3E1F4-68AB-4A20-8027-2A6D89CF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例如工厂、商场等的用水。</a:t>
            </a:r>
          </a:p>
        </p:txBody>
      </p:sp>
    </p:spTree>
    <p:extLst>
      <p:ext uri="{BB962C8B-B14F-4D97-AF65-F5344CB8AC3E}">
        <p14:creationId xmlns:p14="http://schemas.microsoft.com/office/powerpoint/2010/main" val="1556138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03425-2565-4E2E-AB3D-A16601A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家庭用水的比例（%）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AA1B0-3C65-44C6-9A6A-9B984A8C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30B3872-FB7A-4075-9462-E36743347C29}"/>
              </a:ext>
            </a:extLst>
          </p:cNvPr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b5a89e1cec40a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08337-0C3C-47D5-8BE3-7C35979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203D46"/>
                </a:solidFill>
                <a:latin typeface="Noto Serif CJK SC"/>
                <a:ea typeface="Noto Serif CJK SC"/>
                <a:cs typeface="Noto Serif CJK SC"/>
              </a:rPr>
              <a:t>教材资料：2018—2019年家庭用水调查</a:t>
            </a:r>
          </a:p>
        </p:txBody>
      </p:sp>
    </p:spTree>
    <p:extLst>
      <p:ext uri="{BB962C8B-B14F-4D97-AF65-F5344CB8AC3E}">
        <p14:creationId xmlns:p14="http://schemas.microsoft.com/office/powerpoint/2010/main" val="1628168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FCD4E-DBD7-4F24-BC96-E6268660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家庭用水排在前三位的是什么？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601F4-E7A1-415E-A0AA-49CB418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11960-5ABC-416C-A934-E5CA9E5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先比较百分比，再按高低排序。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266FD-5A7B-4239-9A30-9D8F618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为什么洗澡用水超过四分之一？</a:t>
            </a:r>
          </a:p>
        </p:txBody>
      </p:sp>
    </p:spTree>
    <p:extLst>
      <p:ext uri="{BB962C8B-B14F-4D97-AF65-F5344CB8AC3E}">
        <p14:creationId xmlns:p14="http://schemas.microsoft.com/office/powerpoint/2010/main" val="1205783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D6DB6-E184-4EDE-818C-9C85953F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家庭用水的前三位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3BC58-A39E-42FD-B5D8-6F6964EE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DD72F-22BA-465B-9C8B-075ED0A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洗澡29%　冲马桶17%　处理食物16%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0964C-A3E0-49BA-844D-87AFBC02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四分之一 = 25%，29% &gt; 25%。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9E5CF-58D2-42E0-A652-2494F3AF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家庭用水最多的地方是浴室。</a:t>
            </a:r>
          </a:p>
        </p:txBody>
      </p:sp>
    </p:spTree>
    <p:extLst>
      <p:ext uri="{BB962C8B-B14F-4D97-AF65-F5344CB8AC3E}">
        <p14:creationId xmlns:p14="http://schemas.microsoft.com/office/powerpoint/2010/main" val="1458971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4D9AF-0BD2-4C0A-951B-10EF897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每人每日平均用水量（公升）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3BB72-FE75-49A0-909B-111DC7C4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E73E75F-E5A5-4747-91E7-E8F64F6ABA19}"/>
              </a:ext>
            </a:extLst>
          </p:cNvPr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5c3fbd668448f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7725B-DD6F-476F-B380-25AF1A84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AD3B31"/>
                </a:solidFill>
                <a:latin typeface="Noto Serif CJK SC"/>
                <a:ea typeface="Noto Serif CJK SC"/>
                <a:cs typeface="Noto Serif CJK SC"/>
              </a:rPr>
              <a:t>红色2030年：教材提出的目标</a:t>
            </a:r>
          </a:p>
        </p:txBody>
      </p:sp>
    </p:spTree>
    <p:extLst>
      <p:ext uri="{BB962C8B-B14F-4D97-AF65-F5344CB8AC3E}">
        <p14:creationId xmlns:p14="http://schemas.microsoft.com/office/powerpoint/2010/main" val="11078061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7D2DE-61D1-45EA-8C86-8737276B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课本读图题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90DC5-23EE-414A-AD9C-09FD28D3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22BC7-CE88-4505-8F6F-FDB6E2BD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2018年，我国每人每日的平均用水量是多少？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AE912-C0AD-46E3-B6B4-71D72D85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每人每日平均用水量的图表要告诉我们的主要信息是什么？</a:t>
            </a:r>
          </a:p>
        </p:txBody>
      </p:sp>
    </p:spTree>
    <p:extLst>
      <p:ext uri="{BB962C8B-B14F-4D97-AF65-F5344CB8AC3E}">
        <p14:creationId xmlns:p14="http://schemas.microsoft.com/office/powerpoint/2010/main" val="7802146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C2E42-D370-41BF-91F5-6B5C61A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读数要对准年份与单位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D4034-BF20-4F3A-9753-20F71016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47FC7-F941-4402-87B4-27E2D2D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2018年：141公升／人／日。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27FE0-0120-4AAF-9D1F-D099A438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2030年：130公升／人／日，是目标。</a:t>
            </a:r>
          </a:p>
        </p:txBody>
      </p:sp>
    </p:spTree>
    <p:extLst>
      <p:ext uri="{BB962C8B-B14F-4D97-AF65-F5344CB8AC3E}">
        <p14:creationId xmlns:p14="http://schemas.microsoft.com/office/powerpoint/2010/main" val="12866834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B89CA-CCB0-4D89-ACEE-5C2FBB1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用数据支持趋势概括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F3BD3-7B34-4FE7-8F02-E8678C24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EA54A-7F44-437D-9C0F-17AFA27C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2000—2018年，每人每日平均用水量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ECC83-380E-4C90-80E2-1F2AF9D9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呈下降趋势，从165公升降至141公升。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37811-5363-4E48-B77A-05C3003C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2030年130公升是教材提出的目标。</a:t>
            </a:r>
          </a:p>
        </p:txBody>
      </p:sp>
    </p:spTree>
    <p:extLst>
      <p:ext uri="{BB962C8B-B14F-4D97-AF65-F5344CB8AC3E}">
        <p14:creationId xmlns:p14="http://schemas.microsoft.com/office/powerpoint/2010/main" val="4312494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4D4A0-0D61-402D-A3DB-475FC3C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为什么说“每滴水都来之不易”？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60CC5-5806-460D-9892-B9876AF7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CC715-8891-4496-BEBC-6FF50BD2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水是宝贵的，每滴水都来之不易。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9BDA8-EDC4-46A6-A4DC-482ECFC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我们要开源节流，珍惜水资源。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ECCC2-12E8-40A5-9C57-BDABF563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回看水源的限制，口头解释为什么。</a:t>
            </a:r>
          </a:p>
        </p:txBody>
      </p:sp>
    </p:spTree>
    <p:extLst>
      <p:ext uri="{BB962C8B-B14F-4D97-AF65-F5344CB8AC3E}">
        <p14:creationId xmlns:p14="http://schemas.microsoft.com/office/powerpoint/2010/main" val="518465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2101A-DE98-4AF5-9454-E813E65F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限制与“来之不易”的关系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DF9B5-905C-44D0-BBAD-60636937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96C1D-ABF6-4191-843F-CCB370F7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取得和储存水，需要成本、能源和土地。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7CCC2-49A6-40B7-B87C-A98E17F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进口水还会受到运输、干旱等因素影响。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7F8E6-0AA2-4BDA-9FC8-44C8FA05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保障供水不容易，所以更要珍惜。</a:t>
            </a:r>
          </a:p>
        </p:txBody>
      </p:sp>
    </p:spTree>
    <p:extLst>
      <p:ext uri="{BB962C8B-B14F-4D97-AF65-F5344CB8AC3E}">
        <p14:creationId xmlns:p14="http://schemas.microsoft.com/office/powerpoint/2010/main" val="15094983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C0F4-E4D7-4D5A-BF31-EF10891E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用课文词语替换画线部分（1—3）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6061F-CC22-4002-9EFD-BA8C3D1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82949-DB48-4479-86A8-14D2497D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1 举办国际展览会是一项【既困难又繁重】的任务。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7FB19-99EA-44A4-B100-2B57592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2 这双球鞋不仅【价格高】，而且样子也不好看。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E2CA7-99B8-4BB4-85E9-A30E405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3 跑马拉松会【用掉】很多体力。</a:t>
            </a:r>
          </a:p>
        </p:txBody>
      </p:sp>
    </p:spTree>
    <p:extLst>
      <p:ext uri="{BB962C8B-B14F-4D97-AF65-F5344CB8AC3E}">
        <p14:creationId xmlns:p14="http://schemas.microsoft.com/office/powerpoint/2010/main" val="4984342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E6F25-4287-4E73-86D5-897733D7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词语替换（1—3）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97CF6-66FA-4FFD-B50E-C691A102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97F1C-4BC7-4DD6-86AA-C318DE1C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1 艰巨：任务困难而繁重。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D3C3E-A20B-48E8-A093-61B9071D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2 昂贵：价格或成本很高。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09511-1CD6-4AEF-ABD2-2465B248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3 消耗：在使用过程中逐渐耗去。</a:t>
            </a:r>
          </a:p>
        </p:txBody>
      </p:sp>
    </p:spTree>
    <p:extLst>
      <p:ext uri="{BB962C8B-B14F-4D97-AF65-F5344CB8AC3E}">
        <p14:creationId xmlns:p14="http://schemas.microsoft.com/office/powerpoint/2010/main" val="8915020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1E8B-62F1-42C0-B9E9-4FA2B4AA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用课文词语替换画线部分（4—5）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2B308-DAA5-46BD-B3FE-F61CD409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2436E-4869-461E-8E06-3EBA3AA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4 这个地区过去一直【降水不足】，严重影响了人们的生活。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776C7-8106-4009-B35C-576FB033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5 根据调查，阅读电子书的人数呈现出上升的【发展动向】。</a:t>
            </a:r>
          </a:p>
        </p:txBody>
      </p:sp>
    </p:spTree>
    <p:extLst>
      <p:ext uri="{BB962C8B-B14F-4D97-AF65-F5344CB8AC3E}">
        <p14:creationId xmlns:p14="http://schemas.microsoft.com/office/powerpoint/2010/main" val="2615701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4BA63-CD05-4121-86D6-305B6EB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词语替换（4—5）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3D01D-E2DD-4783-8591-0B09B4C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408C7-0EA9-4D6F-BA84-2C2EA0F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4 干旱：长时间降雨不足而缺水。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A6DBF-27CD-4110-BED5-59DF9C19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5 趋势：整体发展的方向。</a:t>
            </a:r>
          </a:p>
        </p:txBody>
      </p:sp>
    </p:spTree>
    <p:extLst>
      <p:ext uri="{BB962C8B-B14F-4D97-AF65-F5344CB8AC3E}">
        <p14:creationId xmlns:p14="http://schemas.microsoft.com/office/powerpoint/2010/main" val="12100612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F6632-AE87-4AD8-8CFE-1DC2E7DA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课本：网上搜一搜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FC7AF-C72D-45F1-A6B4-ECA140EA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0E0A8-0AFF-43A3-BCE2-21F062D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新加坡有多少个蓄水池？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9B22C-70E9-488B-A206-6D2377A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它们都在哪儿？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63858-CD64-4051-89CE-3FE5CF7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查看PUB官方资料，与同学指图分享。</a:t>
            </a:r>
          </a:p>
        </p:txBody>
      </p:sp>
    </p:spTree>
    <p:extLst>
      <p:ext uri="{BB962C8B-B14F-4D97-AF65-F5344CB8AC3E}">
        <p14:creationId xmlns:p14="http://schemas.microsoft.com/office/powerpoint/2010/main" val="4668330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A5CDE-F187-4B05-AD65-071DD7D1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PUB资料：17个蓄水池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5EF98-F863-40FD-B9EF-9EB0DD8F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C3D2D-1845-4F38-A29D-09E5A79F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分布于中央、北部／东北部、西部，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9916B-A7DF-4E15-A756-E437EF7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以及东部、南部市区、东北外岛。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2D31A-92E6-4186-94A1-8FAB5DA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用官方地图核对全部名称和位置。</a:t>
            </a:r>
          </a:p>
        </p:txBody>
      </p:sp>
    </p:spTree>
    <p:extLst>
      <p:ext uri="{BB962C8B-B14F-4D97-AF65-F5344CB8AC3E}">
        <p14:creationId xmlns:p14="http://schemas.microsoft.com/office/powerpoint/2010/main" val="15090877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A95D8-BB31-4F4E-BE49-956C5A82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我的节水建议（必做）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56EBE-DC93-48DC-8F98-A3CFD7C0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0523F-D976-453B-87F4-7013F9C5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根据课文图表，你会建议家人怎样节水？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BC68F-6536-4063-9B52-4A13A13A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为什么这样做？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2070D-308F-4222-A92A-6524DDD4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用一项课文信息或具体生活情境说明。</a:t>
            </a:r>
          </a:p>
        </p:txBody>
      </p:sp>
    </p:spTree>
    <p:extLst>
      <p:ext uri="{BB962C8B-B14F-4D97-AF65-F5344CB8AC3E}">
        <p14:creationId xmlns:p14="http://schemas.microsoft.com/office/powerpoint/2010/main" val="13002532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FEFCF-D848-4BDA-A4F3-14262B3E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建议要说清“为什么”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16BB4-50EB-4032-8FB3-277265E0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661FD-4AA6-4BB8-BEE0-986C79C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建议：家人具体做什么？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6CC9C-5079-466C-A95A-8D77E1A3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理由：为什么这样做？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CE50D-ED25-4B72-AEB7-211DBFA5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例子：哪项数据或情境可以支持？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82B02-1351-4A12-8ABB-C2FAE35E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回扣：这样怎样减少不必要用水？</a:t>
            </a:r>
          </a:p>
        </p:txBody>
      </p:sp>
    </p:spTree>
    <p:extLst>
      <p:ext uri="{BB962C8B-B14F-4D97-AF65-F5344CB8AC3E}">
        <p14:creationId xmlns:p14="http://schemas.microsoft.com/office/powerpoint/2010/main" val="1555763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7EA50-8A61-4275-A53D-615515E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开放题示例：针对洗澡用水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64761-E3A6-4411-8F04-D7054D6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C5A7A-FCEA-4D7F-BF6D-D95D96FC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我建议缩短淋浴时间，涂肥皂时关水。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7E92B-B6D8-4184-A6E7-5C8AE032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教材图中，洗澡占家庭用水的29%。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40160-0BF1-4E90-AA1C-6D139AC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涂肥皂时不让水继续流，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4BAC2-5558-43CD-9D77-F2DC8C92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就能减少这段时间不必要的用水。</a:t>
            </a:r>
          </a:p>
        </p:txBody>
      </p:sp>
    </p:spTree>
    <p:extLst>
      <p:ext uri="{BB962C8B-B14F-4D97-AF65-F5344CB8AC3E}">
        <p14:creationId xmlns:p14="http://schemas.microsoft.com/office/powerpoint/2010/main" val="862211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85F5B-F972-4E5D-AEDF-6045918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3900" b="1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对照、订正、留下记录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49F42-2FCE-4536-B23F-B055CDC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176C8A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1F3EB-1889-42F4-B729-9BA982F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趋势概括：对象、年份、单位读准了吗？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A7461-F8D6-4B2B-928C-C0A2B364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节水建议：理由与例子能支持建议吗？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40803-A8CB-4D60-8684-59A0BB90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03D46"/>
                </a:solidFill>
                <a:latin typeface="LXGW WenKai TC"/>
                <a:ea typeface="LXGW WenKai TC"/>
                <a:cs typeface="LXGW WenKai TC"/>
              </a:rPr>
              <a:t>订正后整理词语，导出学习记录。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1186245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2026-10-20T03:29:09.1680000Z</dcterms:created>
  <dcterms:modified xsi:type="dcterms:W3CDTF">2026-10-20T03:29:09.1690000Z</dcterms:modified>
</coreProperties>
</file>