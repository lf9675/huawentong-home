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f65f24a07b354ead"/><Relationship Type="http://schemas.openxmlformats.org/officeDocument/2006/relationships/extended-properties" Target="/docProps/app.xml" Id="R075f5cef9fdb4e4f"/><Relationship Type="http://schemas.openxmlformats.org/officeDocument/2006/relationships/officeDocument" Target="/ppt/presentation.xml" Id="R854149095e544c7b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f9f9eda17445f9"/>
  </p:sldMasterIdLst>
  <p:notesMasterIdLst>
    <p:notesMasterId xmlns:r="http://schemas.openxmlformats.org/officeDocument/2006/relationships" r:id="R5d5fcfb765324154"/>
  </p:notesMasterIdLst>
  <p:sldIdLst>
    <p:sldId xmlns:r="http://schemas.openxmlformats.org/officeDocument/2006/relationships" id="256" r:id="Rae8f277280e84121"/>
    <p:sldId xmlns:r="http://schemas.openxmlformats.org/officeDocument/2006/relationships" id="257" r:id="R9055ada0395f4375"/>
    <p:sldId xmlns:r="http://schemas.openxmlformats.org/officeDocument/2006/relationships" id="258" r:id="R5d55a9c3cf344b87"/>
    <p:sldId xmlns:r="http://schemas.openxmlformats.org/officeDocument/2006/relationships" id="259" r:id="R67ab697039b5459b"/>
    <p:sldId xmlns:r="http://schemas.openxmlformats.org/officeDocument/2006/relationships" id="260" r:id="R2ea13ac49dc04877"/>
    <p:sldId xmlns:r="http://schemas.openxmlformats.org/officeDocument/2006/relationships" id="261" r:id="Red7af6ec4a4e4586"/>
    <p:sldId xmlns:r="http://schemas.openxmlformats.org/officeDocument/2006/relationships" id="262" r:id="R8f221390c4274597"/>
    <p:sldId xmlns:r="http://schemas.openxmlformats.org/officeDocument/2006/relationships" id="263" r:id="R64d5910a581b4e02"/>
    <p:sldId xmlns:r="http://schemas.openxmlformats.org/officeDocument/2006/relationships" id="264" r:id="Rfc135967a896401d"/>
    <p:sldId xmlns:r="http://schemas.openxmlformats.org/officeDocument/2006/relationships" id="265" r:id="R5db8d487f1734a35"/>
    <p:sldId xmlns:r="http://schemas.openxmlformats.org/officeDocument/2006/relationships" id="266" r:id="Rcb735657101a4b65"/>
    <p:sldId xmlns:r="http://schemas.openxmlformats.org/officeDocument/2006/relationships" id="267" r:id="R6c8b13c604844454"/>
    <p:sldId xmlns:r="http://schemas.openxmlformats.org/officeDocument/2006/relationships" id="268" r:id="Redd6f66b90bb4c82"/>
    <p:sldId xmlns:r="http://schemas.openxmlformats.org/officeDocument/2006/relationships" id="269" r:id="Rfcf796e05c8a4bba"/>
    <p:sldId xmlns:r="http://schemas.openxmlformats.org/officeDocument/2006/relationships" id="270" r:id="R3d05c5100cca4920"/>
    <p:sldId xmlns:r="http://schemas.openxmlformats.org/officeDocument/2006/relationships" id="271" r:id="R98440f96ac4848d7"/>
    <p:sldId xmlns:r="http://schemas.openxmlformats.org/officeDocument/2006/relationships" id="272" r:id="R4f29cf7f510b487f"/>
    <p:sldId xmlns:r="http://schemas.openxmlformats.org/officeDocument/2006/relationships" id="273" r:id="R2950ae7e8abb4a13"/>
    <p:sldId xmlns:r="http://schemas.openxmlformats.org/officeDocument/2006/relationships" id="274" r:id="R392fe145dec14732"/>
    <p:sldId xmlns:r="http://schemas.openxmlformats.org/officeDocument/2006/relationships" id="275" r:id="R355eda6aec4e4528"/>
    <p:sldId xmlns:r="http://schemas.openxmlformats.org/officeDocument/2006/relationships" id="276" r:id="R246f9a2c253646c5"/>
    <p:sldId xmlns:r="http://schemas.openxmlformats.org/officeDocument/2006/relationships" id="277" r:id="R084864cf43af4f8b"/>
    <p:sldId xmlns:r="http://schemas.openxmlformats.org/officeDocument/2006/relationships" id="278" r:id="R6d11a90cf53346ce"/>
    <p:sldId xmlns:r="http://schemas.openxmlformats.org/officeDocument/2006/relationships" id="279" r:id="Rbedee2a00c8e43c9"/>
    <p:sldId xmlns:r="http://schemas.openxmlformats.org/officeDocument/2006/relationships" id="280" r:id="R38a70819d62c474e"/>
    <p:sldId xmlns:r="http://schemas.openxmlformats.org/officeDocument/2006/relationships" id="281" r:id="R7f5f705c5fbb4f39"/>
    <p:sldId xmlns:r="http://schemas.openxmlformats.org/officeDocument/2006/relationships" id="282" r:id="R4204efd798f0425b"/>
    <p:sldId xmlns:r="http://schemas.openxmlformats.org/officeDocument/2006/relationships" id="283" r:id="R49377d7571ab44cd"/>
    <p:sldId xmlns:r="http://schemas.openxmlformats.org/officeDocument/2006/relationships" id="284" r:id="R7e0718ba060d4bac"/>
    <p:sldId xmlns:r="http://schemas.openxmlformats.org/officeDocument/2006/relationships" id="285" r:id="R67416ab2e7334ea2"/>
    <p:sldId xmlns:r="http://schemas.openxmlformats.org/officeDocument/2006/relationships" id="286" r:id="Re8ca4f80bc0c42d8"/>
    <p:sldId xmlns:r="http://schemas.openxmlformats.org/officeDocument/2006/relationships" id="287" r:id="Rb417fb79707541d9"/>
    <p:sldId xmlns:r="http://schemas.openxmlformats.org/officeDocument/2006/relationships" id="288" r:id="Rbb3dd7b990b948ed"/>
    <p:sldId xmlns:r="http://schemas.openxmlformats.org/officeDocument/2006/relationships" id="289" r:id="R3a2c7ed527974b96"/>
    <p:sldId xmlns:r="http://schemas.openxmlformats.org/officeDocument/2006/relationships" id="290" r:id="R881b5a843a674c42"/>
    <p:sldId xmlns:r="http://schemas.openxmlformats.org/officeDocument/2006/relationships" id="291" r:id="R0023f08d08cd4810"/>
    <p:sldId xmlns:r="http://schemas.openxmlformats.org/officeDocument/2006/relationships" id="292" r:id="R6fd4409d5e8846af"/>
    <p:sldId xmlns:r="http://schemas.openxmlformats.org/officeDocument/2006/relationships" id="293" r:id="R9605039b5be8411d"/>
    <p:sldId xmlns:r="http://schemas.openxmlformats.org/officeDocument/2006/relationships" id="294" r:id="R6df4c526b71d4fef"/>
    <p:sldId xmlns:r="http://schemas.openxmlformats.org/officeDocument/2006/relationships" id="295" r:id="R25360136c4fc4179"/>
    <p:sldId xmlns:r="http://schemas.openxmlformats.org/officeDocument/2006/relationships" id="296" r:id="Redfdae2ce10f4203"/>
    <p:sldId xmlns:r="http://schemas.openxmlformats.org/officeDocument/2006/relationships" id="297" r:id="Rbb5545ee6b9f4084"/>
    <p:sldId xmlns:r="http://schemas.openxmlformats.org/officeDocument/2006/relationships" id="298" r:id="R96512e45528348c3"/>
    <p:sldId xmlns:r="http://schemas.openxmlformats.org/officeDocument/2006/relationships" id="299" r:id="Re0b50b62209b41a5"/>
    <p:sldId xmlns:r="http://schemas.openxmlformats.org/officeDocument/2006/relationships" id="300" r:id="R32c5531a59bc4658"/>
    <p:sldId xmlns:r="http://schemas.openxmlformats.org/officeDocument/2006/relationships" id="301" r:id="Ref433b00ddfe48db"/>
    <p:sldId xmlns:r="http://schemas.openxmlformats.org/officeDocument/2006/relationships" id="302" r:id="Rb85e7f45281340a6"/>
    <p:sldId xmlns:r="http://schemas.openxmlformats.org/officeDocument/2006/relationships" id="303" r:id="Rc7bb644dc43f43e4"/>
    <p:sldId xmlns:r="http://schemas.openxmlformats.org/officeDocument/2006/relationships" id="304" r:id="R19b8da7d6d0749aa"/>
    <p:sldId xmlns:r="http://schemas.openxmlformats.org/officeDocument/2006/relationships" id="305" r:id="Re2742c6541e747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24b403b2e6674827"/><Relationship Type="http://schemas.openxmlformats.org/officeDocument/2006/relationships/slideMaster" Target="/ppt/slideMasters/slideMaster1.xml" Id="R25f9f9eda17445f9"/><Relationship Type="http://schemas.openxmlformats.org/officeDocument/2006/relationships/notesMaster" Target="/ppt/notesMasters/notesMaster1.xml" Id="R5d5fcfb765324154"/><Relationship Type="http://schemas.openxmlformats.org/officeDocument/2006/relationships/presProps" Target="/ppt/presProps.xml" Id="R3d58e4f00cc04928"/><Relationship Type="http://schemas.openxmlformats.org/officeDocument/2006/relationships/tableStyles" Target="/ppt/tableStyles.xml" Id="R2c134a8c066c47fd"/><Relationship Type="http://schemas.openxmlformats.org/officeDocument/2006/relationships/slide" Target="/ppt/slides/slide1.xml" Id="Rae8f277280e84121"/><Relationship Type="http://schemas.openxmlformats.org/officeDocument/2006/relationships/slide" Target="/ppt/slides/slide2.xml" Id="R9055ada0395f4375"/><Relationship Type="http://schemas.openxmlformats.org/officeDocument/2006/relationships/slide" Target="/ppt/slides/slide3.xml" Id="R5d55a9c3cf344b87"/><Relationship Type="http://schemas.openxmlformats.org/officeDocument/2006/relationships/slide" Target="/ppt/slides/slide4.xml" Id="R67ab697039b5459b"/><Relationship Type="http://schemas.openxmlformats.org/officeDocument/2006/relationships/slide" Target="/ppt/slides/slide5.xml" Id="R2ea13ac49dc04877"/><Relationship Type="http://schemas.openxmlformats.org/officeDocument/2006/relationships/slide" Target="/ppt/slides/slide6.xml" Id="Red7af6ec4a4e4586"/><Relationship Type="http://schemas.openxmlformats.org/officeDocument/2006/relationships/slide" Target="/ppt/slides/slide7.xml" Id="R8f221390c4274597"/><Relationship Type="http://schemas.openxmlformats.org/officeDocument/2006/relationships/slide" Target="/ppt/slides/slide8.xml" Id="R64d5910a581b4e02"/><Relationship Type="http://schemas.openxmlformats.org/officeDocument/2006/relationships/slide" Target="/ppt/slides/slide9.xml" Id="Rfc135967a896401d"/><Relationship Type="http://schemas.openxmlformats.org/officeDocument/2006/relationships/slide" Target="/ppt/slides/slide10.xml" Id="R5db8d487f1734a35"/><Relationship Type="http://schemas.openxmlformats.org/officeDocument/2006/relationships/slide" Target="/ppt/slides/slide11.xml" Id="Rcb735657101a4b65"/><Relationship Type="http://schemas.openxmlformats.org/officeDocument/2006/relationships/slide" Target="/ppt/slides/slide12.xml" Id="R6c8b13c604844454"/><Relationship Type="http://schemas.openxmlformats.org/officeDocument/2006/relationships/slide" Target="/ppt/slides/slide13.xml" Id="Redd6f66b90bb4c82"/><Relationship Type="http://schemas.openxmlformats.org/officeDocument/2006/relationships/slide" Target="/ppt/slides/slide14.xml" Id="Rfcf796e05c8a4bba"/><Relationship Type="http://schemas.openxmlformats.org/officeDocument/2006/relationships/slide" Target="/ppt/slides/slide15.xml" Id="R3d05c5100cca4920"/><Relationship Type="http://schemas.openxmlformats.org/officeDocument/2006/relationships/slide" Target="/ppt/slides/slide16.xml" Id="R98440f96ac4848d7"/><Relationship Type="http://schemas.openxmlformats.org/officeDocument/2006/relationships/slide" Target="/ppt/slides/slide17.xml" Id="R4f29cf7f510b487f"/><Relationship Type="http://schemas.openxmlformats.org/officeDocument/2006/relationships/slide" Target="/ppt/slides/slide18.xml" Id="R2950ae7e8abb4a13"/><Relationship Type="http://schemas.openxmlformats.org/officeDocument/2006/relationships/slide" Target="/ppt/slides/slide19.xml" Id="R392fe145dec14732"/><Relationship Type="http://schemas.openxmlformats.org/officeDocument/2006/relationships/slide" Target="/ppt/slides/slide20.xml" Id="R355eda6aec4e4528"/><Relationship Type="http://schemas.openxmlformats.org/officeDocument/2006/relationships/slide" Target="/ppt/slides/slide21.xml" Id="R246f9a2c253646c5"/><Relationship Type="http://schemas.openxmlformats.org/officeDocument/2006/relationships/slide" Target="/ppt/slides/slide22.xml" Id="R084864cf43af4f8b"/><Relationship Type="http://schemas.openxmlformats.org/officeDocument/2006/relationships/slide" Target="/ppt/slides/slide23.xml" Id="R6d11a90cf53346ce"/><Relationship Type="http://schemas.openxmlformats.org/officeDocument/2006/relationships/slide" Target="/ppt/slides/slide24.xml" Id="Rbedee2a00c8e43c9"/><Relationship Type="http://schemas.openxmlformats.org/officeDocument/2006/relationships/slide" Target="/ppt/slides/slide25.xml" Id="R38a70819d62c474e"/><Relationship Type="http://schemas.openxmlformats.org/officeDocument/2006/relationships/slide" Target="/ppt/slides/slide26.xml" Id="R7f5f705c5fbb4f39"/><Relationship Type="http://schemas.openxmlformats.org/officeDocument/2006/relationships/slide" Target="/ppt/slides/slide27.xml" Id="R4204efd798f0425b"/><Relationship Type="http://schemas.openxmlformats.org/officeDocument/2006/relationships/slide" Target="/ppt/slides/slide28.xml" Id="R49377d7571ab44cd"/><Relationship Type="http://schemas.openxmlformats.org/officeDocument/2006/relationships/slide" Target="/ppt/slides/slide29.xml" Id="R7e0718ba060d4bac"/><Relationship Type="http://schemas.openxmlformats.org/officeDocument/2006/relationships/slide" Target="/ppt/slides/slide30.xml" Id="R67416ab2e7334ea2"/><Relationship Type="http://schemas.openxmlformats.org/officeDocument/2006/relationships/slide" Target="/ppt/slides/slide31.xml" Id="Re8ca4f80bc0c42d8"/><Relationship Type="http://schemas.openxmlformats.org/officeDocument/2006/relationships/slide" Target="/ppt/slides/slide32.xml" Id="Rb417fb79707541d9"/><Relationship Type="http://schemas.openxmlformats.org/officeDocument/2006/relationships/slide" Target="/ppt/slides/slide33.xml" Id="Rbb3dd7b990b948ed"/><Relationship Type="http://schemas.openxmlformats.org/officeDocument/2006/relationships/slide" Target="/ppt/slides/slide34.xml" Id="R3a2c7ed527974b96"/><Relationship Type="http://schemas.openxmlformats.org/officeDocument/2006/relationships/slide" Target="/ppt/slides/slide35.xml" Id="R881b5a843a674c42"/><Relationship Type="http://schemas.openxmlformats.org/officeDocument/2006/relationships/slide" Target="/ppt/slides/slide36.xml" Id="R0023f08d08cd4810"/><Relationship Type="http://schemas.openxmlformats.org/officeDocument/2006/relationships/slide" Target="/ppt/slides/slide37.xml" Id="R6fd4409d5e8846af"/><Relationship Type="http://schemas.openxmlformats.org/officeDocument/2006/relationships/slide" Target="/ppt/slides/slide38.xml" Id="R9605039b5be8411d"/><Relationship Type="http://schemas.openxmlformats.org/officeDocument/2006/relationships/slide" Target="/ppt/slides/slide39.xml" Id="R6df4c526b71d4fef"/><Relationship Type="http://schemas.openxmlformats.org/officeDocument/2006/relationships/slide" Target="/ppt/slides/slide40.xml" Id="R25360136c4fc4179"/><Relationship Type="http://schemas.openxmlformats.org/officeDocument/2006/relationships/slide" Target="/ppt/slides/slide41.xml" Id="Redfdae2ce10f4203"/><Relationship Type="http://schemas.openxmlformats.org/officeDocument/2006/relationships/slide" Target="/ppt/slides/slide42.xml" Id="Rbb5545ee6b9f4084"/><Relationship Type="http://schemas.openxmlformats.org/officeDocument/2006/relationships/slide" Target="/ppt/slides/slide43.xml" Id="R96512e45528348c3"/><Relationship Type="http://schemas.openxmlformats.org/officeDocument/2006/relationships/slide" Target="/ppt/slides/slide44.xml" Id="Re0b50b62209b41a5"/><Relationship Type="http://schemas.openxmlformats.org/officeDocument/2006/relationships/slide" Target="/ppt/slides/slide45.xml" Id="R32c5531a59bc4658"/><Relationship Type="http://schemas.openxmlformats.org/officeDocument/2006/relationships/slide" Target="/ppt/slides/slide46.xml" Id="Ref433b00ddfe48db"/><Relationship Type="http://schemas.openxmlformats.org/officeDocument/2006/relationships/slide" Target="/ppt/slides/slide47.xml" Id="Rb85e7f45281340a6"/><Relationship Type="http://schemas.openxmlformats.org/officeDocument/2006/relationships/slide" Target="/ppt/slides/slide48.xml" Id="Rc7bb644dc43f43e4"/><Relationship Type="http://schemas.openxmlformats.org/officeDocument/2006/relationships/slide" Target="/ppt/slides/slide49.xml" Id="R19b8da7d6d0749aa"/><Relationship Type="http://schemas.openxmlformats.org/officeDocument/2006/relationships/slide" Target="/ppt/slides/slide50.xml" Id="Re2742c6541e74732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3f202aeec6f0484a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be417fee47934846"/><Relationship Type="http://schemas.openxmlformats.org/officeDocument/2006/relationships/notesMaster" Target="/ppt/notesMasters/notesMaster1.xml" Id="R7685d49624fb4571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fc234d58962d47c1"/><Relationship Type="http://schemas.openxmlformats.org/officeDocument/2006/relationships/notesMaster" Target="/ppt/notesMasters/notesMaster1.xml" Id="Ra9e1ae18c13945da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5ee75a68b17b4d45"/><Relationship Type="http://schemas.openxmlformats.org/officeDocument/2006/relationships/notesMaster" Target="/ppt/notesMasters/notesMaster1.xml" Id="R97b0f918d94a40ff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994550fbec214a94"/><Relationship Type="http://schemas.openxmlformats.org/officeDocument/2006/relationships/notesMaster" Target="/ppt/notesMasters/notesMaster1.xml" Id="R77842a2402fa4034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e169b9d196ce4663"/><Relationship Type="http://schemas.openxmlformats.org/officeDocument/2006/relationships/notesMaster" Target="/ppt/notesMasters/notesMaster1.xml" Id="Rec836aa2b9ad4a7b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8e51269a0d844042"/><Relationship Type="http://schemas.openxmlformats.org/officeDocument/2006/relationships/notesMaster" Target="/ppt/notesMasters/notesMaster1.xml" Id="Rd89bb8b2d1af4e1b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45af164d65c34814"/><Relationship Type="http://schemas.openxmlformats.org/officeDocument/2006/relationships/notesMaster" Target="/ppt/notesMasters/notesMaster1.xml" Id="R26b12d13610e4ca2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23ca26a4c9434b0c"/><Relationship Type="http://schemas.openxmlformats.org/officeDocument/2006/relationships/notesMaster" Target="/ppt/notesMasters/notesMaster1.xml" Id="R02f0387585394b9e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69ec03a552b04996"/><Relationship Type="http://schemas.openxmlformats.org/officeDocument/2006/relationships/notesMaster" Target="/ppt/notesMasters/notesMaster1.xml" Id="Radb4d13c1f6747ab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f82e54f284324c1b"/><Relationship Type="http://schemas.openxmlformats.org/officeDocument/2006/relationships/notesMaster" Target="/ppt/notesMasters/notesMaster1.xml" Id="R19ebc220149b4255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0b1adb6739114753"/><Relationship Type="http://schemas.openxmlformats.org/officeDocument/2006/relationships/notesMaster" Target="/ppt/notesMasters/notesMaster1.xml" Id="R94b856738ccc49e6"/></Relationships>
</file>

<file path=pp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/ppt/slides/slide12.xml" Id="R7a9bd7e1954442d2"/><Relationship Type="http://schemas.openxmlformats.org/officeDocument/2006/relationships/notesMaster" Target="/ppt/notesMasters/notesMaster1.xml" Id="Raf2ae8d9c22e4ab7"/></Relationships>
</file>

<file path=pp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/ppt/slides/slide13.xml" Id="R4ab6e220d7fb4d1e"/><Relationship Type="http://schemas.openxmlformats.org/officeDocument/2006/relationships/notesMaster" Target="/ppt/notesMasters/notesMaster1.xml" Id="R5c078b7eea3b40dc"/></Relationships>
</file>

<file path=ppt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/ppt/slides/slide14.xml" Id="Re844e0f66e4b4367"/><Relationship Type="http://schemas.openxmlformats.org/officeDocument/2006/relationships/notesMaster" Target="/ppt/notesMasters/notesMaster1.xml" Id="Rfd9f5c931709445e"/></Relationships>
</file>

<file path=ppt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/ppt/slides/slide15.xml" Id="R81c4bda85b2b426e"/><Relationship Type="http://schemas.openxmlformats.org/officeDocument/2006/relationships/notesMaster" Target="/ppt/notesMasters/notesMaster1.xml" Id="R4c7bcd734d614a20"/></Relationships>
</file>

<file path=ppt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/ppt/slides/slide16.xml" Id="R304634d2af4d4b3e"/><Relationship Type="http://schemas.openxmlformats.org/officeDocument/2006/relationships/notesMaster" Target="/ppt/notesMasters/notesMaster1.xml" Id="R9c566d6476f94f75"/></Relationships>
</file>

<file path=ppt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/ppt/slides/slide17.xml" Id="R416c1321cf3f4a8f"/><Relationship Type="http://schemas.openxmlformats.org/officeDocument/2006/relationships/notesMaster" Target="/ppt/notesMasters/notesMaster1.xml" Id="Rd022080298a24989"/></Relationships>
</file>

<file path=ppt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/ppt/slides/slide18.xml" Id="R116b14d220a74195"/><Relationship Type="http://schemas.openxmlformats.org/officeDocument/2006/relationships/notesMaster" Target="/ppt/notesMasters/notesMaster1.xml" Id="Re15d75b007c04a4d"/></Relationships>
</file>

<file path=ppt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/ppt/slides/slide19.xml" Id="Rcf4965b0039a4e8d"/><Relationship Type="http://schemas.openxmlformats.org/officeDocument/2006/relationships/notesMaster" Target="/ppt/notesMasters/notesMaster1.xml" Id="R211d03ecf48b43f5"/></Relationships>
</file>

<file path=ppt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/ppt/slides/slide20.xml" Id="R548912433fe949bb"/><Relationship Type="http://schemas.openxmlformats.org/officeDocument/2006/relationships/notesMaster" Target="/ppt/notesMasters/notesMaster1.xml" Id="Rec6484db4af941e0"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/ppt/slides/slide21.xml" Id="Re263739b38ca4e00"/><Relationship Type="http://schemas.openxmlformats.org/officeDocument/2006/relationships/notesMaster" Target="/ppt/notesMasters/notesMaster1.xml" Id="R26082532f6644654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/ppt/slides/slide22.xml" Id="Rdd54ddb35c0646a3"/><Relationship Type="http://schemas.openxmlformats.org/officeDocument/2006/relationships/notesMaster" Target="/ppt/notesMasters/notesMaster1.xml" Id="Re70cf0861aea442e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/ppt/slides/slide23.xml" Id="Rd98f18b855bb45e0"/><Relationship Type="http://schemas.openxmlformats.org/officeDocument/2006/relationships/notesMaster" Target="/ppt/notesMasters/notesMaster1.xml" Id="R71e6e64878824056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/ppt/slides/slide24.xml" Id="R56c11576b341471d"/><Relationship Type="http://schemas.openxmlformats.org/officeDocument/2006/relationships/notesMaster" Target="/ppt/notesMasters/notesMaster1.xml" Id="Rf79ca1d6cb49446f"/></Relationships>
</file>

<file path=ppt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/ppt/slides/slide25.xml" Id="R2a0b9b8dfc734aa0"/><Relationship Type="http://schemas.openxmlformats.org/officeDocument/2006/relationships/notesMaster" Target="/ppt/notesMasters/notesMaster1.xml" Id="R4acaa6ac610444be"/></Relationships>
</file>

<file path=ppt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/ppt/slides/slide26.xml" Id="Ra598af65393641eb"/><Relationship Type="http://schemas.openxmlformats.org/officeDocument/2006/relationships/notesMaster" Target="/ppt/notesMasters/notesMaster1.xml" Id="Rb49501b244d94dd5"/></Relationships>
</file>

<file path=ppt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/ppt/slides/slide27.xml" Id="R33c7ce35c5804249"/><Relationship Type="http://schemas.openxmlformats.org/officeDocument/2006/relationships/notesMaster" Target="/ppt/notesMasters/notesMaster1.xml" Id="R3305389591de488b"/></Relationships>
</file>

<file path=ppt/notesSlides/_rels/notesSlide28.xml.rels><?xml version='1.0' encoding='UTF-8' standalone='yes'?>
<Relationships xmlns="http://schemas.openxmlformats.org/package/2006/relationships"><Relationship Type="http://schemas.openxmlformats.org/officeDocument/2006/relationships/slide" Target="/ppt/slides/slide28.xml" Id="Rc464118b09fe4040"/><Relationship Type="http://schemas.openxmlformats.org/officeDocument/2006/relationships/notesMaster" Target="/ppt/notesMasters/notesMaster1.xml" Id="R0e6df44a7f514f7f"/></Relationships>
</file>

<file path=ppt/notesSlides/_rels/notesSlide29.xml.rels><?xml version='1.0' encoding='UTF-8' standalone='yes'?>
<Relationships xmlns="http://schemas.openxmlformats.org/package/2006/relationships"><Relationship Type="http://schemas.openxmlformats.org/officeDocument/2006/relationships/slide" Target="/ppt/slides/slide29.xml" Id="Re36b2988311445ce"/><Relationship Type="http://schemas.openxmlformats.org/officeDocument/2006/relationships/notesMaster" Target="/ppt/notesMasters/notesMaster1.xml" Id="Rac6d4e0b836a4d97"/></Relationships>
</file>

<file path=ppt/notesSlides/_rels/notesSlide30.xml.rels><?xml version='1.0' encoding='UTF-8' standalone='yes'?>
<Relationships xmlns="http://schemas.openxmlformats.org/package/2006/relationships"><Relationship Type="http://schemas.openxmlformats.org/officeDocument/2006/relationships/slide" Target="/ppt/slides/slide30.xml" Id="Rc3a47b0af7444885"/><Relationship Type="http://schemas.openxmlformats.org/officeDocument/2006/relationships/notesMaster" Target="/ppt/notesMasters/notesMaster1.xml" Id="R7de79cb8df5b4d85"/></Relationships>
</file>

<file path=ppt/notesSlides/_rels/notesSlide31.xml.rels><?xml version='1.0' encoding='UTF-8' standalone='yes'?>
<Relationships xmlns="http://schemas.openxmlformats.org/package/2006/relationships"><Relationship Type="http://schemas.openxmlformats.org/officeDocument/2006/relationships/slide" Target="/ppt/slides/slide31.xml" Id="R2e90bc58b7454c17"/><Relationship Type="http://schemas.openxmlformats.org/officeDocument/2006/relationships/notesMaster" Target="/ppt/notesMasters/notesMaster1.xml" Id="Rc64df8d93e034465"/></Relationships>
</file>

<file path=ppt/notesSlides/_rels/notesSlide32.xml.rels><?xml version='1.0' encoding='UTF-8' standalone='yes'?>
<Relationships xmlns="http://schemas.openxmlformats.org/package/2006/relationships"><Relationship Type="http://schemas.openxmlformats.org/officeDocument/2006/relationships/slide" Target="/ppt/slides/slide32.xml" Id="Rd6cad23e346c4bc9"/><Relationship Type="http://schemas.openxmlformats.org/officeDocument/2006/relationships/notesMaster" Target="/ppt/notesMasters/notesMaster1.xml" Id="R22ef798b4f684ff7"/></Relationships>
</file>

<file path=ppt/notesSlides/_rels/notesSlide33.xml.rels><?xml version='1.0' encoding='UTF-8' standalone='yes'?>
<Relationships xmlns="http://schemas.openxmlformats.org/package/2006/relationships"><Relationship Type="http://schemas.openxmlformats.org/officeDocument/2006/relationships/slide" Target="/ppt/slides/slide33.xml" Id="R419fd5260bb64c36"/><Relationship Type="http://schemas.openxmlformats.org/officeDocument/2006/relationships/notesMaster" Target="/ppt/notesMasters/notesMaster1.xml" Id="R67aaa866b0424c25"/></Relationships>
</file>

<file path=ppt/notesSlides/_rels/notesSlide34.xml.rels><?xml version='1.0' encoding='UTF-8' standalone='yes'?>
<Relationships xmlns="http://schemas.openxmlformats.org/package/2006/relationships"><Relationship Type="http://schemas.openxmlformats.org/officeDocument/2006/relationships/slide" Target="/ppt/slides/slide34.xml" Id="R8089eb35dc3f4d42"/><Relationship Type="http://schemas.openxmlformats.org/officeDocument/2006/relationships/notesMaster" Target="/ppt/notesMasters/notesMaster1.xml" Id="R0c7bb5089f5b4171"/></Relationships>
</file>

<file path=ppt/notesSlides/_rels/notesSlide35.xml.rels><?xml version='1.0' encoding='UTF-8' standalone='yes'?>
<Relationships xmlns="http://schemas.openxmlformats.org/package/2006/relationships"><Relationship Type="http://schemas.openxmlformats.org/officeDocument/2006/relationships/slide" Target="/ppt/slides/slide35.xml" Id="Rd381670419cf4a2f"/><Relationship Type="http://schemas.openxmlformats.org/officeDocument/2006/relationships/notesMaster" Target="/ppt/notesMasters/notesMaster1.xml" Id="R4f219506377a44c7"/></Relationships>
</file>

<file path=ppt/notesSlides/_rels/notesSlide36.xml.rels><?xml version='1.0' encoding='UTF-8' standalone='yes'?>
<Relationships xmlns="http://schemas.openxmlformats.org/package/2006/relationships"><Relationship Type="http://schemas.openxmlformats.org/officeDocument/2006/relationships/slide" Target="/ppt/slides/slide36.xml" Id="Rd08581cd811c4026"/><Relationship Type="http://schemas.openxmlformats.org/officeDocument/2006/relationships/notesMaster" Target="/ppt/notesMasters/notesMaster1.xml" Id="R08819135f8284a63"/></Relationships>
</file>

<file path=ppt/notesSlides/_rels/notesSlide37.xml.rels><?xml version='1.0' encoding='UTF-8' standalone='yes'?>
<Relationships xmlns="http://schemas.openxmlformats.org/package/2006/relationships"><Relationship Type="http://schemas.openxmlformats.org/officeDocument/2006/relationships/slide" Target="/ppt/slides/slide37.xml" Id="R91701beef4dc492c"/><Relationship Type="http://schemas.openxmlformats.org/officeDocument/2006/relationships/notesMaster" Target="/ppt/notesMasters/notesMaster1.xml" Id="Ra5cb183ce9a84627"/></Relationships>
</file>

<file path=ppt/notesSlides/_rels/notesSlide38.xml.rels><?xml version='1.0' encoding='UTF-8' standalone='yes'?>
<Relationships xmlns="http://schemas.openxmlformats.org/package/2006/relationships"><Relationship Type="http://schemas.openxmlformats.org/officeDocument/2006/relationships/slide" Target="/ppt/slides/slide38.xml" Id="Rd645ddd9a24c4ce5"/><Relationship Type="http://schemas.openxmlformats.org/officeDocument/2006/relationships/notesMaster" Target="/ppt/notesMasters/notesMaster1.xml" Id="Rfff514ed94ab41d6"/></Relationships>
</file>

<file path=ppt/notesSlides/_rels/notesSlide39.xml.rels><?xml version='1.0' encoding='UTF-8' standalone='yes'?>
<Relationships xmlns="http://schemas.openxmlformats.org/package/2006/relationships"><Relationship Type="http://schemas.openxmlformats.org/officeDocument/2006/relationships/slide" Target="/ppt/slides/slide39.xml" Id="R90562b4bc03843e0"/><Relationship Type="http://schemas.openxmlformats.org/officeDocument/2006/relationships/notesMaster" Target="/ppt/notesMasters/notesMaster1.xml" Id="Ra4555ca8253a46f6"/></Relationships>
</file>

<file path=ppt/notesSlides/_rels/notesSlide40.xml.rels><?xml version='1.0' encoding='UTF-8' standalone='yes'?>
<Relationships xmlns="http://schemas.openxmlformats.org/package/2006/relationships"><Relationship Type="http://schemas.openxmlformats.org/officeDocument/2006/relationships/slide" Target="/ppt/slides/slide40.xml" Id="Rd10548ba75734350"/><Relationship Type="http://schemas.openxmlformats.org/officeDocument/2006/relationships/notesMaster" Target="/ppt/notesMasters/notesMaster1.xml" Id="Ra600dc1058e44352"/></Relationships>
</file>

<file path=ppt/notesSlides/_rels/notesSlide41.xml.rels><?xml version='1.0' encoding='UTF-8' standalone='yes'?>
<Relationships xmlns="http://schemas.openxmlformats.org/package/2006/relationships"><Relationship Type="http://schemas.openxmlformats.org/officeDocument/2006/relationships/slide" Target="/ppt/slides/slide41.xml" Id="Rc0cee2ca6d0d4160"/><Relationship Type="http://schemas.openxmlformats.org/officeDocument/2006/relationships/notesMaster" Target="/ppt/notesMasters/notesMaster1.xml" Id="R73c56b7929464e11"/></Relationships>
</file>

<file path=ppt/notesSlides/_rels/notesSlide42.xml.rels><?xml version='1.0' encoding='UTF-8' standalone='yes'?>
<Relationships xmlns="http://schemas.openxmlformats.org/package/2006/relationships"><Relationship Type="http://schemas.openxmlformats.org/officeDocument/2006/relationships/slide" Target="/ppt/slides/slide42.xml" Id="R9792cdbbfc1e48d9"/><Relationship Type="http://schemas.openxmlformats.org/officeDocument/2006/relationships/notesMaster" Target="/ppt/notesMasters/notesMaster1.xml" Id="R7fc599aa5f8047ca"/></Relationships>
</file>

<file path=ppt/notesSlides/_rels/notesSlide43.xml.rels><?xml version='1.0' encoding='UTF-8' standalone='yes'?>
<Relationships xmlns="http://schemas.openxmlformats.org/package/2006/relationships"><Relationship Type="http://schemas.openxmlformats.org/officeDocument/2006/relationships/slide" Target="/ppt/slides/slide43.xml" Id="R323a3246ef9b42b5"/><Relationship Type="http://schemas.openxmlformats.org/officeDocument/2006/relationships/notesMaster" Target="/ppt/notesMasters/notesMaster1.xml" Id="R19d82c6159dd46d3"/></Relationships>
</file>

<file path=ppt/notesSlides/_rels/notesSlide44.xml.rels><?xml version='1.0' encoding='UTF-8' standalone='yes'?>
<Relationships xmlns="http://schemas.openxmlformats.org/package/2006/relationships"><Relationship Type="http://schemas.openxmlformats.org/officeDocument/2006/relationships/slide" Target="/ppt/slides/slide44.xml" Id="Rc2ce616cbb0846f8"/><Relationship Type="http://schemas.openxmlformats.org/officeDocument/2006/relationships/notesMaster" Target="/ppt/notesMasters/notesMaster1.xml" Id="Ra566e8ce1c0c42dd"/></Relationships>
</file>

<file path=ppt/notesSlides/_rels/notesSlide45.xml.rels><?xml version='1.0' encoding='UTF-8' standalone='yes'?>
<Relationships xmlns="http://schemas.openxmlformats.org/package/2006/relationships"><Relationship Type="http://schemas.openxmlformats.org/officeDocument/2006/relationships/slide" Target="/ppt/slides/slide45.xml" Id="Re1160e11c03940e7"/><Relationship Type="http://schemas.openxmlformats.org/officeDocument/2006/relationships/notesMaster" Target="/ppt/notesMasters/notesMaster1.xml" Id="Rdbee622c54ab482a"/></Relationships>
</file>

<file path=ppt/notesSlides/_rels/notesSlide46.xml.rels><?xml version='1.0' encoding='UTF-8' standalone='yes'?>
<Relationships xmlns="http://schemas.openxmlformats.org/package/2006/relationships"><Relationship Type="http://schemas.openxmlformats.org/officeDocument/2006/relationships/slide" Target="/ppt/slides/slide46.xml" Id="R1de5d50819ac4da0"/><Relationship Type="http://schemas.openxmlformats.org/officeDocument/2006/relationships/notesMaster" Target="/ppt/notesMasters/notesMaster1.xml" Id="R2640d1e2e109492e"/></Relationships>
</file>

<file path=ppt/notesSlides/_rels/notesSlide47.xml.rels><?xml version='1.0' encoding='UTF-8' standalone='yes'?>
<Relationships xmlns="http://schemas.openxmlformats.org/package/2006/relationships"><Relationship Type="http://schemas.openxmlformats.org/officeDocument/2006/relationships/slide" Target="/ppt/slides/slide47.xml" Id="Rbd14075d246c4771"/><Relationship Type="http://schemas.openxmlformats.org/officeDocument/2006/relationships/notesMaster" Target="/ppt/notesMasters/notesMaster1.xml" Id="Rb11abaf73a134c69"/></Relationships>
</file>

<file path=ppt/notesSlides/_rels/notesSlide48.xml.rels><?xml version='1.0' encoding='UTF-8' standalone='yes'?>
<Relationships xmlns="http://schemas.openxmlformats.org/package/2006/relationships"><Relationship Type="http://schemas.openxmlformats.org/officeDocument/2006/relationships/slide" Target="/ppt/slides/slide48.xml" Id="Rd1ba11d62ba441ca"/><Relationship Type="http://schemas.openxmlformats.org/officeDocument/2006/relationships/notesMaster" Target="/ppt/notesMasters/notesMaster1.xml" Id="Rb35b2b3004e1491f"/></Relationships>
</file>

<file path=ppt/notesSlides/_rels/notesSlide49.xml.rels><?xml version='1.0' encoding='UTF-8' standalone='yes'?>
<Relationships xmlns="http://schemas.openxmlformats.org/package/2006/relationships"><Relationship Type="http://schemas.openxmlformats.org/officeDocument/2006/relationships/slide" Target="/ppt/slides/slide49.xml" Id="Rd2605ccbb81a464b"/><Relationship Type="http://schemas.openxmlformats.org/officeDocument/2006/relationships/notesMaster" Target="/ppt/notesMasters/notesMaster1.xml" Id="Rae54d8e331e546f3"/></Relationships>
</file>

<file path=ppt/notesSlides/_rels/notesSlide50.xml.rels><?xml version='1.0' encoding='UTF-8' standalone='yes'?>
<Relationships xmlns="http://schemas.openxmlformats.org/package/2006/relationships"><Relationship Type="http://schemas.openxmlformats.org/officeDocument/2006/relationships/slide" Target="/ppt/slides/slide50.xml" Id="Ra1816152ef2044cf"/><Relationship Type="http://schemas.openxmlformats.org/officeDocument/2006/relationships/notesMaster" Target="/ppt/notesMasters/notesMaster1.xml" Id="Ra47ad88a60424ee5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使用本次上传的原有漫画；不重画。建议3×50分钟，2×50分钟压缩用法见教师方案。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短导入3分钟。可用假设情境；不要求每人披露家庭经历，也不要求当堂给家长发消息。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四个目标的完整表述见教师方案；开放回应贯穿第三课。 问题严格按段落顺序进行，全文人物比较放在第16段之后。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第1课。先让学生回答，下一页再揭示。</a:t>
            </a:r>
          </a:p>
          <a:p xmlns:a="http://schemas.openxmlformats.org/drawingml/2006/main">
            <a:r>
              <a:t>来源：课本旁注 第1、2段。任务身份：我们做。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参考：女儿带着崇拜的眼神再三赞叹，还拿文章再看一遍，爱不释手。儿子却不愿听，马上逃走，并说“我不想听，千万别念给我听”。</a:t>
            </a:r>
          </a:p>
          <a:p xmlns:a="http://schemas.openxmlformats.org/drawingml/2006/main">
            <a:r>
              <a:t>常见误区：只写“截然相反”没有具体表现；只答一人不完整。</a:t>
            </a:r>
          </a:p>
          <a:p xmlns:a="http://schemas.openxmlformats.org/drawingml/2006/main">
            <a:r>
              <a:t>提示1：比较两人听文章时的反应。</a:t>
            </a:r>
          </a:p>
          <a:p xmlns:a="http://schemas.openxmlformats.org/drawingml/2006/main">
            <a:r>
              <a:t>提示2：看第1、2段：再三赞叹、再看一遍、逃走。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来源：课本旁注 第1、2段。任务身份：我们做。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参考：女儿带着崇拜的眼神再三赞叹，还拿文章再看一遍，爱不释手。儿子却不愿听，马上逃走，并说“我不想听，千万别念给我听”。</a:t>
            </a:r>
          </a:p>
          <a:p xmlns:a="http://schemas.openxmlformats.org/drawingml/2006/main">
            <a:r>
              <a:t>常见误区：只写“截然相反”没有具体表现；只答一人不完整。</a:t>
            </a:r>
          </a:p>
          <a:p xmlns:a="http://schemas.openxmlformats.org/drawingml/2006/main">
            <a:r>
              <a:t>提示1：比较两人听文章时的反应。</a:t>
            </a:r>
          </a:p>
          <a:p xmlns:a="http://schemas.openxmlformats.org/drawingml/2006/main">
            <a:r>
              <a:t>提示2：看第1、2段：再三赞叹、再看一遍、逃走。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第1课。先让学生回答，下一页再揭示。</a:t>
            </a:r>
          </a:p>
          <a:p xmlns:a="http://schemas.openxmlformats.org/drawingml/2006/main">
            <a:r>
              <a:t>来源：课本旁注 第1、2段。任务身份：我们做。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参考：女儿带着崇拜的眼神再三赞叹，还拿文章再看一遍，爱不释手。儿子却不愿听，马上逃走，并说“我不想听，千万别念给我听”。</a:t>
            </a:r>
          </a:p>
          <a:p xmlns:a="http://schemas.openxmlformats.org/drawingml/2006/main">
            <a:r>
              <a:t>常见误区：只写“截然相反”没有具体表现；只答一人不完整。</a:t>
            </a:r>
          </a:p>
          <a:p xmlns:a="http://schemas.openxmlformats.org/drawingml/2006/main">
            <a:r>
              <a:t>提示1：比较两人听文章时的反应。</a:t>
            </a:r>
          </a:p>
          <a:p xmlns:a="http://schemas.openxmlformats.org/drawingml/2006/main">
            <a:r>
              <a:t>提示2：看第1、2段：再三赞叹、再看一遍、逃走。 读完第2段再比较第1、2段。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来源：课本旁注 第1、2段。任务身份：我们做。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参考：女儿带着崇拜的眼神再三赞叹，还拿文章再看一遍，爱不释手。儿子却不愿听，马上逃走，并说“我不想听，千万别念给我听”。</a:t>
            </a:r>
          </a:p>
          <a:p xmlns:a="http://schemas.openxmlformats.org/drawingml/2006/main">
            <a:r>
              <a:t>常见误区：只写“截然相反”没有具体表现；只答一人不完整。</a:t>
            </a:r>
          </a:p>
          <a:p xmlns:a="http://schemas.openxmlformats.org/drawingml/2006/main">
            <a:r>
              <a:t>提示1：比较两人听文章时的反应。</a:t>
            </a:r>
          </a:p>
          <a:p xmlns:a="http://schemas.openxmlformats.org/drawingml/2006/main">
            <a:r>
              <a:t>提示2：看第1、2段：再三赞叹、再看一遍、逃走。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第1课。先让学生回答，下一页再揭示。</a:t>
            </a:r>
          </a:p>
          <a:p xmlns:a="http://schemas.openxmlformats.org/drawingml/2006/main">
            <a:r>
              <a:t>来源：教参 第3段。任务身份：口头讨论。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参考：不宜删掉。这个神态细节表现女儿看见新衣时的惊喜和欣赏，和真诚的赞美互相配合。</a:t>
            </a:r>
          </a:p>
          <a:p xmlns:a="http://schemas.openxmlformats.org/drawingml/2006/main">
            <a:r>
              <a:t>常见误区：只说“生动形象”而没有说明具体内容。</a:t>
            </a:r>
          </a:p>
          <a:p xmlns:a="http://schemas.openxmlformats.org/drawingml/2006/main">
            <a:r>
              <a:t>提示1：结合本段内容，说出具体作用。</a:t>
            </a:r>
          </a:p>
          <a:p xmlns:a="http://schemas.openxmlformats.org/drawingml/2006/main">
            <a:r>
              <a:t>提示2：说明这处文字写出了什么。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来源：教参 第3段。任务身份：口头讨论。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参考：不宜删掉。这个神态细节表现女儿看见新衣时的惊喜和欣赏，和真诚的赞美互相配合。</a:t>
            </a:r>
          </a:p>
          <a:p xmlns:a="http://schemas.openxmlformats.org/drawingml/2006/main">
            <a:r>
              <a:t>常见误区：只说“生动形象”而没有说明具体内容。</a:t>
            </a:r>
          </a:p>
          <a:p xmlns:a="http://schemas.openxmlformats.org/drawingml/2006/main">
            <a:r>
              <a:t>提示1：结合本段内容，说出具体作用。</a:t>
            </a:r>
          </a:p>
          <a:p xmlns:a="http://schemas.openxmlformats.org/drawingml/2006/main">
            <a:r>
              <a:t>提示2：说明这处文字写出了什么。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第1课。先让学生回答，下一页再揭示。</a:t>
            </a:r>
          </a:p>
          <a:p xmlns:a="http://schemas.openxmlformats.org/drawingml/2006/main">
            <a:r>
              <a:t>来源：课本旁注 第4段。任务身份：你做。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参考：我认为儿子可能也爱妈妈，只是不习惯赞美或说出感情。不过，课文没有足够证据确定他的内心，不能只凭拒绝听文章、说妹妹拍马屁，就断定他不爱妈妈。</a:t>
            </a:r>
          </a:p>
          <a:p xmlns:a="http://schemas.openxmlformats.org/drawingml/2006/main">
            <a:r>
              <a:t>常见误区：拒绝“儿子一定不爱妈妈”或“所有孩子天生都爱妈妈”的无依据断言。</a:t>
            </a:r>
          </a:p>
          <a:p xmlns:a="http://schemas.openxmlformats.org/drawingml/2006/main">
            <a:r>
              <a:t>提示1：没有说赞美的话，就一定没有爱吗？</a:t>
            </a:r>
          </a:p>
          <a:p xmlns:a="http://schemas.openxmlformats.org/drawingml/2006/main">
            <a:r>
              <a:t>提示2：第2、4段写出他的表现，但没有直接说明他的内心。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来源：课本旁注 第4段。任务身份：你做。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参考：我认为儿子可能也爱妈妈，只是不习惯赞美或说出感情。不过，课文没有足够证据确定他的内心，不能只凭拒绝听文章、说妹妹拍马屁，就断定他不爱妈妈。</a:t>
            </a:r>
          </a:p>
          <a:p xmlns:a="http://schemas.openxmlformats.org/drawingml/2006/main">
            <a:r>
              <a:t>常见误区：拒绝“儿子一定不爱妈妈”或“所有孩子天生都爱妈妈”的无依据断言。</a:t>
            </a:r>
          </a:p>
          <a:p xmlns:a="http://schemas.openxmlformats.org/drawingml/2006/main">
            <a:r>
              <a:t>提示1：没有说赞美的话，就一定没有爱吗？</a:t>
            </a:r>
          </a:p>
          <a:p xmlns:a="http://schemas.openxmlformats.org/drawingml/2006/main">
            <a:r>
              <a:t>提示2：第2、4段写出他的表现，但没有直接说明他的内心。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第1课。先让学生回答，下一页再揭示。</a:t>
            </a:r>
          </a:p>
          <a:p xmlns:a="http://schemas.openxmlformats.org/drawingml/2006/main">
            <a:r>
              <a:t>来源：课本旁注 第8段。任务身份：你做。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参考：女儿的赞美让“我”有成就感、心情愉快；看到女儿的卡片，又觉得再辛苦也是值得的。</a:t>
            </a:r>
          </a:p>
          <a:p xmlns:a="http://schemas.openxmlformats.org/drawingml/2006/main">
            <a:r>
              <a:t>常见误区：只写“开心”不够具体；也不能把女儿带来的温暖归因于儿子的拒绝或否定。</a:t>
            </a:r>
          </a:p>
          <a:p xmlns:a="http://schemas.openxmlformats.org/drawingml/2006/main">
            <a:r>
              <a:t>提示1：留意课文直接写出的感受。</a:t>
            </a:r>
          </a:p>
          <a:p xmlns:a="http://schemas.openxmlformats.org/drawingml/2006/main">
            <a:r>
              <a:t>提示2：回看第1、3、8段。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来源：课本旁注 第8段。任务身份：你做。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参考：女儿的赞美让“我”有成就感、心情愉快；看到女儿的卡片，又觉得再辛苦也是值得的。</a:t>
            </a:r>
          </a:p>
          <a:p xmlns:a="http://schemas.openxmlformats.org/drawingml/2006/main">
            <a:r>
              <a:t>常见误区：只写“开心”不够具体；也不能把女儿带来的温暖归因于儿子的拒绝或否定。</a:t>
            </a:r>
          </a:p>
          <a:p xmlns:a="http://schemas.openxmlformats.org/drawingml/2006/main">
            <a:r>
              <a:t>提示1：留意课文直接写出的感受。</a:t>
            </a:r>
          </a:p>
          <a:p xmlns:a="http://schemas.openxmlformats.org/drawingml/2006/main">
            <a:r>
              <a:t>提示2：回看第1、3、8段。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第1课。先让学生回答，下一页再揭示。</a:t>
            </a:r>
          </a:p>
          <a:p xmlns:a="http://schemas.openxmlformats.org/drawingml/2006/main">
            <a:r>
              <a:t>来源：教参 第9段。任务身份：口头讨论。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参考：交代母亲寂寞、沉默的背景及为家务付出的爱，使“我”的感激有依据，也与结尾歌声形成对照。</a:t>
            </a:r>
          </a:p>
          <a:p xmlns:a="http://schemas.openxmlformats.org/drawingml/2006/main">
            <a:r>
              <a:t>常见误区：只说“生动形象”而没有说明具体内容。</a:t>
            </a:r>
          </a:p>
          <a:p xmlns:a="http://schemas.openxmlformats.org/drawingml/2006/main">
            <a:r>
              <a:t>提示1：结合本段内容，说出具体作用。</a:t>
            </a:r>
          </a:p>
          <a:p xmlns:a="http://schemas.openxmlformats.org/drawingml/2006/main">
            <a:r>
              <a:t>提示2：说明这处文字写出了什么。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来源：教参 第9段。任务身份：口头讨论。</a:t>
            </a:r>
          </a:p>
          <a:p xmlns:a="http://schemas.openxmlformats.org/drawingml/2006/main">
            <a:r>
              <a:t>读到结尾后再回看歌声与此处的对照；此时不提前混入第16段。</a:t>
            </a:r>
          </a:p>
          <a:p xmlns:a="http://schemas.openxmlformats.org/drawingml/2006/main">
            <a:r>
              <a:t>参考：交代母亲寂寞、沉默的背景及为家务付出的爱，使“我”的感激有依据，也与结尾歌声形成对照。</a:t>
            </a:r>
          </a:p>
          <a:p xmlns:a="http://schemas.openxmlformats.org/drawingml/2006/main">
            <a:r>
              <a:t>常见误区：只说“生动形象”而没有说明具体内容。</a:t>
            </a:r>
          </a:p>
          <a:p xmlns:a="http://schemas.openxmlformats.org/drawingml/2006/main">
            <a:r>
              <a:t>提示1：结合本段内容，说出具体作用。</a:t>
            </a:r>
          </a:p>
          <a:p xmlns:a="http://schemas.openxmlformats.org/drawingml/2006/main">
            <a:r>
              <a:t>提示2：说明这处文字写出了什么。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第1课。先让学生回答，下一页再揭示。</a:t>
            </a:r>
          </a:p>
          <a:p xmlns:a="http://schemas.openxmlformats.org/drawingml/2006/main">
            <a:r>
              <a:t>来源：课本旁注 第10段。任务身份：我们做。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参考：主要是心理描写。写出“我”感激母亲的付出，也反省自己从未表达感谢，想向女儿学习。这可支持“懂得感恩、善于反思”的特点。</a:t>
            </a:r>
          </a:p>
          <a:p xmlns:a="http://schemas.openxmlformats.org/drawingml/2006/main">
            <a:r>
              <a:t>常见误区：“一边开车”是真实行动，但不能把整段主体判为行动描写。</a:t>
            </a:r>
          </a:p>
          <a:p xmlns:a="http://schemas.openxmlformats.org/drawingml/2006/main">
            <a:r>
              <a:t>提示1：这些话是说出口的，还是心里想的？</a:t>
            </a:r>
          </a:p>
          <a:p xmlns:a="http://schemas.openxmlformats.org/drawingml/2006/main">
            <a:r>
              <a:t>提示2：留意“一边想”“扪心自问”和后面连续两个问句。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来源：课本旁注 第10段。任务身份：我们做。</a:t>
            </a:r>
          </a:p>
          <a:p xmlns:a="http://schemas.openxmlformats.org/drawingml/2006/main">
            <a:r>
              <a:t>反思自己的原句包括连续两个问句。证据框支持加入多句，不以一句话限制学生。</a:t>
            </a:r>
          </a:p>
          <a:p xmlns:a="http://schemas.openxmlformats.org/drawingml/2006/main">
            <a:r>
              <a:t>参考：主要是心理描写。写出“我”感激母亲的付出，也反省自己从未表达感谢，想向女儿学习。这可支持“懂得感恩、善于反思”的特点。</a:t>
            </a:r>
          </a:p>
          <a:p xmlns:a="http://schemas.openxmlformats.org/drawingml/2006/main">
            <a:r>
              <a:t>常见误区：“一边开车”是真实行动，但不能把整段主体判为行动描写。</a:t>
            </a:r>
          </a:p>
          <a:p xmlns:a="http://schemas.openxmlformats.org/drawingml/2006/main">
            <a:r>
              <a:t>提示1：这些话是说出口的，还是心里想的？</a:t>
            </a:r>
          </a:p>
          <a:p xmlns:a="http://schemas.openxmlformats.org/drawingml/2006/main">
            <a:r>
              <a:t>提示2：留意“一边想”“扪心自问”和后面连续两个问句。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来源：课本旁注 第10段。任务身份：我们做。</a:t>
            </a:r>
          </a:p>
          <a:p xmlns:a="http://schemas.openxmlformats.org/drawingml/2006/main">
            <a:r>
              <a:t>连续两个问句共同写出反思：先想到自己得到的温暖，再想到自己应该如何表达。原句完整写在第10段；证据框可连续加入。</a:t>
            </a:r>
          </a:p>
          <a:p xmlns:a="http://schemas.openxmlformats.org/drawingml/2006/main">
            <a:r>
              <a:t>参考：主要是心理描写。写出“我”感激母亲的付出，也反省自己从未表达感谢，想向女儿学习。这可支持“懂得感恩、善于反思”的特点。</a:t>
            </a:r>
          </a:p>
          <a:p xmlns:a="http://schemas.openxmlformats.org/drawingml/2006/main">
            <a:r>
              <a:t>常见误区：“一边开车”是真实行动，但不能把整段主体判为行动描写。</a:t>
            </a:r>
          </a:p>
          <a:p xmlns:a="http://schemas.openxmlformats.org/drawingml/2006/main">
            <a:r>
              <a:t>提示1：这些话是说出口的，还是心里想的？</a:t>
            </a:r>
          </a:p>
          <a:p xmlns:a="http://schemas.openxmlformats.org/drawingml/2006/main">
            <a:r>
              <a:t>提示2：留意“一边想”“扪心自问”和后面连续两个问句。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第1课。先让学生回答，下一页再揭示。</a:t>
            </a:r>
          </a:p>
          <a:p xmlns:a="http://schemas.openxmlformats.org/drawingml/2006/main">
            <a:r>
              <a:t>来源：教参 第11段。任务身份：口头讨论。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参考：不宜删掉。它写“我”下决心并给自己打气，接续第10段的反思，引出后面的尝试和退缩，使心理变化完整。</a:t>
            </a:r>
          </a:p>
          <a:p xmlns:a="http://schemas.openxmlformats.org/drawingml/2006/main">
            <a:r>
              <a:t>常见误区：只说“生动形象”而没有说明具体内容。</a:t>
            </a:r>
          </a:p>
          <a:p xmlns:a="http://schemas.openxmlformats.org/drawingml/2006/main">
            <a:r>
              <a:t>提示1：结合本段内容，说出具体作用。</a:t>
            </a:r>
          </a:p>
          <a:p xmlns:a="http://schemas.openxmlformats.org/drawingml/2006/main">
            <a:r>
              <a:t>提示2：说明这处文字写出了什么。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第1课。</a:t>
            </a:r>
          </a:p>
          <a:p xmlns:a="http://schemas.openxmlformats.org/drawingml/2006/main">
            <a:r>
              <a:t>来源：教参 第11段。任务身份：口头讨论。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参考：不宜删掉。它写“我”下决心并给自己打气，接续第10段的反思，引出后面的尝试和退缩，使心理变化完整。</a:t>
            </a:r>
          </a:p>
          <a:p xmlns:a="http://schemas.openxmlformats.org/drawingml/2006/main">
            <a:r>
              <a:t>常见误区：只说“生动形象”而没有说明具体内容。</a:t>
            </a:r>
          </a:p>
          <a:p xmlns:a="http://schemas.openxmlformats.org/drawingml/2006/main">
            <a:r>
              <a:t>提示1：结合本段内容，说出具体作用。</a:t>
            </a:r>
          </a:p>
          <a:p xmlns:a="http://schemas.openxmlformats.org/drawingml/2006/main">
            <a:r>
              <a:t>提示2：说明这处文字写出了什么。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先一次一段阅读，再整合心理变化。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第2课。先让学生回答，下一页再揭示。</a:t>
            </a:r>
          </a:p>
          <a:p xmlns:a="http://schemas.openxmlformats.org/drawingml/2006/main">
            <a:r>
              <a:t>来源：课本旁注 第12段。任务身份：我们做。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参考：可以部分同意。对一向把感情藏在心里的人，第一次开口要克服害羞和不习惯，像文中的“我”；但对平时就常表达感情的人，例如女儿，开口可能较自然。因此，难不难与个人习惯和关系情境有关。</a:t>
            </a:r>
          </a:p>
          <a:p xmlns:a="http://schemas.openxmlformats.org/drawingml/2006/main">
            <a:r>
              <a:t>常见误区：只写“同意，因为第一次最难”是循环解释。</a:t>
            </a:r>
          </a:p>
          <a:p xmlns:a="http://schemas.openxmlformats.org/drawingml/2006/main">
            <a:r>
              <a:t>提示1：难不难与个人习惯有什么关系？</a:t>
            </a:r>
          </a:p>
          <a:p xmlns:a="http://schemas.openxmlformats.org/drawingml/2006/main">
            <a:r>
              <a:t>提示2：可以比较“我”和女儿平时表达感情的习惯。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来源：课本旁注 第12段。任务身份：我们做。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参考：可以部分同意。对一向把感情藏在心里的人，第一次开口要克服害羞和不习惯，像文中的“我”；但对平时就常表达感情的人，例如女儿，开口可能较自然。因此，难不难与个人习惯和关系情境有关。</a:t>
            </a:r>
          </a:p>
          <a:p xmlns:a="http://schemas.openxmlformats.org/drawingml/2006/main">
            <a:r>
              <a:t>常见误区：只写“同意，因为第一次最难”是循环解释。</a:t>
            </a:r>
          </a:p>
          <a:p xmlns:a="http://schemas.openxmlformats.org/drawingml/2006/main">
            <a:r>
              <a:t>提示1：难不难与个人习惯有什么关系？</a:t>
            </a:r>
          </a:p>
          <a:p xmlns:a="http://schemas.openxmlformats.org/drawingml/2006/main">
            <a:r>
              <a:t>提示2：可以比较“我”和女儿平时表达感情的习惯。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来源：课本 阅读放大镜一。任务身份：你做。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参考：1. 碰钉子　2. 打退堂鼓　3. 泼冷水。</a:t>
            </a:r>
          </a:p>
          <a:p xmlns:a="http://schemas.openxmlformats.org/drawingml/2006/main">
            <a:r>
              <a:t>常见误区：不能按字面把惯用语理解为真实动作。</a:t>
            </a:r>
          </a:p>
          <a:p xmlns:a="http://schemas.openxmlformats.org/drawingml/2006/main">
            <a:r>
              <a:t>提示1：想想是被拒绝、被打击热情，还是自己退缩。</a:t>
            </a:r>
          </a:p>
          <a:p xmlns:a="http://schemas.openxmlformats.org/drawingml/2006/main">
            <a:r>
              <a:t>提示2：碰钉子＝被拒绝；泼冷水＝热情受打击；打退堂鼓＝自己退缩。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来源：课本 阅读放大镜一。任务身份：你做。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参考：1. 碰钉子　2. 打退堂鼓　3. 泼冷水。</a:t>
            </a:r>
          </a:p>
          <a:p xmlns:a="http://schemas.openxmlformats.org/drawingml/2006/main">
            <a:r>
              <a:t>常见误区：不能按字面把惯用语理解为真实动作。</a:t>
            </a:r>
          </a:p>
          <a:p xmlns:a="http://schemas.openxmlformats.org/drawingml/2006/main">
            <a:r>
              <a:t>提示1：想想是被拒绝、被打击热情，还是自己退缩。</a:t>
            </a:r>
          </a:p>
          <a:p xmlns:a="http://schemas.openxmlformats.org/drawingml/2006/main">
            <a:r>
              <a:t>提示2：碰钉子＝被拒绝；泼冷水＝热情受打击；打退堂鼓＝自己退缩。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第2课。先让学生回答，下一页再揭示。</a:t>
            </a:r>
          </a:p>
          <a:p xmlns:a="http://schemas.openxmlformats.org/drawingml/2006/main">
            <a:r>
              <a:t>来源：课本 阅读放大镜一。任务身份：你做。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参考：1. 碰钉子　2. 打退堂鼓　3. 泼冷水。</a:t>
            </a:r>
          </a:p>
          <a:p xmlns:a="http://schemas.openxmlformats.org/drawingml/2006/main">
            <a:r>
              <a:t>常见误区：不能按字面把惯用语理解为真实动作。</a:t>
            </a:r>
          </a:p>
          <a:p xmlns:a="http://schemas.openxmlformats.org/drawingml/2006/main">
            <a:r>
              <a:t>提示1：想想是被拒绝、被打击热情，还是自己退缩。</a:t>
            </a:r>
          </a:p>
          <a:p xmlns:a="http://schemas.openxmlformats.org/drawingml/2006/main">
            <a:r>
              <a:t>提示2：碰钉子＝被拒绝；泼冷水＝热情受打击；打退堂鼓＝自己退缩。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来源：课本 阅读放大镜一。任务身份：你做。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参考：1. 碰钉子　2. 打退堂鼓　3. 泼冷水。</a:t>
            </a:r>
          </a:p>
          <a:p xmlns:a="http://schemas.openxmlformats.org/drawingml/2006/main">
            <a:r>
              <a:t>常见误区：不能按字面把惯用语理解为真实动作。</a:t>
            </a:r>
          </a:p>
          <a:p xmlns:a="http://schemas.openxmlformats.org/drawingml/2006/main">
            <a:r>
              <a:t>提示1：想想是被拒绝、被打击热情，还是自己退缩。</a:t>
            </a:r>
          </a:p>
          <a:p xmlns:a="http://schemas.openxmlformats.org/drawingml/2006/main">
            <a:r>
              <a:t>提示2：碰钉子＝被拒绝；泼冷水＝热情受打击；打退堂鼓＝自己退缩。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第2课。先让学生回答，下一页再揭示。</a:t>
            </a:r>
          </a:p>
          <a:p xmlns:a="http://schemas.openxmlformats.org/drawingml/2006/main">
            <a:r>
              <a:t>来源：教参补充 第14段。任务身份：我们做。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参考：指以前从未有过。这里指“我”第一次直接向母亲说出感谢和爱。</a:t>
            </a:r>
          </a:p>
          <a:p xmlns:a="http://schemas.openxmlformats.org/drawingml/2006/main">
            <a:r>
              <a:t>常见误区：只解释“第一次”而不说明第一次做什么，不完整；不能说“我”以前不爱母亲。</a:t>
            </a:r>
          </a:p>
          <a:p xmlns:a="http://schemas.openxmlformats.org/drawingml/2006/main">
            <a:r>
              <a:t>提示1：“第一次”指什么事情？</a:t>
            </a:r>
          </a:p>
          <a:p xmlns:a="http://schemas.openxmlformats.org/drawingml/2006/main">
            <a:r>
              <a:t>提示2：注意“说道”后面的内容。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来源：教参补充 第14段。任务身份：我们做。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参考：指以前从未有过。这里指“我”第一次直接向母亲说出感谢和爱。</a:t>
            </a:r>
          </a:p>
          <a:p xmlns:a="http://schemas.openxmlformats.org/drawingml/2006/main">
            <a:r>
              <a:t>常见误区：只解释“第一次”而不说明第一次做什么，不完整；不能说“我”以前不爱母亲。</a:t>
            </a:r>
          </a:p>
          <a:p xmlns:a="http://schemas.openxmlformats.org/drawingml/2006/main">
            <a:r>
              <a:t>提示1：“第一次”指什么事情？</a:t>
            </a:r>
          </a:p>
          <a:p xmlns:a="http://schemas.openxmlformats.org/drawingml/2006/main">
            <a:r>
              <a:t>提示2：注意“说道”后面的内容。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第2课。先让学生回答，下一页再揭示。</a:t>
            </a:r>
          </a:p>
          <a:p xmlns:a="http://schemas.openxmlformats.org/drawingml/2006/main">
            <a:r>
              <a:t>来源：课本旁注 第14段。任务身份：你做。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参考：“我”从未向母亲直接表达感激和爱，不习惯把感情说出口，因此觉得难以启齿。真正面对母亲时，“我”又害羞、不自在，怕难为情，所以迟迟说不出口。</a:t>
            </a:r>
          </a:p>
          <a:p xmlns:a="http://schemas.openxmlformats.org/drawingml/2006/main">
            <a:r>
              <a:t>常见误区：不可把母亲不爱“我”、忙得没有时间，或特定文化背景写成确定原因。</a:t>
            </a:r>
          </a:p>
          <a:p xmlns:a="http://schemas.openxmlformats.org/drawingml/2006/main">
            <a:r>
              <a:t>提示1：说明表达上的困难，不必复述吃饭经过。</a:t>
            </a:r>
          </a:p>
          <a:p xmlns:a="http://schemas.openxmlformats.org/drawingml/2006/main">
            <a:r>
              <a:t>提示2：第10段“从未”，第12段“害羞”，第14段“第一次”。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来源：课本旁注 第14段。任务身份：你做。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参考：“我”从未向母亲直接表达感激和爱，不习惯把感情说出口，因此觉得难以启齿。真正面对母亲时，“我”又害羞、不自在，怕难为情，所以迟迟说不出口。</a:t>
            </a:r>
          </a:p>
          <a:p xmlns:a="http://schemas.openxmlformats.org/drawingml/2006/main">
            <a:r>
              <a:t>常见误区：不可把母亲不爱“我”、忙得没有时间，或特定文化背景写成确定原因。</a:t>
            </a:r>
          </a:p>
          <a:p xmlns:a="http://schemas.openxmlformats.org/drawingml/2006/main">
            <a:r>
              <a:t>提示1：说明表达上的困难，不必复述吃饭经过。</a:t>
            </a:r>
          </a:p>
          <a:p xmlns:a="http://schemas.openxmlformats.org/drawingml/2006/main">
            <a:r>
              <a:t>提示2：第10段“从未”，第12段“害羞”，第14段“第一次”。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第2课。先让学生回答，下一页再揭示。</a:t>
            </a:r>
          </a:p>
          <a:p xmlns:a="http://schemas.openxmlformats.org/drawingml/2006/main">
            <a:r>
              <a:t>来源：课本旁注 第15段。任务身份：我们做。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参考：不宜去掉。作者把向母亲表达爱时的心情，与参加毕业考试时的紧张相比较，突出她这次格外紧张。删去后仍有“紧张”的意思，但程度不够鲜明。</a:t>
            </a:r>
          </a:p>
          <a:p xmlns:a="http://schemas.openxmlformats.org/drawingml/2006/main">
            <a:r>
              <a:t>常见误区：只写“生动形象”或“句子变短”没有回答具体作用。</a:t>
            </a:r>
          </a:p>
          <a:p xmlns:a="http://schemas.openxmlformats.org/drawingml/2006/main">
            <a:r>
              <a:t>提示1：比较突出的是紧张的程度。</a:t>
            </a:r>
          </a:p>
          <a:p xmlns:a="http://schemas.openxmlformats.org/drawingml/2006/main">
            <a:r>
              <a:t>提示2：注意“比……还紧张”。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来源：课本旁注 第15段。任务身份：我们做。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参考：不宜去掉。作者把向母亲表达爱时的心情，与参加毕业考试时的紧张相比较，突出她这次格外紧张。删去后仍有“紧张”的意思，但程度不够鲜明。</a:t>
            </a:r>
          </a:p>
          <a:p xmlns:a="http://schemas.openxmlformats.org/drawingml/2006/main">
            <a:r>
              <a:t>常见误区：只写“生动形象”或“句子变短”没有回答具体作用。</a:t>
            </a:r>
          </a:p>
          <a:p xmlns:a="http://schemas.openxmlformats.org/drawingml/2006/main">
            <a:r>
              <a:t>提示1：比较突出的是紧张的程度。</a:t>
            </a:r>
          </a:p>
          <a:p xmlns:a="http://schemas.openxmlformats.org/drawingml/2006/main">
            <a:r>
              <a:t>提示2：注意“比……还紧张”。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第2课。</a:t>
            </a:r>
          </a:p>
          <a:p xmlns:a="http://schemas.openxmlformats.org/drawingml/2006/main">
            <a:r>
              <a:t>这些是教师概括，不冒充原文引句。让学生先根据段落口头排序，再揭示本页。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完整第16段原文。先阅读，不急于公布主题。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第3课。先让学生回答，下一页再揭示。</a:t>
            </a:r>
          </a:p>
          <a:p xmlns:a="http://schemas.openxmlformats.org/drawingml/2006/main">
            <a:r>
              <a:t>来源：课本 阅读放大镜二；第16段旁注。任务身份：你做。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对“我”表达爱，使“我”有成就感、心情愉快，觉得再辛苦也值得。“我”表达爱后，母亲一边做饭一边唱歌；结合先前的抑郁沉默，可推断她感受到女儿的爱与安慰，心情有所好转。结尾用歌声的变化突出爱的表达带来的力量，呼应题目。</a:t>
            </a:r>
          </a:p>
          <a:p xmlns:a="http://schemas.openxmlformats.org/drawingml/2006/main">
            <a:r>
              <a:t>常见误区：不能推断她从此永不悲伤或完全摆脱丧亲之痛。</a:t>
            </a:r>
          </a:p>
          <a:p xmlns:a="http://schemas.openxmlformats.org/drawingml/2006/main">
            <a:r>
              <a:t>提示1：留意心情的变化，不只看做饭的动作。</a:t>
            </a:r>
          </a:p>
          <a:p xmlns:a="http://schemas.openxmlformats.org/drawingml/2006/main">
            <a:r>
              <a:t>提示2：第9段“沉默寡言”，第16段“唱着歌”“第一次”。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来源：课本 阅读放大镜二；第16段旁注。任务身份：你做。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对“我”表达爱，使“我”有成就感、心情愉快，觉得再辛苦也值得。“我”表达爱后，母亲一边做饭一边唱歌；结合先前的抑郁沉默，可推断她感受到女儿的爱与安慰，心情有所好转。结尾用歌声的变化突出爱的表达带来的力量，呼应题目。</a:t>
            </a:r>
          </a:p>
          <a:p xmlns:a="http://schemas.openxmlformats.org/drawingml/2006/main">
            <a:r>
              <a:t>常见误区：不能推断她从此永不悲伤或完全摆脱丧亲之痛。</a:t>
            </a:r>
          </a:p>
          <a:p xmlns:a="http://schemas.openxmlformats.org/drawingml/2006/main">
            <a:r>
              <a:t>提示1：留意心情的变化，不只看做饭的动作。</a:t>
            </a:r>
          </a:p>
          <a:p xmlns:a="http://schemas.openxmlformats.org/drawingml/2006/main">
            <a:r>
              <a:t>提示2：第9段“沉默寡言”，第16段“唱着歌”“第一次”。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第3课。先让学生回答，下一页再揭示。</a:t>
            </a:r>
          </a:p>
          <a:p xmlns:a="http://schemas.openxmlformats.org/drawingml/2006/main">
            <a:r>
              <a:t>来源：课本 阅读放大镜二；第16段旁注。任务身份：你做。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对“我”表达爱，使“我”有成就感、心情愉快，觉得再辛苦也值得。“我”表达爱后，母亲一边做饭一边唱歌；结合先前的抑郁沉默，可推断她感受到女儿的爱与安慰，心情有所好转。结尾用歌声的变化突出爱的表达带来的力量，呼应题目。</a:t>
            </a:r>
          </a:p>
          <a:p xmlns:a="http://schemas.openxmlformats.org/drawingml/2006/main">
            <a:r>
              <a:t>常见误区：不能推断她从此永不悲伤或完全摆脱丧亲之痛。</a:t>
            </a:r>
          </a:p>
          <a:p xmlns:a="http://schemas.openxmlformats.org/drawingml/2006/main">
            <a:r>
              <a:t>提示1：留意心情的变化，不只看做饭的动作。</a:t>
            </a:r>
          </a:p>
          <a:p xmlns:a="http://schemas.openxmlformats.org/drawingml/2006/main">
            <a:r>
              <a:t>提示2：第9段“沉默寡言”，第16段“唱着歌”“第一次”。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来源：课本 阅读放大镜二；第16段旁注。任务身份：你做。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对“我”表达爱，使“我”有成就感、心情愉快，觉得再辛苦也值得。“我”表达爱后，母亲一边做饭一边唱歌；结合先前的抑郁沉默，可推断她感受到女儿的爱与安慰，心情有所好转。结尾用歌声的变化突出爱的表达带来的力量，呼应题目。</a:t>
            </a:r>
          </a:p>
          <a:p xmlns:a="http://schemas.openxmlformats.org/drawingml/2006/main">
            <a:r>
              <a:t>常见误区：不能推断她从此永不悲伤或完全摆脱丧亲之痛。</a:t>
            </a:r>
          </a:p>
          <a:p xmlns:a="http://schemas.openxmlformats.org/drawingml/2006/main">
            <a:r>
              <a:t>提示1：留意心情的变化，不只看做饭的动作。</a:t>
            </a:r>
          </a:p>
          <a:p xmlns:a="http://schemas.openxmlformats.org/drawingml/2006/main">
            <a:r>
              <a:t>提示2：第9段“沉默寡言”，第16段“唱着歌”“第一次”。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第3课。先让学生回答，下一页再揭示。</a:t>
            </a:r>
          </a:p>
          <a:p xmlns:a="http://schemas.openxmlformats.org/drawingml/2006/main">
            <a:r>
              <a:t>来源：课本 阅读放大镜三；第10段旁注后半问。任务身份：你做。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念文章、穿新衣时，儿子不愿赞美妈妈，说话直接，还否定妹妹的称赞；女儿真诚欣赏妈妈，既赞叹又重读文章。表达爱时，女儿自然、主动，写卡片说“我爱你们”；“我”虽然懂得感恩、善于反思，却不习惯直接表达，面对母亲害羞、低头、说话断续。两组比较表明：爱的语言能使家人感到温暖，应把爱真诚地表达出来。</a:t>
            </a:r>
          </a:p>
          <a:p xmlns:a="http://schemas.openxmlformats.org/drawingml/2006/main">
            <a:r>
              <a:t>常见误区：不提供特点选项代替学生思考。不由儿子的一两句话推断他“自私、不孝”或认定他不爱妈妈。</a:t>
            </a:r>
          </a:p>
          <a:p xmlns:a="http://schemas.openxmlformats.org/drawingml/2006/main">
            <a:r>
              <a:t>提示1：比较每个人表达感情的方式。</a:t>
            </a:r>
          </a:p>
          <a:p xmlns:a="http://schemas.openxmlformats.org/drawingml/2006/main">
            <a:r>
              <a:t>提示2：儿子和女儿看语言、行动；“我”还要看心理与犹豫。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来源：课本 阅读放大镜二；第16段旁注。任务身份：你做。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女儿对“我”表达爱，使“我”有成就感、心情愉快，觉得再辛苦也值得。“我”表达爱后，母亲一边做饭一边唱歌；结合先前的抑郁沉默，可推断她感受到女儿的爱与安慰，心情有所好转。结尾用歌声的变化突出爱的表达带来的力量，呼应题目。</a:t>
            </a:r>
          </a:p>
          <a:p xmlns:a="http://schemas.openxmlformats.org/drawingml/2006/main">
            <a:r>
              <a:t>常见误区：不能推断她从此永不悲伤或完全摆脱丧亲之痛。</a:t>
            </a:r>
          </a:p>
          <a:p xmlns:a="http://schemas.openxmlformats.org/drawingml/2006/main">
            <a:r>
              <a:t>提示1：留意心情的变化，不只看做饭的动作。</a:t>
            </a:r>
          </a:p>
          <a:p xmlns:a="http://schemas.openxmlformats.org/drawingml/2006/main">
            <a:r>
              <a:t>提示2：第9段“沉默寡言”，第16段“唱着歌”“第一次”。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第3课。先让学生回答，下一页再揭示。</a:t>
            </a:r>
          </a:p>
          <a:p xmlns:a="http://schemas.openxmlformats.org/drawingml/2006/main">
            <a:r>
              <a:t>来源：课本 阅读放大镜三；第10段旁注后半问。任务身份：你做。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念文章、穿新衣时，儿子不愿赞美妈妈，说话直接，还否定妹妹的称赞；女儿真诚欣赏妈妈，既赞叹又重读文章。表达爱时，女儿自然、主动，写卡片说“我爱你们”；“我”虽然懂得感恩、善于反思，却不习惯直接表达，面对母亲害羞、低头、说话断续。两组比较表明：爱的语言能使家人感到温暖，应把爱真诚地表达出来。</a:t>
            </a:r>
          </a:p>
          <a:p xmlns:a="http://schemas.openxmlformats.org/drawingml/2006/main">
            <a:r>
              <a:t>常见误区：不提供特点选项代替学生思考。不由儿子的一两句话推断他“自私、不孝”或认定他不爱妈妈。</a:t>
            </a:r>
          </a:p>
          <a:p xmlns:a="http://schemas.openxmlformats.org/drawingml/2006/main">
            <a:r>
              <a:t>提示1：比较每个人表达感情的方式。</a:t>
            </a:r>
          </a:p>
          <a:p xmlns:a="http://schemas.openxmlformats.org/drawingml/2006/main">
            <a:r>
              <a:t>提示2：儿子和女儿看语言、行动；“我”还要看心理与犹豫。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来源：课本 阅读放大镜三；第10段旁注后半问。任务身份：你做。</a:t>
            </a:r>
          </a:p>
          <a:p xmlns:a="http://schemas.openxmlformats.org/drawingml/2006/main">
            <a:r>
              <a:t>接受证据支持的等义特点。不把“不愿赞美”扩大为“不孝、自私、不爱妈妈”。让学生比较自己的首次答案。</a:t>
            </a:r>
          </a:p>
          <a:p xmlns:a="http://schemas.openxmlformats.org/drawingml/2006/main">
            <a:r>
              <a:t>参考：念文章、穿新衣时，儿子不愿赞美妈妈，说话直接，还否定妹妹的称赞；女儿真诚欣赏妈妈，既赞叹又重读文章。表达爱时，女儿自然、主动，写卡片说“我爱你们”；“我”虽然懂得感恩、善于反思，却不习惯直接表达，面对母亲害羞、低头、说话断续。两组比较表明：爱的语言能使家人感到温暖，应把爱真诚地表达出来。</a:t>
            </a:r>
          </a:p>
          <a:p xmlns:a="http://schemas.openxmlformats.org/drawingml/2006/main">
            <a:r>
              <a:t>常见误区：不提供特点选项代替学生思考。不由儿子的一两句话推断他“自私、不孝”或认定他不爱妈妈。</a:t>
            </a:r>
          </a:p>
          <a:p xmlns:a="http://schemas.openxmlformats.org/drawingml/2006/main">
            <a:r>
              <a:t>提示1：比较每个人表达感情的方式。</a:t>
            </a:r>
          </a:p>
          <a:p xmlns:a="http://schemas.openxmlformats.org/drawingml/2006/main">
            <a:r>
              <a:t>提示2：儿子和女儿看语言、行动；“我”还要看心理与犹豫。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来源：课本 阅读放大镜三；第10段旁注后半问。任务身份：你做。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念文章、穿新衣时，儿子不愿赞美妈妈，说话直接，还否定妹妹的称赞；女儿真诚欣赏妈妈，既赞叹又重读文章。表达爱时，女儿自然、主动，写卡片说“我爱你们”；“我”虽然懂得感恩、善于反思，却不习惯直接表达，面对母亲害羞、低头、说话断续。两组比较表明：爱的语言能使家人感到温暖，应把爱真诚地表达出来。</a:t>
            </a:r>
          </a:p>
          <a:p xmlns:a="http://schemas.openxmlformats.org/drawingml/2006/main">
            <a:r>
              <a:t>常见误区：不提供特点选项代替学生思考。不由儿子的一两句话推断他“自私、不孝”或认定他不爱妈妈。</a:t>
            </a:r>
          </a:p>
          <a:p xmlns:a="http://schemas.openxmlformats.org/drawingml/2006/main">
            <a:r>
              <a:t>提示1：比较每个人表达感情的方式。</a:t>
            </a:r>
          </a:p>
          <a:p xmlns:a="http://schemas.openxmlformats.org/drawingml/2006/main">
            <a:r>
              <a:t>提示2：儿子和女儿看语言、行动；“我”还要看心理与犹豫。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第3课。先让学生回答，下一页再揭示。</a:t>
            </a:r>
          </a:p>
          <a:p xmlns:a="http://schemas.openxmlformats.org/drawingml/2006/main">
            <a:r>
              <a:t>来源：课本 读后说。任务身份：你做。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我认为需要用真诚的语言表达爱，并配合行动。因为家人未必知道我们的感激，明确说出来能让他们感到被珍惜。例如文中的母亲已经同“我”住在一起，也为家里做事；“我”直接表达爱后，母亲重新唱起歌。这个变化说明，语言能把心里的爱清楚传达给家人，因此有机会时应真诚表达。</a:t>
            </a:r>
          </a:p>
          <a:p xmlns:a="http://schemas.openxmlformats.org/drawingml/2006/main">
            <a:r>
              <a:t>常见误区：只写“因为这样很好”没有解释；只列做家务却不说明对方怎样感受到爱，例子关系不完整。</a:t>
            </a:r>
          </a:p>
          <a:p xmlns:a="http://schemas.openxmlformats.org/drawingml/2006/main">
            <a:r>
              <a:t>提示1：解释为什么这种表达方式有帮助。</a:t>
            </a:r>
          </a:p>
          <a:p xmlns:a="http://schemas.openxmlformats.org/drawingml/2006/main">
            <a:r>
              <a:t>提示2：可从家人的需要、可能的误会或行动的作用来解释。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来源：课本 读后说。任务身份：你做。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我认为需要用真诚的语言表达爱，并配合行动。因为家人未必知道我们的感激，明确说出来能让他们感到被珍惜。例如文中的母亲已经同“我”住在一起，也为家里做事；“我”直接表达爱后，母亲重新唱起歌。这个变化说明，语言能把心里的爱清楚传达给家人，因此有机会时应真诚表达。</a:t>
            </a:r>
          </a:p>
          <a:p xmlns:a="http://schemas.openxmlformats.org/drawingml/2006/main">
            <a:r>
              <a:t>常见误区：只写“因为这样很好”没有解释；只列做家务却不说明对方怎样感受到爱，例子关系不完整。</a:t>
            </a:r>
          </a:p>
          <a:p xmlns:a="http://schemas.openxmlformats.org/drawingml/2006/main">
            <a:r>
              <a:t>提示1：解释为什么这种表达方式有帮助。</a:t>
            </a:r>
          </a:p>
          <a:p xmlns:a="http://schemas.openxmlformats.org/drawingml/2006/main">
            <a:r>
              <a:t>提示2：可从家人的需要、可能的误会或行动的作用来解释。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来源：课本 读后说。任务身份：你做。</a:t>
            </a:r>
          </a:p>
          <a:p xmlns:a="http://schemas.openxmlformats.org/drawingml/2006/main">
            <a:r>
              <a:t>必须在学生独立提交后揭示。完整版参考答案见教师方案和网页；允许不同立场。</a:t>
            </a:r>
          </a:p>
          <a:p xmlns:a="http://schemas.openxmlformats.org/drawingml/2006/main">
            <a:r>
              <a:t>参考：我认为需要用真诚的语言表达爱，并配合行动。因为家人未必知道我们的感激，明确说出来能让他们感到被珍惜。例如文中的母亲已经同“我”住在一起，也为家里做事；“我”直接表达爱后，母亲重新唱起歌。这个变化说明，语言能把心里的爱清楚传达给家人，因此有机会时应真诚表达。</a:t>
            </a:r>
          </a:p>
          <a:p xmlns:a="http://schemas.openxmlformats.org/drawingml/2006/main">
            <a:r>
              <a:t>常见误区：只写“因为这样很好”没有解释；只列做家务却不说明对方怎样感受到爱，例子关系不完整。</a:t>
            </a:r>
          </a:p>
          <a:p xmlns:a="http://schemas.openxmlformats.org/drawingml/2006/main">
            <a:r>
              <a:t>提示1：解释为什么这种表达方式有帮助。</a:t>
            </a:r>
          </a:p>
          <a:p xmlns:a="http://schemas.openxmlformats.org/drawingml/2006/main">
            <a:r>
              <a:t>提示2：可从家人的需要、可能的误会或行动的作用来解释。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来源：课本 读后说。任务身份：你做。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：我认为需要用真诚的语言表达爱，并配合行动。因为家人未必知道我们的感激，明确说出来能让他们感到被珍惜。例如文中的母亲已经同“我”住在一起，也为家里做事；“我”直接表达爱后，母亲重新唱起歌。这个变化说明，语言能把心里的爱清楚传达给家人，因此有机会时应真诚表达。</a:t>
            </a:r>
          </a:p>
          <a:p xmlns:a="http://schemas.openxmlformats.org/drawingml/2006/main">
            <a:r>
              <a:t>常见误区：只写“因为这样很好”没有解释；只列做家务却不说明对方怎样感受到爱，例子关系不完整。</a:t>
            </a:r>
          </a:p>
          <a:p xmlns:a="http://schemas.openxmlformats.org/drawingml/2006/main">
            <a:r>
              <a:t>提示1：解释为什么这种表达方式有帮助。</a:t>
            </a:r>
          </a:p>
          <a:p xmlns:a="http://schemas.openxmlformats.org/drawingml/2006/main">
            <a:r>
              <a:t>提示2：可从家人的需要、可能的误会或行动的作用来解释。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不以关键词或字数自动评分。按四个意义单位分别反馈，教师复核。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第3课。</a:t>
            </a:r>
          </a:p>
          <a:p xmlns:a="http://schemas.openxmlformats.org/drawingml/2006/main">
            <a:r>
              <a:t>不加新短文、一周后小测或强制打卡。词语本与答案保存在同设备浏览器，可导出备份。</a:t>
            </a:r>
          </a:p>
          <a:p xmlns:a="http://schemas.openxmlformats.org/drawingml/2006/main">
            <a:r>
              <a:t>来源：用户上传课文及教参截图（2026-10-19）。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1ca16f2798244a12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705ebdbcf15b46ea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15d888bafd4b4f96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ad42da8425bb42dd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64dab4ed041e4c0b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a123d843550543b8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3BD2DE6-1E85-43AC-949C-3C30A139DD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E00258-306F-4BC2-A0DE-109191EE2B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EAAF630-5808-4802-A7BF-4E8897C3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5E78C2-7383-4CD6-9C8E-380FB8C866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63467C4-62F9-4BED-8100-B2F372E337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25504CF-4C75-40A7-AC7C-75D05FBC3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03747C-AAA9-47B3-A9C3-970D677C8B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414C5AA-06E9-4A0E-841D-5E49CF5E35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6D46BD4-E488-411D-A9C8-06CB10551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3ED048-E377-40CD-B60C-3B7EE4385C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346ae8cbb12149f0"/><Relationship Type="http://schemas.openxmlformats.org/officeDocument/2006/relationships/slideLayout" Target="/ppt/slideLayouts/slideLayout1.xml" Id="R876e52c232494de5"/><Relationship Type="http://schemas.openxmlformats.org/officeDocument/2006/relationships/slideLayout" Target="/ppt/slideLayouts/slideLayout2.xml" Id="Rf1787e53a4564b47"/><Relationship Type="http://schemas.openxmlformats.org/officeDocument/2006/relationships/slideLayout" Target="/ppt/slideLayouts/slideLayout3.xml" Id="Rbe07aa81989a48c4"/><Relationship Type="http://schemas.openxmlformats.org/officeDocument/2006/relationships/slideLayout" Target="/ppt/slideLayouts/slideLayout4.xml" Id="R01679fb78133496c"/><Relationship Type="http://schemas.openxmlformats.org/officeDocument/2006/relationships/slideLayout" Target="/ppt/slideLayouts/slideLayout5.xml" Id="Rd6f84254970b4ef4"/><Relationship Type="http://schemas.openxmlformats.org/officeDocument/2006/relationships/slideLayout" Target="/ppt/slideLayouts/slideLayout6.xml" Id="R011a8c4737e44595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6e52c232494de5"/>
    <p:sldLayoutId xmlns:r="http://schemas.openxmlformats.org/officeDocument/2006/relationships" id="2147483650" r:id="Rf1787e53a4564b47"/>
    <p:sldLayoutId xmlns:r="http://schemas.openxmlformats.org/officeDocument/2006/relationships" id="2147483651" r:id="Rbe07aa81989a48c4"/>
    <p:sldLayoutId xmlns:r="http://schemas.openxmlformats.org/officeDocument/2006/relationships" id="2147483652" r:id="R01679fb78133496c"/>
    <p:sldLayoutId xmlns:r="http://schemas.openxmlformats.org/officeDocument/2006/relationships" id="2147483653" r:id="Rd6f84254970b4ef4"/>
    <p:sldLayoutId xmlns:r="http://schemas.openxmlformats.org/officeDocument/2006/relationships" id="2147483654" r:id="R011a8c4737e445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4b4e24f9df340f9"/><Relationship Type="http://schemas.openxmlformats.org/officeDocument/2006/relationships/image" Target="/ppt/media/image.png" Id="R532caa899bd1479a"/><Relationship Type="http://schemas.openxmlformats.org/officeDocument/2006/relationships/notesSlide" Target="/ppt/notesSlides/notesSlide1.xml" Id="R4e937d106fc64336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e9db7b434d8468f"/><Relationship Type="http://schemas.openxmlformats.org/officeDocument/2006/relationships/image" Target="/ppt/media/image2.png" Id="R74869422ac6e4260"/><Relationship Type="http://schemas.openxmlformats.org/officeDocument/2006/relationships/notesSlide" Target="/ppt/notesSlides/notesSlide2.xml" Id="Rd90dbb6a2e1d4e53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21ad610ddb54d7e"/><Relationship Type="http://schemas.openxmlformats.org/officeDocument/2006/relationships/notesSlide" Target="/ppt/notesSlides/notesSlide3.xml" Id="R09e16ea22bc3496a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1629f635c714822"/><Relationship Type="http://schemas.openxmlformats.org/officeDocument/2006/relationships/notesSlide" Target="/ppt/notesSlides/notesSlide4.xml" Id="R2c53045579be4199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c4e16b7472d4b9f"/><Relationship Type="http://schemas.openxmlformats.org/officeDocument/2006/relationships/image" Target="/ppt/media/image3.png" Id="R6aee8c9e667c4180"/><Relationship Type="http://schemas.openxmlformats.org/officeDocument/2006/relationships/notesSlide" Target="/ppt/notesSlides/notesSlide5.xml" Id="Rd8ef26165a2940ae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eda6c1a60ec4e54"/><Relationship Type="http://schemas.openxmlformats.org/officeDocument/2006/relationships/notesSlide" Target="/ppt/notesSlides/notesSlide6.xml" Id="Redb60edf30b14fa0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3ad9688e05e4dc9"/><Relationship Type="http://schemas.openxmlformats.org/officeDocument/2006/relationships/notesSlide" Target="/ppt/notesSlides/notesSlide7.xml" Id="Red317635bd734a9e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fc5a4c75b184af5"/><Relationship Type="http://schemas.openxmlformats.org/officeDocument/2006/relationships/image" Target="../media/image3.png" Id="Rfbbc91e6ca0d4b86"/><Relationship Type="http://schemas.openxmlformats.org/officeDocument/2006/relationships/notesSlide" Target="/ppt/notesSlides/notesSlide8.xml" Id="R1bae09201c3d4272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7ef8fb8fcde406a"/><Relationship Type="http://schemas.openxmlformats.org/officeDocument/2006/relationships/notesSlide" Target="/ppt/notesSlides/notesSlide9.xml" Id="R7ac50ea31e1a4f71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1b3cba5c94a424e"/><Relationship Type="http://schemas.openxmlformats.org/officeDocument/2006/relationships/notesSlide" Target="/ppt/notesSlides/notesSlide10.xml" Id="Rf1aa8f253d7b40a7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181297193dc4293"/><Relationship Type="http://schemas.openxmlformats.org/officeDocument/2006/relationships/notesSlide" Target="/ppt/notesSlides/notesSlide11.xml" Id="R201f40da9cb34ca1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ef04f91875141df"/><Relationship Type="http://schemas.openxmlformats.org/officeDocument/2006/relationships/notesSlide" Target="/ppt/notesSlides/notesSlide12.xml" Id="R80675cc59d89476d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76c96af1591427b"/><Relationship Type="http://schemas.openxmlformats.org/officeDocument/2006/relationships/notesSlide" Target="/ppt/notesSlides/notesSlide13.xml" Id="R95f108f1d3284437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d6b490bf8b14340"/><Relationship Type="http://schemas.openxmlformats.org/officeDocument/2006/relationships/notesSlide" Target="/ppt/notesSlides/notesSlide14.xml" Id="R54e70aefac9c4e77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341a24713dd4941"/><Relationship Type="http://schemas.openxmlformats.org/officeDocument/2006/relationships/notesSlide" Target="/ppt/notesSlides/notesSlide15.xml" Id="R169dc38cc17f4f97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1a6aa249f244076"/><Relationship Type="http://schemas.openxmlformats.org/officeDocument/2006/relationships/notesSlide" Target="/ppt/notesSlides/notesSlide16.xml" Id="R9cd29e1b257741e6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1dfe79b413f42ee"/><Relationship Type="http://schemas.openxmlformats.org/officeDocument/2006/relationships/notesSlide" Target="/ppt/notesSlides/notesSlide17.xml" Id="Rb8d9d90050ec4c33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a36525894b5421e"/><Relationship Type="http://schemas.openxmlformats.org/officeDocument/2006/relationships/notesSlide" Target="/ppt/notesSlides/notesSlide18.xml" Id="Rc366e38f5a8d404f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ac40923fad84cc0"/><Relationship Type="http://schemas.openxmlformats.org/officeDocument/2006/relationships/notesSlide" Target="/ppt/notesSlides/notesSlide19.xml" Id="R9c6f8114db23416b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3bfaea8b5ca4137"/><Relationship Type="http://schemas.openxmlformats.org/officeDocument/2006/relationships/notesSlide" Target="/ppt/notesSlides/notesSlide20.xml" Id="R2ff6c9d884c844fe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2b31212012e4e29"/><Relationship Type="http://schemas.openxmlformats.org/officeDocument/2006/relationships/image" Target="../media/image.png" Id="Re8a9e236febc4ef3"/><Relationship Type="http://schemas.openxmlformats.org/officeDocument/2006/relationships/notesSlide" Target="/ppt/notesSlides/notesSlide21.xml" Id="Reb7bed9e98c8442d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a0581f618f64af9"/><Relationship Type="http://schemas.openxmlformats.org/officeDocument/2006/relationships/notesSlide" Target="/ppt/notesSlides/notesSlide22.xml" Id="R75cfe9eca4e042a3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fa5096130ce47c5"/><Relationship Type="http://schemas.openxmlformats.org/officeDocument/2006/relationships/notesSlide" Target="/ppt/notesSlides/notesSlide23.xml" Id="R2cc3e62ce287420b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6d4c1f96f654574"/><Relationship Type="http://schemas.openxmlformats.org/officeDocument/2006/relationships/notesSlide" Target="/ppt/notesSlides/notesSlide24.xml" Id="R8ce3837b05264848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33e774a5b1648e6"/><Relationship Type="http://schemas.openxmlformats.org/officeDocument/2006/relationships/notesSlide" Target="/ppt/notesSlides/notesSlide25.xml" Id="R0c761abde20f42cb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4c6ddfde1a24a2e"/><Relationship Type="http://schemas.openxmlformats.org/officeDocument/2006/relationships/notesSlide" Target="/ppt/notesSlides/notesSlide26.xml" Id="Rbc9a7a7a07644782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ad8698a2b7c4e50"/><Relationship Type="http://schemas.openxmlformats.org/officeDocument/2006/relationships/notesSlide" Target="/ppt/notesSlides/notesSlide27.xml" Id="R02d56b7a3d92430e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1a51a926660417d"/><Relationship Type="http://schemas.openxmlformats.org/officeDocument/2006/relationships/notesSlide" Target="/ppt/notesSlides/notesSlide28.xml" Id="Rd7a699ef433141b2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887d95245ef40d7"/><Relationship Type="http://schemas.openxmlformats.org/officeDocument/2006/relationships/notesSlide" Target="/ppt/notesSlides/notesSlide29.xml" Id="Re75334eba4974825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47e090e22ef4bbf"/><Relationship Type="http://schemas.openxmlformats.org/officeDocument/2006/relationships/notesSlide" Target="/ppt/notesSlides/notesSlide30.xml" Id="R4beb39875d5943ae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7ae8bcfd7484fe8"/><Relationship Type="http://schemas.openxmlformats.org/officeDocument/2006/relationships/notesSlide" Target="/ppt/notesSlides/notesSlide31.xml" Id="Rfd8feb7279c44d71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ac84c14212348a2"/><Relationship Type="http://schemas.openxmlformats.org/officeDocument/2006/relationships/notesSlide" Target="/ppt/notesSlides/notesSlide32.xml" Id="Rdda042ab7e004489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2db1cf6b14c4f8b"/><Relationship Type="http://schemas.openxmlformats.org/officeDocument/2006/relationships/notesSlide" Target="/ppt/notesSlides/notesSlide33.xml" Id="Rd12d0efd1c5846ca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fda1a5983994023"/><Relationship Type="http://schemas.openxmlformats.org/officeDocument/2006/relationships/notesSlide" Target="/ppt/notesSlides/notesSlide34.xml" Id="R71896a8863ca4d7a"/></Relationships>
</file>

<file path=ppt/slides/_rels/slide3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263add559314475"/><Relationship Type="http://schemas.openxmlformats.org/officeDocument/2006/relationships/notesSlide" Target="/ppt/notesSlides/notesSlide35.xml" Id="Rbad499ca01434c4e"/></Relationships>
</file>

<file path=ppt/slides/_rels/slide3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cffb1547fdb4324"/><Relationship Type="http://schemas.openxmlformats.org/officeDocument/2006/relationships/notesSlide" Target="/ppt/notesSlides/notesSlide36.xml" Id="R0417874f5a0741de"/></Relationships>
</file>

<file path=ppt/slides/_rels/slide3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26df22682894d97"/><Relationship Type="http://schemas.openxmlformats.org/officeDocument/2006/relationships/notesSlide" Target="/ppt/notesSlides/notesSlide37.xml" Id="Rbb56d1c1eadb4eb3"/></Relationships>
</file>

<file path=ppt/slides/_rels/slide3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e8c93ec58784743"/><Relationship Type="http://schemas.openxmlformats.org/officeDocument/2006/relationships/notesSlide" Target="/ppt/notesSlides/notesSlide38.xml" Id="Rc4679ea129494078"/></Relationships>
</file>

<file path=ppt/slides/_rels/slide3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d4383aad90a4532"/><Relationship Type="http://schemas.openxmlformats.org/officeDocument/2006/relationships/image" Target="../media/image.png" Id="R7da6a9b8ce274e43"/><Relationship Type="http://schemas.openxmlformats.org/officeDocument/2006/relationships/notesSlide" Target="/ppt/notesSlides/notesSlide39.xml" Id="R3098f897c3e4454f"/></Relationships>
</file>

<file path=ppt/slides/_rels/slide4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e482da34160476b"/><Relationship Type="http://schemas.openxmlformats.org/officeDocument/2006/relationships/notesSlide" Target="/ppt/notesSlides/notesSlide40.xml" Id="R958f19c94c764cd9"/></Relationships>
</file>

<file path=ppt/slides/_rels/slide4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17b18a056b44dfb"/><Relationship Type="http://schemas.openxmlformats.org/officeDocument/2006/relationships/notesSlide" Target="/ppt/notesSlides/notesSlide41.xml" Id="R7f1150cdc5c3490f"/></Relationships>
</file>

<file path=ppt/slides/_rels/slide4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b55fd49f3174e7d"/><Relationship Type="http://schemas.openxmlformats.org/officeDocument/2006/relationships/notesSlide" Target="/ppt/notesSlides/notesSlide42.xml" Id="R8e841e3594044db3"/></Relationships>
</file>

<file path=ppt/slides/_rels/slide4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d0226ec1920438f"/><Relationship Type="http://schemas.openxmlformats.org/officeDocument/2006/relationships/notesSlide" Target="/ppt/notesSlides/notesSlide43.xml" Id="Ra2b170a90375465e"/></Relationships>
</file>

<file path=ppt/slides/_rels/slide4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7341f29644444c7"/><Relationship Type="http://schemas.openxmlformats.org/officeDocument/2006/relationships/notesSlide" Target="/ppt/notesSlides/notesSlide44.xml" Id="R7086cf2c1c264991"/></Relationships>
</file>

<file path=ppt/slides/_rels/slide4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4e2635efd1f4be2"/><Relationship Type="http://schemas.openxmlformats.org/officeDocument/2006/relationships/notesSlide" Target="/ppt/notesSlides/notesSlide45.xml" Id="Reede1073165849de"/></Relationships>
</file>

<file path=ppt/slides/_rels/slide4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803e32e469f497d"/><Relationship Type="http://schemas.openxmlformats.org/officeDocument/2006/relationships/notesSlide" Target="/ppt/notesSlides/notesSlide46.xml" Id="R225f1a5cffe14eff"/></Relationships>
</file>

<file path=ppt/slides/_rels/slide4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333a2b9a8bb4a27"/><Relationship Type="http://schemas.openxmlformats.org/officeDocument/2006/relationships/notesSlide" Target="/ppt/notesSlides/notesSlide47.xml" Id="R06f0e1aff8564a35"/></Relationships>
</file>

<file path=ppt/slides/_rels/slide4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206b8d6e91f4247"/><Relationship Type="http://schemas.openxmlformats.org/officeDocument/2006/relationships/notesSlide" Target="/ppt/notesSlides/notesSlide48.xml" Id="R63036635618b42ed"/></Relationships>
</file>

<file path=ppt/slides/_rels/slide4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547499168f24061"/><Relationship Type="http://schemas.openxmlformats.org/officeDocument/2006/relationships/notesSlide" Target="/ppt/notesSlides/notesSlide49.xml" Id="R4c3a97995ae942dd"/></Relationships>
</file>

<file path=ppt/slides/_rels/slide5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9128b1d67524ab1"/><Relationship Type="http://schemas.openxmlformats.org/officeDocument/2006/relationships/notesSlide" Target="/ppt/notesSlides/notesSlide50.xml" Id="Ra9bbf20930eb4a7b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9DE5276-07F0-46BA-91FB-64785CB0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51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把爱说出来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13C3B781-F6BA-4D5F-B490-B31AAF82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中二高级华文　单元一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3CFE173D-F68B-4055-A27A-CAD3FBE0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有爱在心，为什么难以开口？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5D9F9-4ED8-4204-9095-FBDE45A8AC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2caa899bd1479a"/>
          <a:srcRect xmlns:a="http://schemas.openxmlformats.org/drawingml/2006/main" l="684" t="58919" r="50195" b="24089"/>
          <a:stretch xmlns:a="http://schemas.openxmlformats.org/drawingml/2006/main"/>
        </p:blipFill>
        <p:spPr>
          <a:xfrm xmlns:a="http://schemas.openxmlformats.org/drawingml/2006/main">
            <a:off x="6819900" y="2190750"/>
            <a:ext cx="4762500" cy="247119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916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774393D9-6AAF-4BC8-8446-25974744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一句话的温暖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D8BF6E1B-178F-496F-B349-FA4950C2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905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有人真诚地感谢你时，</a:t>
            </a:r>
          </a:p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你有什么感受？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B20750E9-AC4A-4883-BD8F-A5FD4907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先想一想，不必公开私人经历。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D84D9-A707-4DC3-82F6-DE1746794B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869422ac6e4260"/>
          <a:srcRect xmlns:a="http://schemas.openxmlformats.org/drawingml/2006/main" l="50391" t="5208" r="586" b="78516"/>
          <a:stretch xmlns:a="http://schemas.openxmlformats.org/drawingml/2006/main"/>
        </p:blipFill>
        <p:spPr>
          <a:xfrm xmlns:a="http://schemas.openxmlformats.org/drawingml/2006/main">
            <a:off x="6819900" y="2190750"/>
            <a:ext cx="4762500" cy="23717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45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AB73110-8E5C-417C-BEF4-529444F7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今天读懂什么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557E003C-CEA7-4365-89C6-745387EE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比较人物表达爱的方式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BF1EB8A4-796F-4221-8B12-EF51365B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用原文解释心理变化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6BA7CBA0-2F88-40D8-AFAB-E650E1C1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说明结尾歌声与主题的关系</a:t>
            </a:r>
          </a:p>
        </p:txBody>
      </p:sp>
    </p:spTree>
    <p:extLst>
      <p:ext uri="{BB962C8B-B14F-4D97-AF65-F5344CB8AC3E}">
        <p14:creationId xmlns:p14="http://schemas.microsoft.com/office/powerpoint/2010/main" val="9871007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00D565-2B55-4E5A-A9A6-BB7E5B8A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女儿的崇拜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77E8662B-3FE2-4ECA-8CC0-29BF0A04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从哪里可以看出女儿很崇拜“我”？</a:t>
            </a:r>
          </a:p>
        </p:txBody>
      </p:sp>
    </p:spTree>
    <p:extLst>
      <p:ext uri="{BB962C8B-B14F-4D97-AF65-F5344CB8AC3E}">
        <p14:creationId xmlns:p14="http://schemas.microsoft.com/office/powerpoint/2010/main" val="20132796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0714955-7400-481E-AFCB-2994DB96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证据怎样回答问题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DA204021-3A91-480A-9EE5-D41402FF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“再三赞叹”表现反复称赞。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205073EF-6830-43CF-91CB-79491B0E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905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“再看一遍”“爱不释手”表现珍</a:t>
            </a:r>
          </a:p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爱文章。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46C05690-A386-4950-B92C-932D21DB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这些具体表现支持“崇拜”。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4AE03F41-EE8D-4E0E-A153-25DA3DF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直接信息（direct info）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5CE06-5500-4E85-B4E6-9A4C88CA79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e8c9e667c4180"/>
          <a:srcRect xmlns:a="http://schemas.openxmlformats.org/drawingml/2006/main" l="684" t="21680" r="50195" b="61654"/>
          <a:stretch xmlns:a="http://schemas.openxmlformats.org/drawingml/2006/main"/>
        </p:blipFill>
        <p:spPr>
          <a:xfrm xmlns:a="http://schemas.openxmlformats.org/drawingml/2006/main">
            <a:off x="6819900" y="2190750"/>
            <a:ext cx="4762500" cy="242385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855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D9DB1EA-5401-4E85-8325-EF676D5D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同样听文章，不同表现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06874ACF-C9D0-42E5-B9AD-EF6C2CDB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儿子的表现和女儿的有什么不一样？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80A7D1DD-BEFB-4065-B128-6694E5B6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同一件事，两个人都要答。</a:t>
            </a:r>
          </a:p>
        </p:txBody>
      </p:sp>
    </p:spTree>
    <p:extLst>
      <p:ext uri="{BB962C8B-B14F-4D97-AF65-F5344CB8AC3E}">
        <p14:creationId xmlns:p14="http://schemas.microsoft.com/office/powerpoint/2010/main" val="3432534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C6376A6-04A6-430A-ADA8-6358B6BA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比较的是具体表现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F724E92E-9EC9-4C17-BA26-1FECEC75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女儿：赞叹，又拿文章重读。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0C3B90B9-327A-4940-8F4C-9C328D4A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儿子：拒绝听，马上逃走。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136FAE2B-69CA-4DC5-9F5F-152F53F2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“截然相反”只是概括。</a:t>
            </a:r>
          </a:p>
        </p:txBody>
      </p:sp>
    </p:spTree>
    <p:extLst>
      <p:ext uri="{BB962C8B-B14F-4D97-AF65-F5344CB8AC3E}">
        <p14:creationId xmlns:p14="http://schemas.microsoft.com/office/powerpoint/2010/main" val="3887284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713FDF92-7946-47E9-9A94-2CD4D712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女儿为什么“张大眼睛”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00E0E69A-A3DE-4427-9711-FE7318AC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可以删掉“张大眼睛”吗？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36E80937-3BFD-453E-89FF-A5E31A35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为什么？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1E49F03B-8E2A-4367-9C80-3EDF6430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细节的作用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91BF42-0129-43E8-9C71-D2ADE2CCE5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bc91e6ca0d4b86"/>
          <a:srcRect xmlns:a="http://schemas.openxmlformats.org/drawingml/2006/main" l="50391" t="38737" r="586" b="43359"/>
          <a:stretch xmlns:a="http://schemas.openxmlformats.org/drawingml/2006/main"/>
        </p:blipFill>
        <p:spPr>
          <a:xfrm xmlns:a="http://schemas.openxmlformats.org/drawingml/2006/main">
            <a:off x="6819900" y="2190750"/>
            <a:ext cx="4762500" cy="260893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8895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8DF246D5-95E7-4EEE-AE28-851AD331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神态配合真诚的赞美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644D1157-8C16-4D5D-9674-0844909B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不宜删掉。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9BD3C1FD-8633-432D-80A0-0AC66DB0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“张大眼睛”表现惊喜与欣赏。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891EC46C-CC50-4499-9C91-3EA3FCFA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它和“真诚”“双眼含笑”等互相配合。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8F291643-A1C2-4AAF-8CBF-9B713C5C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课本归为外貌描写，细分是神态。</a:t>
            </a:r>
          </a:p>
        </p:txBody>
      </p:sp>
    </p:spTree>
    <p:extLst>
      <p:ext uri="{BB962C8B-B14F-4D97-AF65-F5344CB8AC3E}">
        <p14:creationId xmlns:p14="http://schemas.microsoft.com/office/powerpoint/2010/main" val="14137116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7A5237-8CFE-48D1-8CCE-7F2838B8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儿子爱“我”吗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4301FD4C-1722-42FD-877B-FDD1C9F2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你觉得儿子爱“我”吗？为什么？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483FA913-2894-4D44-9FCA-7A4F6E78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哪些是事实？哪些是推断？</a:t>
            </a:r>
          </a:p>
        </p:txBody>
      </p:sp>
    </p:spTree>
    <p:extLst>
      <p:ext uri="{BB962C8B-B14F-4D97-AF65-F5344CB8AC3E}">
        <p14:creationId xmlns:p14="http://schemas.microsoft.com/office/powerpoint/2010/main" val="20665992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BA328BAD-895F-486B-8DD3-CD90D414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判断不能超过证据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5406957A-C31F-456C-A2A8-489FD886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事实：儿子拒听文章，否定妹妹的赞美。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3BD657DB-09B1-4939-873C-1DE4DE80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可能：他不习惯赞美、说出感情。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D4D072E7-20AD-4B9E-AAFF-0664CAA9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不能单凭这些表现断定他不爱妈妈。</a:t>
            </a:r>
          </a:p>
        </p:txBody>
      </p:sp>
    </p:spTree>
    <p:extLst>
      <p:ext uri="{BB962C8B-B14F-4D97-AF65-F5344CB8AC3E}">
        <p14:creationId xmlns:p14="http://schemas.microsoft.com/office/powerpoint/2010/main" val="1104085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A606FF-3E10-49F2-90FE-1CB3B0C2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“我”的感受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06CC3220-9D54-4177-B59B-E277DFED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结合上文女儿和儿子的表现，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09E1988D-BCD3-4E5B-8C78-0148780B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说说“我”的感受。</a:t>
            </a:r>
          </a:p>
        </p:txBody>
      </p:sp>
    </p:spTree>
    <p:extLst>
      <p:ext uri="{BB962C8B-B14F-4D97-AF65-F5344CB8AC3E}">
        <p14:creationId xmlns:p14="http://schemas.microsoft.com/office/powerpoint/2010/main" val="10932476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A26D248-D256-41FA-A32B-B44E9378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女儿的话让“我”温暖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DD055A3D-7746-4DA0-A6A5-F8FAAA34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第1段：有成就感。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4978FF2B-2580-4155-93B1-222CC7BE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第3段：无比愉快。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43CCBC61-A195-41D1-BD17-BD5CB59B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第8段：看到卡片，觉得再辛苦也值得。</a:t>
            </a:r>
          </a:p>
        </p:txBody>
      </p:sp>
    </p:spTree>
    <p:extLst>
      <p:ext uri="{BB962C8B-B14F-4D97-AF65-F5344CB8AC3E}">
        <p14:creationId xmlns:p14="http://schemas.microsoft.com/office/powerpoint/2010/main" val="18075121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CA91B8B-0584-4344-8E78-A4C1F4B3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第九段　母亲的情况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38E8CD0A-9F3E-49B7-AD12-B6762FF1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为什么作者要写父亲过世后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5AC0751C-27D7-42D0-9F40-BC8EDEC8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母亲的情况？</a:t>
            </a:r>
          </a:p>
        </p:txBody>
      </p:sp>
    </p:spTree>
    <p:extLst>
      <p:ext uri="{BB962C8B-B14F-4D97-AF65-F5344CB8AC3E}">
        <p14:creationId xmlns:p14="http://schemas.microsoft.com/office/powerpoint/2010/main" val="6062461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3B86E8D3-3580-46F7-B493-FC00BF80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理解母亲的心情与付出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7807C850-065B-4DDF-BFE1-8A208976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父亲过世后，母亲抑郁、沉默寡言。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52D38743-E40A-4EA4-A00E-CF40F3CE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她仍旧照顾家人、承担家务。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FEFFF577-1CF6-4D3F-A66B-ACF34119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这些内容让我们理解“我”的感激。</a:t>
            </a:r>
          </a:p>
        </p:txBody>
      </p:sp>
    </p:spTree>
    <p:extLst>
      <p:ext uri="{BB962C8B-B14F-4D97-AF65-F5344CB8AC3E}">
        <p14:creationId xmlns:p14="http://schemas.microsoft.com/office/powerpoint/2010/main" val="14669583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95EAA0B-1C8D-49C4-8997-DB34C2C5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第10段写了什么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3D25CEBD-EC08-42E1-B900-2C21E486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第10段主要运用了哪一种人物描写？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2954DAB2-82B9-4AB0-8AAC-1A4929FE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表现了“我”怎样的特点？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AA15D1C7-9DEA-4421-8C7B-2960032A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是说出口的话，还是心里想的？</a:t>
            </a:r>
          </a:p>
        </p:txBody>
      </p:sp>
    </p:spTree>
    <p:extLst>
      <p:ext uri="{BB962C8B-B14F-4D97-AF65-F5344CB8AC3E}">
        <p14:creationId xmlns:p14="http://schemas.microsoft.com/office/powerpoint/2010/main" val="1694763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4D2E881-19FF-4885-B02F-71FBCDC7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从感激到决定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9085C64E-C7A3-47ED-950B-E8BD485D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“一边想”“扪心自问”：心理描写。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C8E8BA92-2CD5-4B59-BD36-98E61227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感谢母亲的付出：懂得感恩。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87BFAE29-E42D-45A8-8596-EB84EB07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反省自己从未表达：善于反思。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E0637806-F327-4171-A0C3-44FBB1B3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体会女儿话语的温暖，决定学习她。</a:t>
            </a:r>
          </a:p>
        </p:txBody>
      </p:sp>
    </p:spTree>
    <p:extLst>
      <p:ext uri="{BB962C8B-B14F-4D97-AF65-F5344CB8AC3E}">
        <p14:creationId xmlns:p14="http://schemas.microsoft.com/office/powerpoint/2010/main" val="14887739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FDDA5D7-2AFA-4724-A3F6-8CABA19B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反思自己的两个问句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7B4A8589-A773-45A8-9BA1-26A704DB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“我不是常常因为女儿的甜言蜜语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7752716E-09B1-444A-A5C7-EC91092B1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而感到幸福吗？”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845CE6F6-5758-4E06-8FB2-E186FC72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“我是不是应该学学女儿，勇敢地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F90E56BB-4539-4753-9F9E-40E2A154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向母亲表达感谢，表达爱呢？”</a:t>
            </a:r>
          </a:p>
        </p:txBody>
      </p:sp>
    </p:spTree>
    <p:extLst>
      <p:ext uri="{BB962C8B-B14F-4D97-AF65-F5344CB8AC3E}">
        <p14:creationId xmlns:p14="http://schemas.microsoft.com/office/powerpoint/2010/main" val="7833878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C865581-0784-46DD-99AA-85E7501A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第十一段　下定决心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4053E994-2F37-43BC-9D98-3C318A13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第11段可不可以删掉？为什么？</a:t>
            </a:r>
          </a:p>
        </p:txBody>
      </p:sp>
    </p:spTree>
    <p:extLst>
      <p:ext uri="{BB962C8B-B14F-4D97-AF65-F5344CB8AC3E}">
        <p14:creationId xmlns:p14="http://schemas.microsoft.com/office/powerpoint/2010/main" val="3307998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1432FF4D-E810-4584-87CA-3152110F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承接反思，引出尝试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CEEDA661-3A6A-4638-AEEB-0D900BE6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不宜删掉。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319778BC-8ECB-4470-90B9-06BA8C0E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这一段写“我”下定决心。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5468A11F-6FAB-4437-8F8E-6C5A2ABF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它承接上文的反思，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42599EEB-DBE8-4779-A9F2-7B4AF078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引出下文向母亲表达爱的尝试。</a:t>
            </a:r>
          </a:p>
        </p:txBody>
      </p:sp>
    </p:spTree>
    <p:extLst>
      <p:ext uri="{BB962C8B-B14F-4D97-AF65-F5344CB8AC3E}">
        <p14:creationId xmlns:p14="http://schemas.microsoft.com/office/powerpoint/2010/main" val="52889990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20112A2-87F7-40D0-9EFD-1F9AEAFA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第二课　迟迟说不出口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EB045D25-1D87-4103-B247-89F8DDBA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第十二至十五段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3640BA8C-5B02-43AB-9672-1E4A3497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下定决心后，为什么还会退缩？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F6D4A-4A56-4B62-AF96-14AC2B28C2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9e236febc4ef3"/>
          <a:srcRect xmlns:a="http://schemas.openxmlformats.org/drawingml/2006/main" l="684" t="5208" r="50195" b="76823"/>
          <a:stretch xmlns:a="http://schemas.openxmlformats.org/drawingml/2006/main"/>
        </p:blipFill>
        <p:spPr>
          <a:xfrm xmlns:a="http://schemas.openxmlformats.org/drawingml/2006/main">
            <a:off x="6819900" y="2190750"/>
            <a:ext cx="4762500" cy="261322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80858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1A5349E-9D73-47D9-A654-418E8F3C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第一次一定最难吗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933305E2-D90E-4C2B-B186-B9F07057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“我”认为第一次对母亲说出爱总是最难的。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7FC76C10-10C8-46DC-8673-320354A6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你同意吗？为什么？</a:t>
            </a:r>
          </a:p>
        </p:txBody>
      </p:sp>
    </p:spTree>
    <p:extLst>
      <p:ext uri="{BB962C8B-B14F-4D97-AF65-F5344CB8AC3E}">
        <p14:creationId xmlns:p14="http://schemas.microsoft.com/office/powerpoint/2010/main" val="164605597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DBEBEB0-D6A9-4D80-837A-551089FA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不同立场怎样成立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EAC8C9DF-15DD-41E1-AB3D-64D409CF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对不习惯表达的人，第一次要克服害羞。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388FAF38-CB29-4DEA-B450-765F9CE8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对平时常表达的人，开口可能较自然。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8482FFA0-2588-4BA7-B4AF-1AAB3800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因此可以同意、部分同意或不同意，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701F91CD-CF97-4795-96D0-0AE22C96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但理由必须说明适用的人或条件。</a:t>
            </a:r>
          </a:p>
        </p:txBody>
      </p:sp>
    </p:spTree>
    <p:extLst>
      <p:ext uri="{BB962C8B-B14F-4D97-AF65-F5344CB8AC3E}">
        <p14:creationId xmlns:p14="http://schemas.microsoft.com/office/powerpoint/2010/main" val="123083814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BBCE1467-E4EB-40AE-8E9F-EC5F3EF4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惯用语的比喻义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28F3C3EC-547F-464B-AC14-9E220E06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碰钉子：遭到拒绝，目标未达到。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A2CC0D54-BDFD-4714-8AD3-5D726217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泼冷水：打击别人的热情。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720715D0-E85B-4448-A211-870A9E88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口头禅：经常挂在口头的习惯语。</a:t>
            </a:r>
          </a:p>
        </p:txBody>
      </p:sp>
    </p:spTree>
    <p:extLst>
      <p:ext uri="{BB962C8B-B14F-4D97-AF65-F5344CB8AC3E}">
        <p14:creationId xmlns:p14="http://schemas.microsoft.com/office/powerpoint/2010/main" val="152859516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EDBBD61-1DE1-4B59-B2BE-5A49186F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惯用语中的不同关系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8BBC4DEA-A3C4-484D-BFE4-B6C4CC23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拍马屁：用好听的话讨好别人。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9F72A5E2-9DB4-48BC-80E8-8A6916CC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打退堂鼓：自己做事中途退缩。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96349222-902F-4821-9EA0-5940B9EC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谁对谁做什么？</a:t>
            </a:r>
          </a:p>
        </p:txBody>
      </p:sp>
    </p:spTree>
    <p:extLst>
      <p:ext uri="{BB962C8B-B14F-4D97-AF65-F5344CB8AC3E}">
        <p14:creationId xmlns:p14="http://schemas.microsoft.com/office/powerpoint/2010/main" val="14251995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197DD50-AAFB-40AE-BAFB-F38817FD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用什么惯用语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6494DF2A-90A4-4244-9121-E8839055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1. 他常常乱花钱，今天又向妈妈要钱，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FEFEB3F9-195C-4CA7-BFFC-B0E5C938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　结果________。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30440027-9DD0-4893-BD32-62100636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2. 我们要对自己有信心，不要一遇到困难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CCAA85A4-4F2E-4239-B35C-E077CBF3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　就________。</a:t>
            </a:r>
          </a:p>
        </p:txBody>
      </p:sp>
      <p:sp>
        <p:nvSpPr>
          <p:cNvPr id="6" name="body-4">
            <a:extLst xmlns:a="http://schemas.openxmlformats.org/drawingml/2006/main">
              <a:ext uri="{FF2B5EF4-FFF2-40B4-BE49-F238E27FC236}">
                <a16:creationId xmlns:a16="http://schemas.microsoft.com/office/drawing/2014/main" id="{A542531A-6218-4D1E-B07B-1F8B8955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3. 我想去学街舞，但哥哥一直给我________，</a:t>
            </a:r>
          </a:p>
        </p:txBody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D1A631EC-80B7-4125-9663-E6DF16B7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　说我不适合跳舞。</a:t>
            </a:r>
          </a:p>
        </p:txBody>
      </p:sp>
    </p:spTree>
    <p:extLst>
      <p:ext uri="{BB962C8B-B14F-4D97-AF65-F5344CB8AC3E}">
        <p14:creationId xmlns:p14="http://schemas.microsoft.com/office/powerpoint/2010/main" val="9519642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28F0C15E-85D3-401F-9270-105B4E25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惯用语答案与依据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BF3E9F9B-4AB9-4076-901A-0BCCDA1D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1. 碰钉子：妈妈拒绝了要钱的要求。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1C7780F7-448D-43D6-B289-1AD7AA75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2. 打退堂鼓：遇到困难，自己退缩。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DB43CDEC-8CDA-4009-9FCF-02717A29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3. 泼冷水：哥哥的话打击我的热情。</a:t>
            </a:r>
          </a:p>
        </p:txBody>
      </p:sp>
    </p:spTree>
    <p:extLst>
      <p:ext uri="{BB962C8B-B14F-4D97-AF65-F5344CB8AC3E}">
        <p14:creationId xmlns:p14="http://schemas.microsoft.com/office/powerpoint/2010/main" val="213555408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56B710-5EAE-40BC-9FF7-AEBF870D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“破天荒”指什么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72A4AF77-96D3-43F2-ABEA-6D38E3F7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“破天荒”是什么意思？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933EE2B2-47E0-4E87-B626-7EC87F2E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在文中有什么含义？</a:t>
            </a:r>
          </a:p>
        </p:txBody>
      </p:sp>
    </p:spTree>
    <p:extLst>
      <p:ext uri="{BB962C8B-B14F-4D97-AF65-F5344CB8AC3E}">
        <p14:creationId xmlns:p14="http://schemas.microsoft.com/office/powerpoint/2010/main" val="97564850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D0A7FC6-E2AB-4878-9BBE-7FF9DF07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第一次说出感谢和爱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4EDB115D-4C92-43E5-B25D-D2D1DEA6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“破天荒”：以前从未有过。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41820691-B70A-4509-8E6E-AF93F775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文中指“我”第一次直接向母亲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971EF3D9-27CD-461F-A278-F5520930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说出感谢和爱。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9FB482FA-73F5-408C-A8EE-B2F1A2E0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她以前已有关爱，只是不曾这样表达。</a:t>
            </a:r>
          </a:p>
        </p:txBody>
      </p:sp>
    </p:spTree>
    <p:extLst>
      <p:ext uri="{BB962C8B-B14F-4D97-AF65-F5344CB8AC3E}">
        <p14:creationId xmlns:p14="http://schemas.microsoft.com/office/powerpoint/2010/main" val="132829211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FD7938A-7EA6-42E8-9A5C-EC473AE0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为什么难以表达爱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772E86F5-0A9B-487C-9DAC-4F18F33C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结合上文，说一说为什么“我”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75AA5D5F-8B14-4747-8042-D3560346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难以向母亲表达爱。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C5BDF624-4155-4932-BEAC-C06EA456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证据 → 原因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A97AFAC6-9EAC-4696-8447-C564DD20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不能只复述吃饭的经过。</a:t>
            </a:r>
          </a:p>
        </p:txBody>
      </p:sp>
    </p:spTree>
    <p:extLst>
      <p:ext uri="{BB962C8B-B14F-4D97-AF65-F5344CB8AC3E}">
        <p14:creationId xmlns:p14="http://schemas.microsoft.com/office/powerpoint/2010/main" val="168110620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9531F584-C967-4FEA-8F5A-31A992E2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原因要由证据推出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66503A25-DC0B-45E2-A936-203ACF99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“从未”“第一次”：不习惯直接表达。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E4119BA4-92E0-462C-8B23-0102A0E5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“害羞”“心里有些疙瘩”：难为情。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78D61F1D-A18B-4C30-B937-3C47F816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所以面对母亲时，迟迟说不出口。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03BF2F26-31A4-407D-B6F4-86A26229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特定文化影响只是可能原因。</a:t>
            </a:r>
          </a:p>
        </p:txBody>
      </p:sp>
    </p:spTree>
    <p:extLst>
      <p:ext uri="{BB962C8B-B14F-4D97-AF65-F5344CB8AC3E}">
        <p14:creationId xmlns:p14="http://schemas.microsoft.com/office/powerpoint/2010/main" val="98735107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8AACA47-9AA8-41A9-AB25-112840E2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能否删去这个比较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60C6CB2F-5CDE-4F46-BA5E-DD3830E2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可以去掉“比当年参加毕业考试”吗？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BA2BDD8B-3540-498E-B571-4BDE4FCC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为什么？</a:t>
            </a:r>
          </a:p>
        </p:txBody>
      </p:sp>
    </p:spTree>
    <p:extLst>
      <p:ext uri="{BB962C8B-B14F-4D97-AF65-F5344CB8AC3E}">
        <p14:creationId xmlns:p14="http://schemas.microsoft.com/office/powerpoint/2010/main" val="108867282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DDEE757-CF51-44C1-B85F-3E2926A0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比较突出紧张程度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4EF01513-9081-457C-AFDF-232BA697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不宜去掉。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52E00BC0-1852-492B-B349-DED671E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把这次示爱与毕业考试的紧张作比较，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F3E37A20-7731-43D6-9D0D-2BC15FFF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突出向母亲表达爱时格外紧张。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69B7F0A4-0FF6-419E-9075-BF34CCC3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只说“紧张”，未说明紧张的程度。</a:t>
            </a:r>
          </a:p>
        </p:txBody>
      </p:sp>
    </p:spTree>
    <p:extLst>
      <p:ext uri="{BB962C8B-B14F-4D97-AF65-F5344CB8AC3E}">
        <p14:creationId xmlns:p14="http://schemas.microsoft.com/office/powerpoint/2010/main" val="7958962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2FD1BDF-902C-4B6B-B3D4-0F123B5C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“我”的心理变化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97CF3F29-A75C-4370-AB53-B469EFE2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下定决心（第11段）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413DB968-7F98-4E5C-8CD9-C1CF06C2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害羞退缩，又鼓励自己（第12段）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3C1C1DDC-EF87-41AF-A400-EEEB4021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寻找机会，仍不自在（第13段）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DAED9170-6594-4C4C-988E-70F0CBA5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终于开口，紧张离开（第14–15段）</a:t>
            </a:r>
          </a:p>
        </p:txBody>
      </p:sp>
    </p:spTree>
    <p:extLst>
      <p:ext uri="{BB962C8B-B14F-4D97-AF65-F5344CB8AC3E}">
        <p14:creationId xmlns:p14="http://schemas.microsoft.com/office/powerpoint/2010/main" val="92231805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897811-5FA8-4473-8DA3-7B081B8F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第三课　熟悉的歌声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F276DD84-FF7D-4804-B1EC-B3A3686D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那天傍晚下班回家，我一进门就听见母亲的歌声。她一边在厨房</a:t>
            </a:r>
          </a:p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忙着准备晚餐，一边唱着歌。自从父亲过世后，我还是第一次听</a:t>
            </a:r>
          </a:p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到这熟悉的歌声。</a:t>
            </a:r>
          </a:p>
        </p:txBody>
      </p:sp>
    </p:spTree>
    <p:extLst>
      <p:ext uri="{BB962C8B-B14F-4D97-AF65-F5344CB8AC3E}">
        <p14:creationId xmlns:p14="http://schemas.microsoft.com/office/powerpoint/2010/main" val="152853653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D7ECE04-C798-47E6-953D-96BF817C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两次表达爱的回应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48C37786-D982-4605-ADF2-19E7022C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女儿对“我”表达爱：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139A9892-5897-43AA-BE60-DCBF00D2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“我”的反应与感受是什么？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142E94E4-37D8-482A-9223-65B1BFC7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“我”对母亲表达爱：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D93E7807-9FC7-478D-8000-94CF570E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母亲的反应与感受是什么？</a:t>
            </a:r>
          </a:p>
        </p:txBody>
      </p:sp>
      <p:sp>
        <p:nvSpPr>
          <p:cNvPr id="6" name="body-4">
            <a:extLst xmlns:a="http://schemas.openxmlformats.org/drawingml/2006/main">
              <a:ext uri="{FF2B5EF4-FFF2-40B4-BE49-F238E27FC236}">
                <a16:creationId xmlns:a16="http://schemas.microsoft.com/office/drawing/2014/main" id="{2967AF5F-FC8D-493E-A2AA-7ACA2285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行为写得明白，感受需要推断。</a:t>
            </a:r>
          </a:p>
        </p:txBody>
      </p:sp>
    </p:spTree>
    <p:extLst>
      <p:ext uri="{BB962C8B-B14F-4D97-AF65-F5344CB8AC3E}">
        <p14:creationId xmlns:p14="http://schemas.microsoft.com/office/powerpoint/2010/main" val="61052789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85B0A02C-F2A2-4EF2-ADF8-395E221E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直接信息与必要推断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B30B6037-0C25-4589-8A35-FC83651A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“我”：有成就感、愉快，辛苦也值得。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757321F4-7EB1-4EA3-8E38-5B263C1E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母亲的行为：一边做饭，一边唱歌。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12CAA01D-B0AA-4D47-97F4-8FDE4D40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母亲的感受：受到爱与安慰，心情好转。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5AC470A3-8339-4ED9-869B-3F31FB48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后一点须结合第9段的沉默来推断。</a:t>
            </a:r>
          </a:p>
        </p:txBody>
      </p:sp>
    </p:spTree>
    <p:extLst>
      <p:ext uri="{BB962C8B-B14F-4D97-AF65-F5344CB8AC3E}">
        <p14:creationId xmlns:p14="http://schemas.microsoft.com/office/powerpoint/2010/main" val="186643177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B3922E8E-BD8E-4CAC-BD1D-3BCBA5A7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最后一句的含义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50691238-DE75-4720-A06E-181F81DF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最后一句话有什么含义？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058E7AF7-1CEB-4022-8DC8-4C94EFD7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“自从父亲过世后，我还是第一次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A7B4A660-0EAF-4ECC-B471-41185445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听到这熟悉的歌声。”</a:t>
            </a:r>
          </a:p>
        </p:txBody>
      </p:sp>
    </p:spTree>
    <p:extLst>
      <p:ext uri="{BB962C8B-B14F-4D97-AF65-F5344CB8AC3E}">
        <p14:creationId xmlns:p14="http://schemas.microsoft.com/office/powerpoint/2010/main" val="31323665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AAF3803-2D25-4364-B586-19F0FF78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歌声表现爱的力量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9071320C-9B4F-4FF0-9D4E-6BC4A7E0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第9段：抑郁、沉默寡言。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EB8A4D9F-7820-43C1-AA82-642F6478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第16段：重新唱起歌。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F3F5AC9A-E87D-4811-A27A-A001F9FD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905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母亲感受到爱与安慰，心情有所转</a:t>
            </a:r>
          </a:p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变。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36A4CAE1-7893-4E2A-BF5D-57ACAFA9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5905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不能推断她从此完全摆脱悲痛。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11510-DCDA-4766-9691-20D7CF2B0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6a9b8ce274e43"/>
          <a:srcRect xmlns:a="http://schemas.openxmlformats.org/drawingml/2006/main" l="50391" t="76302" r="586" b="911"/>
          <a:stretch xmlns:a="http://schemas.openxmlformats.org/drawingml/2006/main"/>
        </p:blipFill>
        <p:spPr>
          <a:xfrm xmlns:a="http://schemas.openxmlformats.org/drawingml/2006/main">
            <a:off x="6819900" y="2190750"/>
            <a:ext cx="4762500" cy="332046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50656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D4C5CB-7988-4146-8904-0C5D8DE3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文章主题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078CF316-609F-41C5-ADF7-FFF671C0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“爱的语言让人觉得温暖，我们应该……”</a:t>
            </a:r>
          </a:p>
        </p:txBody>
      </p:sp>
    </p:spTree>
    <p:extLst>
      <p:ext uri="{BB962C8B-B14F-4D97-AF65-F5344CB8AC3E}">
        <p14:creationId xmlns:p14="http://schemas.microsoft.com/office/powerpoint/2010/main" val="147704106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726E679B-12E0-4851-AC68-0F3E64A4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主题与两次表达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B5AA30E4-EB2B-49CC-A947-B7A20513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我们应该把爱真诚地表达出来。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BF70E54D-10B6-4C96-822B-AB98437E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女儿的话，让“我”感到温暖。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E028A1C6-D87F-46C7-88C3-014F1186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“我”的表达，让母亲重新唱歌。</a:t>
            </a:r>
          </a:p>
        </p:txBody>
      </p:sp>
    </p:spTree>
    <p:extLst>
      <p:ext uri="{BB962C8B-B14F-4D97-AF65-F5344CB8AC3E}">
        <p14:creationId xmlns:p14="http://schemas.microsoft.com/office/powerpoint/2010/main" val="114155699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8921C6E-AE36-44FD-ABCB-E3790B60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通过比较把握人物特点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F5E0ABC7-05B5-43AE-895C-BAAA158C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从文中画出描写儿子、女儿和“我”的句子，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EA60953E-C162-4440-A722-50F81401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通过比较把握人物特点，理解文章主题。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1FA8F8AD-82C1-40FD-B697-5CACE1EE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特点 ＋ 行为依据 ＋ 解释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04FB7DA3-B10E-4BED-8D17-DF3CCFEB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先自主概括，不从选项里挑特点。</a:t>
            </a:r>
          </a:p>
        </p:txBody>
      </p:sp>
    </p:spTree>
    <p:extLst>
      <p:ext uri="{BB962C8B-B14F-4D97-AF65-F5344CB8AC3E}">
        <p14:creationId xmlns:p14="http://schemas.microsoft.com/office/powerpoint/2010/main" val="191273263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CAAA1DCA-04A7-48DF-A054-F3338395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儿子与女儿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196F88CE-3F64-4CDC-9EF8-24A94CB5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儿子不愿赞美，说话直接。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CF0E3F15-A84A-4E08-8364-BAFD0363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依据：拒听文章，并否定妹妹的赞美。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C7F46DB0-A46B-4084-A4CC-480952A3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女儿真诚欣赏，自然表达。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C683191A-2986-4A9B-B98F-CC6B5201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依据：赞叹、重读文章、称赞新衣。</a:t>
            </a:r>
          </a:p>
        </p:txBody>
      </p:sp>
    </p:spTree>
    <p:extLst>
      <p:ext uri="{BB962C8B-B14F-4D97-AF65-F5344CB8AC3E}">
        <p14:creationId xmlns:p14="http://schemas.microsoft.com/office/powerpoint/2010/main" val="117293847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A34A5A8-5FC8-42FF-A759-31A8BDD2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女儿与“我”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79EAB908-EFA9-41FB-985E-AB9872C3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女儿自然地把爱说出来，也写卡片。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1B9ED686-FDBF-49CF-AA28-459EC072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“我”心存感恩，懂得反思，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575C756E-C3EC-46B7-B17A-B3FBE288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却不习惯开口：害羞、低头、说话断续。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86F1B5A4-FBD7-40AF-B655-441DDF11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证据必须解释具体特点。</a:t>
            </a:r>
          </a:p>
        </p:txBody>
      </p:sp>
    </p:spTree>
    <p:extLst>
      <p:ext uri="{BB962C8B-B14F-4D97-AF65-F5344CB8AC3E}">
        <p14:creationId xmlns:p14="http://schemas.microsoft.com/office/powerpoint/2010/main" val="120421039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23BFEFF-1C71-40BC-B47E-0B3EFC6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爱需不需要说出来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DF03E283-3405-4BA6-B7F8-40A17AB3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你认为对家人的爱需不需要用语言表达出来？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DD71249A-65C2-4263-9726-53ED826D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说说你的理由。</a:t>
            </a:r>
          </a:p>
        </p:txBody>
      </p:sp>
    </p:spTree>
    <p:extLst>
      <p:ext uri="{BB962C8B-B14F-4D97-AF65-F5344CB8AC3E}">
        <p14:creationId xmlns:p14="http://schemas.microsoft.com/office/powerpoint/2010/main" val="44467025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A0767F2-DB56-449C-A9E3-9117007D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开放回应的四步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0B111C15-76B0-48AC-A707-B8FCB633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立场：我怎么看？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B37E7714-0C7D-41C5-9241-0E94CA18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理由：为什么？需要、影响或限制？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6CC07C95-E512-4245-A68C-00347266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例子：什么具体事情能说明？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0510CF47-348B-4511-8F62-4FE04599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回扣：这个例子怎样支持我的立场？</a:t>
            </a:r>
          </a:p>
        </p:txBody>
      </p:sp>
    </p:spTree>
    <p:extLst>
      <p:ext uri="{BB962C8B-B14F-4D97-AF65-F5344CB8AC3E}">
        <p14:creationId xmlns:p14="http://schemas.microsoft.com/office/powerpoint/2010/main" val="20676926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6BCF04E-BB01-4FF3-8911-665359AF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一种合理的回答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5AE97AC5-71B1-45F4-86F3-0777DC2F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我认为需要，也要配合行动。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81F75E61-A9D5-4A58-A128-8A0DC639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因为说出来能让家人明确感到被珍惜。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59EF9F1E-7255-415A-8425-79E87E03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文中“我”表达爱后，母亲重新唱歌，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97ED5E80-16C0-41F4-989A-17D99EB1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说明语言能把心里的爱传达给家人。</a:t>
            </a:r>
          </a:p>
        </p:txBody>
      </p:sp>
    </p:spTree>
    <p:extLst>
      <p:ext uri="{BB962C8B-B14F-4D97-AF65-F5344CB8AC3E}">
        <p14:creationId xmlns:p14="http://schemas.microsoft.com/office/powerpoint/2010/main" val="1708630024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8BDC65B-6034-4B10-8946-964BA068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另一种合理的方向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7FD9A9C3-7546-42A1-86F3-2392F10E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A33E35"/>
                </a:solidFill>
                <a:latin typeface="LXGW WenKai TC"/>
                <a:ea typeface="LXGW WenKai TC"/>
                <a:cs typeface="LXGW WenKai TC"/>
              </a:rPr>
              <a:t>也可以认为“不一定需要用语言”。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FA93BB30-5056-4139-B9AE-E1B44230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具体照顾也能让家人感受到爱。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63EFC84B-C27E-45FF-9421-BEE3E58A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例子须说明对方如何感受到关心，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54B116B0-4D0D-4DDA-990E-87714BE8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并解释这怎样支持你的观点。</a:t>
            </a:r>
          </a:p>
        </p:txBody>
      </p:sp>
    </p:spTree>
    <p:extLst>
      <p:ext uri="{BB962C8B-B14F-4D97-AF65-F5344CB8AC3E}">
        <p14:creationId xmlns:p14="http://schemas.microsoft.com/office/powerpoint/2010/main" val="2066913738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F0E5C64-8AAB-454C-8129-39E8F31F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答案自检与订正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0B304023-B099-4CAE-A1AF-66F62135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我的理由是否回答了“为什么”？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99E4F365-D8AD-4533-8DD9-E3209FBC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例子是否具体、与立场一致？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686F31D9-AF5E-4F8B-91F6-92B4EF0E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我有没有解释例子怎样支持观点？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6845B681-2AD1-463C-A4A3-B76086DC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保留首次回答，在订正框补足。</a:t>
            </a:r>
          </a:p>
        </p:txBody>
      </p:sp>
    </p:spTree>
    <p:extLst>
      <p:ext uri="{BB962C8B-B14F-4D97-AF65-F5344CB8AC3E}">
        <p14:creationId xmlns:p14="http://schemas.microsoft.com/office/powerpoint/2010/main" val="41722906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5566900-3A30-489F-8B39-2377AC87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defRPr>
            </a:pPr>
            <a:r>
              <a:rPr sz="3600" b="1">
                <a:solidFill>
                  <a:srgbClr val="245E51"/>
                </a:solidFill>
                <a:latin typeface="LXGW WenKai TC"/>
                <a:ea typeface="LXGW WenKai TC"/>
                <a:cs typeface="LXGW WenKai TC"/>
              </a:rPr>
              <a:t>当堂整理</a:t>
            </a:r>
          </a:p>
        </p:txBody>
      </p:sp>
      <p:sp>
        <p:nvSpPr>
          <p:cNvPr id="2" name="body-0">
            <a:extLst xmlns:a="http://schemas.openxmlformats.org/drawingml/2006/main">
              <a:ext uri="{FF2B5EF4-FFF2-40B4-BE49-F238E27FC236}">
                <a16:creationId xmlns:a16="http://schemas.microsoft.com/office/drawing/2014/main" id="{97F9D0F3-CFF8-4B06-809D-6F81EBB5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把不熟的词加入个人词语本。</a:t>
            </a:r>
          </a:p>
        </p:txBody>
      </p:sp>
      <p:sp>
        <p:nvSpPr>
          <p:cNvPr id="3" name="body-1">
            <a:extLst xmlns:a="http://schemas.openxmlformats.org/drawingml/2006/main">
              <a:ext uri="{FF2B5EF4-FFF2-40B4-BE49-F238E27FC236}">
                <a16:creationId xmlns:a16="http://schemas.microsoft.com/office/drawing/2014/main" id="{BA8B294D-FC40-47B0-BE1F-E271B964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先回想，再翻卡核对。</a:t>
            </a:r>
          </a:p>
        </p:txBody>
      </p:sp>
      <p:sp>
        <p:nvSpPr>
          <p:cNvPr id="4" name="body-2">
            <a:extLst xmlns:a="http://schemas.openxmlformats.org/drawingml/2006/main">
              <a:ext uri="{FF2B5EF4-FFF2-40B4-BE49-F238E27FC236}">
                <a16:creationId xmlns:a16="http://schemas.microsoft.com/office/drawing/2014/main" id="{5EBA5FCD-57A5-4BF9-B37E-CFF3E83D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保存或导出首次回答与订正。</a:t>
            </a:r>
          </a:p>
        </p:txBody>
      </p:sp>
      <p:sp>
        <p:nvSpPr>
          <p:cNvPr id="5" name="body-3">
            <a:extLst xmlns:a="http://schemas.openxmlformats.org/drawingml/2006/main">
              <a:ext uri="{FF2B5EF4-FFF2-40B4-BE49-F238E27FC236}">
                <a16:creationId xmlns:a16="http://schemas.microsoft.com/office/drawing/2014/main" id="{03441DD3-A625-4A17-A556-51BD6FD6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defPPr>
            <a:lvl1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1pPr>
            <a:lvl2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2pPr>
            <a:lvl3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3pPr>
            <a:lvl4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4pPr>
            <a:lvl5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5pPr>
            <a:lvl6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6pPr>
            <a:lvl7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7pPr>
            <a:lvl8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8pPr>
            <a:lvl9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lvl9pPr>
          </a:lstStyle>
          <a:p xmlns:a="http://schemas.openxmlformats.org/drawingml/2006/main">
            <a:pPr>
              <a:def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defRPr>
            </a:pPr>
            <a:r>
              <a:rPr sz="3000" b="0">
                <a:solidFill>
                  <a:srgbClr val="243D37"/>
                </a:solidFill>
                <a:latin typeface="LXGW WenKai TC"/>
                <a:ea typeface="LXGW WenKai TC"/>
                <a:cs typeface="LXGW WenKai TC"/>
              </a:rPr>
              <a:t>当堂完成整理。</a:t>
            </a:r>
          </a:p>
        </p:txBody>
      </p:sp>
    </p:spTree>
    <p:extLst>
      <p:ext uri="{BB962C8B-B14F-4D97-AF65-F5344CB8AC3E}">
        <p14:creationId xmlns:p14="http://schemas.microsoft.com/office/powerpoint/2010/main" val="9837252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2026-10-19T08:21:58.9550000Z</dcterms:created>
  <dcterms:modified xsi:type="dcterms:W3CDTF">2026-10-19T08:21:58.9550000Z</dcterms:modified>
</coreProperties>
</file>