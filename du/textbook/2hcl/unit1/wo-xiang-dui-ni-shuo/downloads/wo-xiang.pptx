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3250ac9850c242a4"/><Relationship Type="http://schemas.openxmlformats.org/officeDocument/2006/relationships/extended-properties" Target="/docProps/app.xml" Id="R19eb9483c7364ad7"/><Relationship Type="http://schemas.openxmlformats.org/officeDocument/2006/relationships/officeDocument" Target="/ppt/presentation.xml" Id="R537a6c85ffb04c28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346a3496d64cbb"/>
  </p:sldMasterIdLst>
  <p:notesMasterIdLst>
    <p:notesMasterId xmlns:r="http://schemas.openxmlformats.org/officeDocument/2006/relationships" r:id="R177edb83bfdc46a2"/>
  </p:notesMasterIdLst>
  <p:sldIdLst>
    <p:sldId xmlns:r="http://schemas.openxmlformats.org/officeDocument/2006/relationships" id="256" r:id="R7e492b42de6a4106"/>
    <p:sldId xmlns:r="http://schemas.openxmlformats.org/officeDocument/2006/relationships" id="257" r:id="Raee4552776ec4c0c"/>
    <p:sldId xmlns:r="http://schemas.openxmlformats.org/officeDocument/2006/relationships" id="258" r:id="R9bda5a9991f34523"/>
    <p:sldId xmlns:r="http://schemas.openxmlformats.org/officeDocument/2006/relationships" id="259" r:id="Rafdb49b1e5994fa9"/>
    <p:sldId xmlns:r="http://schemas.openxmlformats.org/officeDocument/2006/relationships" id="260" r:id="R796d803214ac440a"/>
    <p:sldId xmlns:r="http://schemas.openxmlformats.org/officeDocument/2006/relationships" id="261" r:id="R4a6d73eb3da641bd"/>
    <p:sldId xmlns:r="http://schemas.openxmlformats.org/officeDocument/2006/relationships" id="262" r:id="R8301a9dd033c452f"/>
    <p:sldId xmlns:r="http://schemas.openxmlformats.org/officeDocument/2006/relationships" id="263" r:id="Rad6fa39478364a3e"/>
    <p:sldId xmlns:r="http://schemas.openxmlformats.org/officeDocument/2006/relationships" id="264" r:id="R7c5f73ba777c4c72"/>
    <p:sldId xmlns:r="http://schemas.openxmlformats.org/officeDocument/2006/relationships" id="265" r:id="R20279ab6530c4634"/>
    <p:sldId xmlns:r="http://schemas.openxmlformats.org/officeDocument/2006/relationships" id="266" r:id="Raadbe4cdb04e4398"/>
    <p:sldId xmlns:r="http://schemas.openxmlformats.org/officeDocument/2006/relationships" id="267" r:id="Rcd019b272fb44f38"/>
    <p:sldId xmlns:r="http://schemas.openxmlformats.org/officeDocument/2006/relationships" id="268" r:id="R37b7100cf4904571"/>
    <p:sldId xmlns:r="http://schemas.openxmlformats.org/officeDocument/2006/relationships" id="269" r:id="R99eb0a3d1f6945b2"/>
    <p:sldId xmlns:r="http://schemas.openxmlformats.org/officeDocument/2006/relationships" id="270" r:id="Re8753f0ddf544660"/>
    <p:sldId xmlns:r="http://schemas.openxmlformats.org/officeDocument/2006/relationships" id="271" r:id="Rc64b526c995c4042"/>
    <p:sldId xmlns:r="http://schemas.openxmlformats.org/officeDocument/2006/relationships" id="272" r:id="R539b06ccef1e486e"/>
    <p:sldId xmlns:r="http://schemas.openxmlformats.org/officeDocument/2006/relationships" id="273" r:id="Rd2f2b26c00fc4944"/>
    <p:sldId xmlns:r="http://schemas.openxmlformats.org/officeDocument/2006/relationships" id="274" r:id="Rbf67beb4531541d6"/>
    <p:sldId xmlns:r="http://schemas.openxmlformats.org/officeDocument/2006/relationships" id="275" r:id="R9b09c249a7ac4c1c"/>
    <p:sldId xmlns:r="http://schemas.openxmlformats.org/officeDocument/2006/relationships" id="276" r:id="R22e3e10d17e34398"/>
    <p:sldId xmlns:r="http://schemas.openxmlformats.org/officeDocument/2006/relationships" id="277" r:id="Rc3b79b834bc246fe"/>
    <p:sldId xmlns:r="http://schemas.openxmlformats.org/officeDocument/2006/relationships" id="278" r:id="R3db9a594c0ac447e"/>
    <p:sldId xmlns:r="http://schemas.openxmlformats.org/officeDocument/2006/relationships" id="279" r:id="R11818e869f3e4bad"/>
    <p:sldId xmlns:r="http://schemas.openxmlformats.org/officeDocument/2006/relationships" id="280" r:id="R38e3a168511341c1"/>
    <p:sldId xmlns:r="http://schemas.openxmlformats.org/officeDocument/2006/relationships" id="281" r:id="R987bafdffc2b4a82"/>
    <p:sldId xmlns:r="http://schemas.openxmlformats.org/officeDocument/2006/relationships" id="282" r:id="R7a99e7f475f94c16"/>
    <p:sldId xmlns:r="http://schemas.openxmlformats.org/officeDocument/2006/relationships" id="283" r:id="Rf6ee78b73cf246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48f94561ccd45d2"/><Relationship Type="http://schemas.openxmlformats.org/officeDocument/2006/relationships/slideMaster" Target="/ppt/slideMasters/slideMaster1.xml" Id="R1b346a3496d64cbb"/><Relationship Type="http://schemas.openxmlformats.org/officeDocument/2006/relationships/notesMaster" Target="/ppt/notesMasters/notesMaster1.xml" Id="R177edb83bfdc46a2"/><Relationship Type="http://schemas.openxmlformats.org/officeDocument/2006/relationships/presProps" Target="/ppt/presProps.xml" Id="R2dd0dd92c70d4875"/><Relationship Type="http://schemas.openxmlformats.org/officeDocument/2006/relationships/tableStyles" Target="/ppt/tableStyles.xml" Id="Rc92c76e2087f4f61"/><Relationship Type="http://schemas.openxmlformats.org/officeDocument/2006/relationships/slide" Target="/ppt/slides/slide1.xml" Id="R7e492b42de6a4106"/><Relationship Type="http://schemas.openxmlformats.org/officeDocument/2006/relationships/slide" Target="/ppt/slides/slide2.xml" Id="Raee4552776ec4c0c"/><Relationship Type="http://schemas.openxmlformats.org/officeDocument/2006/relationships/slide" Target="/ppt/slides/slide3.xml" Id="R9bda5a9991f34523"/><Relationship Type="http://schemas.openxmlformats.org/officeDocument/2006/relationships/slide" Target="/ppt/slides/slide4.xml" Id="Rafdb49b1e5994fa9"/><Relationship Type="http://schemas.openxmlformats.org/officeDocument/2006/relationships/slide" Target="/ppt/slides/slide5.xml" Id="R796d803214ac440a"/><Relationship Type="http://schemas.openxmlformats.org/officeDocument/2006/relationships/slide" Target="/ppt/slides/slide6.xml" Id="R4a6d73eb3da641bd"/><Relationship Type="http://schemas.openxmlformats.org/officeDocument/2006/relationships/slide" Target="/ppt/slides/slide7.xml" Id="R8301a9dd033c452f"/><Relationship Type="http://schemas.openxmlformats.org/officeDocument/2006/relationships/slide" Target="/ppt/slides/slide8.xml" Id="Rad6fa39478364a3e"/><Relationship Type="http://schemas.openxmlformats.org/officeDocument/2006/relationships/slide" Target="/ppt/slides/slide9.xml" Id="R7c5f73ba777c4c72"/><Relationship Type="http://schemas.openxmlformats.org/officeDocument/2006/relationships/slide" Target="/ppt/slides/slide10.xml" Id="R20279ab6530c4634"/><Relationship Type="http://schemas.openxmlformats.org/officeDocument/2006/relationships/slide" Target="/ppt/slides/slide11.xml" Id="Raadbe4cdb04e4398"/><Relationship Type="http://schemas.openxmlformats.org/officeDocument/2006/relationships/slide" Target="/ppt/slides/slide12.xml" Id="Rcd019b272fb44f38"/><Relationship Type="http://schemas.openxmlformats.org/officeDocument/2006/relationships/slide" Target="/ppt/slides/slide13.xml" Id="R37b7100cf4904571"/><Relationship Type="http://schemas.openxmlformats.org/officeDocument/2006/relationships/slide" Target="/ppt/slides/slide14.xml" Id="R99eb0a3d1f6945b2"/><Relationship Type="http://schemas.openxmlformats.org/officeDocument/2006/relationships/slide" Target="/ppt/slides/slide15.xml" Id="Re8753f0ddf544660"/><Relationship Type="http://schemas.openxmlformats.org/officeDocument/2006/relationships/slide" Target="/ppt/slides/slide16.xml" Id="Rc64b526c995c4042"/><Relationship Type="http://schemas.openxmlformats.org/officeDocument/2006/relationships/slide" Target="/ppt/slides/slide17.xml" Id="R539b06ccef1e486e"/><Relationship Type="http://schemas.openxmlformats.org/officeDocument/2006/relationships/slide" Target="/ppt/slides/slide18.xml" Id="Rd2f2b26c00fc4944"/><Relationship Type="http://schemas.openxmlformats.org/officeDocument/2006/relationships/slide" Target="/ppt/slides/slide19.xml" Id="Rbf67beb4531541d6"/><Relationship Type="http://schemas.openxmlformats.org/officeDocument/2006/relationships/slide" Target="/ppt/slides/slide20.xml" Id="R9b09c249a7ac4c1c"/><Relationship Type="http://schemas.openxmlformats.org/officeDocument/2006/relationships/slide" Target="/ppt/slides/slide21.xml" Id="R22e3e10d17e34398"/><Relationship Type="http://schemas.openxmlformats.org/officeDocument/2006/relationships/slide" Target="/ppt/slides/slide22.xml" Id="Rc3b79b834bc246fe"/><Relationship Type="http://schemas.openxmlformats.org/officeDocument/2006/relationships/slide" Target="/ppt/slides/slide23.xml" Id="R3db9a594c0ac447e"/><Relationship Type="http://schemas.openxmlformats.org/officeDocument/2006/relationships/slide" Target="/ppt/slides/slide24.xml" Id="R11818e869f3e4bad"/><Relationship Type="http://schemas.openxmlformats.org/officeDocument/2006/relationships/slide" Target="/ppt/slides/slide25.xml" Id="R38e3a168511341c1"/><Relationship Type="http://schemas.openxmlformats.org/officeDocument/2006/relationships/slide" Target="/ppt/slides/slide26.xml" Id="R987bafdffc2b4a82"/><Relationship Type="http://schemas.openxmlformats.org/officeDocument/2006/relationships/slide" Target="/ppt/slides/slide27.xml" Id="R7a99e7f475f94c16"/><Relationship Type="http://schemas.openxmlformats.org/officeDocument/2006/relationships/slide" Target="/ppt/slides/slide28.xml" Id="Rf6ee78b73cf24603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bf59e746b0a24e35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8092a07fa0784619"/><Relationship Type="http://schemas.openxmlformats.org/officeDocument/2006/relationships/notesMaster" Target="/ppt/notesMasters/notesMaster1.xml" Id="Rb74e6e65b7dc430a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147722a4bb9c4d9e"/><Relationship Type="http://schemas.openxmlformats.org/officeDocument/2006/relationships/notesMaster" Target="/ppt/notesMasters/notesMaster1.xml" Id="Raf751bb239e24400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035b2f4f1ea84ad4"/><Relationship Type="http://schemas.openxmlformats.org/officeDocument/2006/relationships/notesMaster" Target="/ppt/notesMasters/notesMaster1.xml" Id="R65150af72fc041c9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71573640811840fe"/><Relationship Type="http://schemas.openxmlformats.org/officeDocument/2006/relationships/notesMaster" Target="/ppt/notesMasters/notesMaster1.xml" Id="R05ef174197524deb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c5ea443ac5184beb"/><Relationship Type="http://schemas.openxmlformats.org/officeDocument/2006/relationships/notesMaster" Target="/ppt/notesMasters/notesMaster1.xml" Id="R5314a8ea822643da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1fd75c0f2c83428f"/><Relationship Type="http://schemas.openxmlformats.org/officeDocument/2006/relationships/notesMaster" Target="/ppt/notesMasters/notesMaster1.xml" Id="R0377310640dd45d0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a34f6075bfa54e92"/><Relationship Type="http://schemas.openxmlformats.org/officeDocument/2006/relationships/notesMaster" Target="/ppt/notesMasters/notesMaster1.xml" Id="R3550e12d5e1c4a74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5c8d44cdc31b4d1e"/><Relationship Type="http://schemas.openxmlformats.org/officeDocument/2006/relationships/notesMaster" Target="/ppt/notesMasters/notesMaster1.xml" Id="Rdd962d587bda43ea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9b67451177864eac"/><Relationship Type="http://schemas.openxmlformats.org/officeDocument/2006/relationships/notesMaster" Target="/ppt/notesMasters/notesMaster1.xml" Id="Rc7b8c4eb85e54ef5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082c4bfcfb9a4b4c"/><Relationship Type="http://schemas.openxmlformats.org/officeDocument/2006/relationships/notesMaster" Target="/ppt/notesMasters/notesMaster1.xml" Id="Rb39daa75bf0d4c05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546152f4c82c434c"/><Relationship Type="http://schemas.openxmlformats.org/officeDocument/2006/relationships/notesMaster" Target="/ppt/notesMasters/notesMaster1.xml" Id="R3fb952b1a2134ece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e36eb4d4d6864aaa"/><Relationship Type="http://schemas.openxmlformats.org/officeDocument/2006/relationships/notesMaster" Target="/ppt/notesMasters/notesMaster1.xml" Id="R6f5548268757472b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778cce6dbda3404e"/><Relationship Type="http://schemas.openxmlformats.org/officeDocument/2006/relationships/notesMaster" Target="/ppt/notesMasters/notesMaster1.xml" Id="Re0c101480068458f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6614a91de9a34660"/><Relationship Type="http://schemas.openxmlformats.org/officeDocument/2006/relationships/notesMaster" Target="/ppt/notesMasters/notesMaster1.xml" Id="Rfac3ad730ff04962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98947dc6232f467c"/><Relationship Type="http://schemas.openxmlformats.org/officeDocument/2006/relationships/notesMaster" Target="/ppt/notesMasters/notesMaster1.xml" Id="R24e73cba052843ac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9e8dcfcf50c54b69"/><Relationship Type="http://schemas.openxmlformats.org/officeDocument/2006/relationships/notesMaster" Target="/ppt/notesMasters/notesMaster1.xml" Id="Re86fe8c32f8f4e22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91ac31ba17144cef"/><Relationship Type="http://schemas.openxmlformats.org/officeDocument/2006/relationships/notesMaster" Target="/ppt/notesMasters/notesMaster1.xml" Id="R535b206b695743c1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341e2f3bb13244cb"/><Relationship Type="http://schemas.openxmlformats.org/officeDocument/2006/relationships/notesMaster" Target="/ppt/notesMasters/notesMaster1.xml" Id="R90667c9145d743e4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5354549944df4223"/><Relationship Type="http://schemas.openxmlformats.org/officeDocument/2006/relationships/notesMaster" Target="/ppt/notesMasters/notesMaster1.xml" Id="R0f532e72450348df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0eb6f3790f574724"/><Relationship Type="http://schemas.openxmlformats.org/officeDocument/2006/relationships/notesMaster" Target="/ppt/notesMasters/notesMaster1.xml" Id="Ra4fe26b12ae248b5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0113a4002cbf4a34"/><Relationship Type="http://schemas.openxmlformats.org/officeDocument/2006/relationships/notesMaster" Target="/ppt/notesMasters/notesMaster1.xml" Id="R3f18f925406b4030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556d779b7a9847a5"/><Relationship Type="http://schemas.openxmlformats.org/officeDocument/2006/relationships/notesMaster" Target="/ppt/notesMasters/notesMaster1.xml" Id="Re5961724b6e04d26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5fbc5057209e4de8"/><Relationship Type="http://schemas.openxmlformats.org/officeDocument/2006/relationships/notesMaster" Target="/ppt/notesMasters/notesMaster1.xml" Id="R963065a67d84485c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6adbc64cf1564e75"/><Relationship Type="http://schemas.openxmlformats.org/officeDocument/2006/relationships/notesMaster" Target="/ppt/notesMasters/notesMaster1.xml" Id="R583ddb1585e64c10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f424c0a8e97f47dd"/><Relationship Type="http://schemas.openxmlformats.org/officeDocument/2006/relationships/notesMaster" Target="/ppt/notesMasters/notesMaster1.xml" Id="R39d0988de2d84c94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a3f541cdfcd84d0d"/><Relationship Type="http://schemas.openxmlformats.org/officeDocument/2006/relationships/notesMaster" Target="/ppt/notesMasters/notesMaster1.xml" Id="R50576d5604d3420c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abbad81d0e6649cb"/><Relationship Type="http://schemas.openxmlformats.org/officeDocument/2006/relationships/notesMaster" Target="/ppt/notesMasters/notesMaster1.xml" Id="R7f4be2ec264a4380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07558e5dc58b432f"/><Relationship Type="http://schemas.openxmlformats.org/officeDocument/2006/relationships/notesMaster" Target="/ppt/notesMasters/notesMaster1.xml" Id="Rd225424445ec4108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按课文消息顺序阅读。六条消息编号为六个教学段，并非教材原有段号。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短导入3分钟。可使用假设情境，不要求学生公开家庭私事。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先在网页或课本读完整留言。画面帮助理解，答案回到原文。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来源：课本《阅读放大镜》二：国明的烦恼；点选为教师支架。教师示范。先答后讲；烦恼不只是爸爸晚回家。国明卡在哪一步？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爸爸的状态是背景，“想安慰，又怕打扰”才是国明左右为难之处。课文没有交代爸爸疲惫或不开心的具体原因。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国明11:06；辅导员12:23。先读完整第二段，再挑出建议。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来源：课本《阅读放大镜》二：国明一行；教参2.2。教师示范后师生共构。先答后讲；先分清辅导员的赞许和具体建议。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示范筛选与概括。写卡片、拥抱是建议；不能说已经发生或已经解决烦恼。网页保留可填写表格，课堂先口头共同整理。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摘录原文，完整原文见网页。“却”提示解释没有被接受。不要把妈妈的评价直接当成人物事实。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来源：课本《阅读放大镜》二：美华的烦恼；点选为教师支架。师生共构。先答后讲；注意美华是在做什么，不要只看到“晚回家”。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“因为”交代晚回家的原因；“却”显示她想解释，但妈妈不接受。我们可以据此理解她的委屈，不把“叛逆”当作已经证实的特点。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摘录。先在网页完整读第四段；明确“如果没有”承接是否提前告知，“说不定”表示可能。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课本《阅读放大镜》二：美华一行；教参2.2—2.3。师生共构。建议既包括理解对方，也包括下一步怎样做。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理解父母担心，不代表每种责备方式都合适。教参2.3追问：你对建议有什么看法？为什么？允许有理据的补充。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摘录原文。“根本没有自由”是感受；“窒息”在语境中形容压抑。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来源：课本《阅读放大镜》二：匿名同学的烦恼；点选为教师支架。学生独立。先答后讲；不要把同学的强烈感受，直接当成所有事情的事实。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摘录。阅读完整第六段。保留“有些人”和“也许”，不能断言匿名同学已经成瘾。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本课第一项书面任务。左栏具体限制及感受；右栏建议。原文取证后用自己的话填写。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各意义点独立核对。完整答案见教师手册。网页保留首次表格回答与订正，不自动评分这题。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口头说明关系，不要求额外长答。教参2.3：除了辅导员的建议，还有哪些方法？选一位同学说明做法及理由。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课本《阅读放大镜》一（1）—（3）。网页统一词语库点选，先回想再核对。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不要用词语本释义代替首次思考；辨清委屈与内疚的原因。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课本《阅读放大镜》一（4）—（6）。保留原题措辞。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第五项是基本义，人物说法是语境义。不要把它当作实际呼吸停止的报告。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课本《阅读放大镜》三。后两句为教师补充。第二项书面任务，必做3—4句。允许明确写假设，保护学生不愿分享的经历。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学生先写，下一页才揭示示例。允许请求帮助、表达感谢或提出不同意见；不要强制顺从父母。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不是唯一答案。教师核对对象、理由、例子和联系。学生比较自己的回答并订正，不能只照抄示例。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最后2分钟。没有额外课后一周小测。记录保存在本机本浏览器；课后需要备份可导出，不自动收件。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6066151388444ec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afb7c4aa5874f16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de652a347e84450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aea215878f64c44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3f0a75fc42b4910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ad7abf7f3b04f2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8E90FF-DEFD-4B03-8981-1FE63C492A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3A24F9-A043-4772-8B42-7AC958189E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241253-2D3A-4981-9AE5-71428BBFF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F0AB1F-A338-41B1-BFB6-D76FCBC0B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FB211-DEB9-4886-8280-EAFD9E7F2C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600647-3AC5-44AF-8D6D-2625DA5E6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1CA3A4-CB1A-4A91-8D19-980F97079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FBA41D-4CA5-4469-B36B-5CB43AA237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001ADD-A9BC-44DF-B751-9E95AD1D7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5D429A-88E3-4B9E-ACF4-0435404BC1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bc2369283a74534"/><Relationship Type="http://schemas.openxmlformats.org/officeDocument/2006/relationships/slideLayout" Target="/ppt/slideLayouts/slideLayout1.xml" Id="Re51aacdd0f9343d8"/><Relationship Type="http://schemas.openxmlformats.org/officeDocument/2006/relationships/slideLayout" Target="/ppt/slideLayouts/slideLayout2.xml" Id="Rb9271cd9bf034192"/><Relationship Type="http://schemas.openxmlformats.org/officeDocument/2006/relationships/slideLayout" Target="/ppt/slideLayouts/slideLayout3.xml" Id="R7d75abd7f8b74798"/><Relationship Type="http://schemas.openxmlformats.org/officeDocument/2006/relationships/slideLayout" Target="/ppt/slideLayouts/slideLayout4.xml" Id="Rc8f413df339a4913"/><Relationship Type="http://schemas.openxmlformats.org/officeDocument/2006/relationships/slideLayout" Target="/ppt/slideLayouts/slideLayout5.xml" Id="R4427dd71e2574780"/><Relationship Type="http://schemas.openxmlformats.org/officeDocument/2006/relationships/slideLayout" Target="/ppt/slideLayouts/slideLayout6.xml" Id="R86cfcbabb9cb425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aacdd0f9343d8"/>
    <p:sldLayoutId xmlns:r="http://schemas.openxmlformats.org/officeDocument/2006/relationships" id="2147483650" r:id="Rb9271cd9bf034192"/>
    <p:sldLayoutId xmlns:r="http://schemas.openxmlformats.org/officeDocument/2006/relationships" id="2147483651" r:id="R7d75abd7f8b74798"/>
    <p:sldLayoutId xmlns:r="http://schemas.openxmlformats.org/officeDocument/2006/relationships" id="2147483652" r:id="Rc8f413df339a4913"/>
    <p:sldLayoutId xmlns:r="http://schemas.openxmlformats.org/officeDocument/2006/relationships" id="2147483653" r:id="R4427dd71e2574780"/>
    <p:sldLayoutId xmlns:r="http://schemas.openxmlformats.org/officeDocument/2006/relationships" id="2147483654" r:id="R86cfcbabb9cb42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18985e1f7e4dfc"/><Relationship Type="http://schemas.openxmlformats.org/officeDocument/2006/relationships/notesSlide" Target="/ppt/notesSlides/notesSlide1.xml" Id="Rbdf7fca57dd24f5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9fcbcd69844418"/><Relationship Type="http://schemas.openxmlformats.org/officeDocument/2006/relationships/notesSlide" Target="/ppt/notesSlides/notesSlide2.xml" Id="Raa67a210423d409a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8972e8dbed43ed"/><Relationship Type="http://schemas.openxmlformats.org/officeDocument/2006/relationships/image" Target="/ppt/media/image.png" Id="R1cdff3f6ebdd44a6"/><Relationship Type="http://schemas.openxmlformats.org/officeDocument/2006/relationships/notesSlide" Target="/ppt/notesSlides/notesSlide3.xml" Id="R1e8ebe5e8efd46b9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fc56ebdd8724f8e"/><Relationship Type="http://schemas.openxmlformats.org/officeDocument/2006/relationships/notesSlide" Target="/ppt/notesSlides/notesSlide4.xml" Id="R87cf379479a64a46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8f7504d1e504316"/><Relationship Type="http://schemas.openxmlformats.org/officeDocument/2006/relationships/notesSlide" Target="/ppt/notesSlides/notesSlide5.xml" Id="R9dbf1a73f1d74dac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89815f1f4e4f2e"/><Relationship Type="http://schemas.openxmlformats.org/officeDocument/2006/relationships/notesSlide" Target="/ppt/notesSlides/notesSlide6.xml" Id="Rad0ba4c176ee409c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02b107a1c243ee"/><Relationship Type="http://schemas.openxmlformats.org/officeDocument/2006/relationships/notesSlide" Target="/ppt/notesSlides/notesSlide7.xml" Id="R264b51e51a93401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4c0e72178a4d5e"/><Relationship Type="http://schemas.openxmlformats.org/officeDocument/2006/relationships/notesSlide" Target="/ppt/notesSlides/notesSlide8.xml" Id="R25d33a1902014269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ebffcc408894ade"/><Relationship Type="http://schemas.openxmlformats.org/officeDocument/2006/relationships/notesSlide" Target="/ppt/notesSlides/notesSlide9.xml" Id="R571c26d45bf54792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660866090e4a51"/><Relationship Type="http://schemas.openxmlformats.org/officeDocument/2006/relationships/notesSlide" Target="/ppt/notesSlides/notesSlide10.xml" Id="R29f813a5013845e2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2e17fa09e6e4a48"/><Relationship Type="http://schemas.openxmlformats.org/officeDocument/2006/relationships/notesSlide" Target="/ppt/notesSlides/notesSlide11.xml" Id="R919b6238f6b84f2d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3fc637b1de432b"/><Relationship Type="http://schemas.openxmlformats.org/officeDocument/2006/relationships/notesSlide" Target="/ppt/notesSlides/notesSlide12.xml" Id="R7cae9e43271a4fd6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7f144ff516241d7"/><Relationship Type="http://schemas.openxmlformats.org/officeDocument/2006/relationships/notesSlide" Target="/ppt/notesSlides/notesSlide13.xml" Id="R60316c6c388f4387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61060b34dc4e0d"/><Relationship Type="http://schemas.openxmlformats.org/officeDocument/2006/relationships/notesSlide" Target="/ppt/notesSlides/notesSlide14.xml" Id="R88aa0720139b4a85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9b40fb1a20a41ef"/><Relationship Type="http://schemas.openxmlformats.org/officeDocument/2006/relationships/image" Target="/ppt/media/image2.png" Id="Rc15b24ce51134572"/><Relationship Type="http://schemas.openxmlformats.org/officeDocument/2006/relationships/notesSlide" Target="/ppt/notesSlides/notesSlide15.xml" Id="R12df4731d39e4aed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75000efbe34465"/><Relationship Type="http://schemas.openxmlformats.org/officeDocument/2006/relationships/notesSlide" Target="/ppt/notesSlides/notesSlide16.xml" Id="R0bc2bd84d2d34032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b2ce4f1d0324afa"/><Relationship Type="http://schemas.openxmlformats.org/officeDocument/2006/relationships/notesSlide" Target="/ppt/notesSlides/notesSlide17.xml" Id="Ra54e16e9057a40a6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cd5637c2a64e1c"/><Relationship Type="http://schemas.openxmlformats.org/officeDocument/2006/relationships/notesSlide" Target="/ppt/notesSlides/notesSlide18.xml" Id="R9722d67adb2d4b18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38d3f8c6145439e"/><Relationship Type="http://schemas.openxmlformats.org/officeDocument/2006/relationships/notesSlide" Target="/ppt/notesSlides/notesSlide19.xml" Id="R66cb55c87ecd407c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94250f02394965"/><Relationship Type="http://schemas.openxmlformats.org/officeDocument/2006/relationships/notesSlide" Target="/ppt/notesSlides/notesSlide20.xml" Id="Rd51d857794a8400a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2cc28084134d90"/><Relationship Type="http://schemas.openxmlformats.org/officeDocument/2006/relationships/notesSlide" Target="/ppt/notesSlides/notesSlide21.xml" Id="R11ad4a2bfd174a5b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af1075b2524be4"/><Relationship Type="http://schemas.openxmlformats.org/officeDocument/2006/relationships/notesSlide" Target="/ppt/notesSlides/notesSlide22.xml" Id="Re480c511487347f2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649103c9dc7454c"/><Relationship Type="http://schemas.openxmlformats.org/officeDocument/2006/relationships/notesSlide" Target="/ppt/notesSlides/notesSlide23.xml" Id="R3d1a9a2caad84642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872e9a05c34987"/><Relationship Type="http://schemas.openxmlformats.org/officeDocument/2006/relationships/notesSlide" Target="/ppt/notesSlides/notesSlide24.xml" Id="R9156b8296cc941c7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0ce58d2f124cce"/><Relationship Type="http://schemas.openxmlformats.org/officeDocument/2006/relationships/notesSlide" Target="/ppt/notesSlides/notesSlide25.xml" Id="Rf4fdb2d929c5403f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6023876af245ba"/><Relationship Type="http://schemas.openxmlformats.org/officeDocument/2006/relationships/notesSlide" Target="/ppt/notesSlides/notesSlide26.xml" Id="R1c132cd9d7294d42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2785d9832694b20"/><Relationship Type="http://schemas.openxmlformats.org/officeDocument/2006/relationships/notesSlide" Target="/ppt/notesSlides/notesSlide27.xml" Id="Rd3a4c6f7de98435b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b67f2a753ea4606"/><Relationship Type="http://schemas.openxmlformats.org/officeDocument/2006/relationships/notesSlide" Target="/ppt/notesSlides/notesSlide28.xml" Id="R5fb3e52341b749f1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AB4B49-FA0E-4903-ADEE-13E8D7B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我想对你说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F2BF9A1-5D96-48FB-9EFC-8C154EF2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 · 单元一 · 生活空间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D13DB68-69D2-4684-9836-2C6A81F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一课时：读懂烦恼，学会表达</a:t>
            </a:r>
          </a:p>
        </p:txBody>
      </p:sp>
    </p:spTree>
    <p:extLst>
      <p:ext uri="{BB962C8B-B14F-4D97-AF65-F5344CB8AC3E}">
        <p14:creationId xmlns:p14="http://schemas.microsoft.com/office/powerpoint/2010/main" val="1598198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3D48A6-15B4-4466-97B8-BD770D8F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想关心，却不知怎样开口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45B1614-1129-4CAE-8A55-31ED6FEA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看见家人疲惫或不开心时，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AB9DC1A-789F-4EDF-B0EF-0CC09D47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你会怎样表达关心？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A44849E-E496-45BE-BDE6-FACA140D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先说一种做法，再说明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2485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087D1D9-5099-4A37-8F3A-068C601D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第一段 国明的留言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8F42611-3F1C-4AA8-9619-4363E154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“我想安慰他，又怕打扰他，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9108B6D-D216-490E-AFCD-5881501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我不知道该怎么做。”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5327C21-A4F4-4A1D-9E4C-7E4799D9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他想做什么？又担心什么？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EC76A-BB75-4E6E-81ED-A2629E7EBF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ff3f6ebdd44a6"/>
          <a:srcRect xmlns:a="http://schemas.openxmlformats.org/drawingml/2006/main" l="781" t="27799" r="50684" b="52279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9322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21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AF58DA0-B690-40DE-A5A3-B2E75743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国明的烦恼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0CE81D5-AE1B-4391-BCB4-EE893814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哪一项最准确地概括国明的烦恼？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7D6A6BC-1A61-4D3D-84AF-56BD4380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A. 盼爸爸早点回家陪自己聊天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EEC9A24-ACDF-476A-9886-E786D19B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B. 想关心爸爸又怕打扰到爸爸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B7729945-D20F-4C28-81F3-812FF864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C. 想问爸爸为何每天加班工作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22041E7F-70B3-4569-BBFA-0339B61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D. 怕爸爸因自己成绩不好生气</a:t>
            </a:r>
          </a:p>
        </p:txBody>
      </p:sp>
    </p:spTree>
    <p:extLst>
      <p:ext uri="{BB962C8B-B14F-4D97-AF65-F5344CB8AC3E}">
        <p14:creationId xmlns:p14="http://schemas.microsoft.com/office/powerpoint/2010/main" val="1647874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A084CE-8405-487D-B4BA-42162599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国明的烦恼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AE5C787-646B-4C87-8626-077678E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爸爸疲惫，而且不开心。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A1B4E86-CBFB-48DD-8B1D-98FF4B36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国明想安慰，又怕打扰，不知怎样做。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8694D35-B1B6-417E-8E31-2055C859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只写“爸爸晚回家”，还没说出他的两难。</a:t>
            </a:r>
          </a:p>
        </p:txBody>
      </p:sp>
    </p:spTree>
    <p:extLst>
      <p:ext uri="{BB962C8B-B14F-4D97-AF65-F5344CB8AC3E}">
        <p14:creationId xmlns:p14="http://schemas.microsoft.com/office/powerpoint/2010/main" val="1941417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5A8635-31B6-4467-B72C-A67311A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第二段 辅导员的回应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2FFE705-5873-4A6F-9BEE-498F6409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“别犹豫，把你的关心直接表达出来。”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9FD3C44-F914-4ECE-A03B-25220514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“你可以写一张卡片为他打气，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1E1E4A7-99FD-4289-96EA-707DDD65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或者给他一个拥抱。”</a:t>
            </a:r>
          </a:p>
        </p:txBody>
      </p:sp>
    </p:spTree>
    <p:extLst>
      <p:ext uri="{BB962C8B-B14F-4D97-AF65-F5344CB8AC3E}">
        <p14:creationId xmlns:p14="http://schemas.microsoft.com/office/powerpoint/2010/main" val="5162125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F60AC4E-F43E-48C5-896E-344044D9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把关心表达出来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E5EB1AD-9663-4BC2-8BB6-F8ACE94C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课文可以确定哪一件事？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3F067C1-F02B-4E43-9846-186A12B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A. 国明已经送出亲手写的卡片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9FD6128-EB5D-449F-BFAA-6296229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B. 国明拥抱后爸爸露出了笑容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4973F7B4-B23C-4C98-A68B-631476E4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C. 爸爸已向国明说明烦恼原因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90452EF9-B9DF-495F-BE90-93C2C517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D. 辅导员鼓励国明主动表达关心</a:t>
            </a:r>
          </a:p>
        </p:txBody>
      </p:sp>
    </p:spTree>
    <p:extLst>
      <p:ext uri="{BB962C8B-B14F-4D97-AF65-F5344CB8AC3E}">
        <p14:creationId xmlns:p14="http://schemas.microsoft.com/office/powerpoint/2010/main" val="439943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1B8ADD-B663-415C-A711-09C87D86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国明这一行怎么写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B4D2083-4517-4ACF-8EA8-621B052B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烦恼：想安慰爸爸，又怕打扰。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2DF9B5A-706A-49B2-ACD9-CB6D9823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建议：直接表达关心，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B5F8B3F-0F35-4397-BA24-6AC46001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可以写卡片打气，或给爸爸一个拥抱。</a:t>
            </a:r>
          </a:p>
        </p:txBody>
      </p:sp>
    </p:spTree>
    <p:extLst>
      <p:ext uri="{BB962C8B-B14F-4D97-AF65-F5344CB8AC3E}">
        <p14:creationId xmlns:p14="http://schemas.microsoft.com/office/powerpoint/2010/main" val="1675646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4EF2D-0E15-4E30-876C-BDD7D34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第三段 美华的留言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3583ACA-A7EF-41B9-B632-0C235506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“我因为和同学一起做小组作业，很晚才回家。”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3B0F93C-06B8-4537-8309-ACC96486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“妈妈就不分青红皂白地把我教训了一顿。”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F6B5018-F8E9-41C6-B520-71CDD43E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“我跟她解释，她却说我顶嘴，还说我越来越叛逆。”</a:t>
            </a:r>
          </a:p>
        </p:txBody>
      </p:sp>
    </p:spTree>
    <p:extLst>
      <p:ext uri="{BB962C8B-B14F-4D97-AF65-F5344CB8AC3E}">
        <p14:creationId xmlns:p14="http://schemas.microsoft.com/office/powerpoint/2010/main" val="17955535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E018FF3-6362-495E-8274-5BAE5000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美华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难过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AAA131E-D7C6-456E-83EE-65DFFB8B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哪一项最准确地概括美华的烦恼？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A84C25D-84A6-415F-8123-42AC9AA6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A. 作业晚归遭责备且解释被误解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0488DB9-3556-4DDC-8D89-2BC38393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B. 作业没完成却被妈妈催促回家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7466306-A302-4BB1-A789-549C1BA4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C. 小组同学责怪她回家时间太早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F9CA4D6E-F27D-459E-A251-ED29587E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D. 想晚些回家却被妈妈提前接走</a:t>
            </a:r>
          </a:p>
        </p:txBody>
      </p:sp>
    </p:spTree>
    <p:extLst>
      <p:ext uri="{BB962C8B-B14F-4D97-AF65-F5344CB8AC3E}">
        <p14:creationId xmlns:p14="http://schemas.microsoft.com/office/powerpoint/2010/main" val="1915041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B20CA8D-C7AE-4A5E-A544-5D92D69E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美华的烦恼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123F1B0-E328-45A3-A2EB-9B629A9B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做小组作业晚回家，妈妈没问清原因就责备。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FE248BE-710F-44B1-BF91-87559465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她想解释，却被说成顶嘴、叛逆。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E37E5AD-1DFB-4FE6-921C-0E51FB0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“委屈”：受到不应有的指责而难过。</a:t>
            </a:r>
          </a:p>
        </p:txBody>
      </p:sp>
    </p:spTree>
    <p:extLst>
      <p:ext uri="{BB962C8B-B14F-4D97-AF65-F5344CB8AC3E}">
        <p14:creationId xmlns:p14="http://schemas.microsoft.com/office/powerpoint/2010/main" val="562650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5CFF31-A0AE-452F-A781-C042731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第四段 先理解，再沟通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0712D41-6489-410C-95BE-A5C97274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“你一定很委屈吧？”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D23750E-074C-4356-9842-4A591903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“如果没有，妈妈说你几句，也是可以理解的，你要体谅她。”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740B9FD-7DEF-4767-B62A-485A272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“说不定她现在也很内疚”</a:t>
            </a:r>
          </a:p>
        </p:txBody>
      </p:sp>
    </p:spTree>
    <p:extLst>
      <p:ext uri="{BB962C8B-B14F-4D97-AF65-F5344CB8AC3E}">
        <p14:creationId xmlns:p14="http://schemas.microsoft.com/office/powerpoint/2010/main" val="14462807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9FC3D6-F4E8-456B-BD06-F1923515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辅导员给美华什么建议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0EA6119-5450-41F9-AC6C-A9C44F3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先口头整理美华这一行。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FA108D6-7AD3-44E6-88E3-B5AFF61A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找出“怎样看待妈妈”与“下一步怎样做”。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F5CA0D4-155A-4A1F-9108-2B26B05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加入相关原句，可连续加入两句。</a:t>
            </a:r>
          </a:p>
        </p:txBody>
      </p:sp>
    </p:spTree>
    <p:extLst>
      <p:ext uri="{BB962C8B-B14F-4D97-AF65-F5344CB8AC3E}">
        <p14:creationId xmlns:p14="http://schemas.microsoft.com/office/powerpoint/2010/main" val="15758851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EB207C-391F-487E-B46F-D347229F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美华这一行怎么写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A80A177-C649-4816-850F-A2B44D1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烦恼：晚归受责备，解释被当成顶嘴。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8192CEB-1CBA-4A07-90E6-CC49673C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建议：体谅妈妈的担心，找机会好好沟通。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4DEFAF3-9B55-4360-B324-C13392CB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未确定：是否提前告知、妈妈是否已经内疚。</a:t>
            </a:r>
          </a:p>
        </p:txBody>
      </p:sp>
    </p:spTree>
    <p:extLst>
      <p:ext uri="{BB962C8B-B14F-4D97-AF65-F5344CB8AC3E}">
        <p14:creationId xmlns:p14="http://schemas.microsoft.com/office/powerpoint/2010/main" val="7692101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941DA06-74AC-445D-94A9-0C956B10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第五段 匿名同学的留言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D8CE8CB-DEBE-43E5-ABEE-22DC38A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“爸爸每天只允许我玩半个小时，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282443B-9758-4FFC-9034-8ADE249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还天天监督我。”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D895D3D-B9F4-49A9-AC4B-1DD8921A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“我在家根本没有自由”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D4C3-13E9-41A8-9A24-436AB3810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b24ce51134572"/>
          <a:srcRect xmlns:a="http://schemas.openxmlformats.org/drawingml/2006/main" l="50879" t="5990" r="879" b="72852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1332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33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A677D4C-DA6A-415F-BE7C-E73F7C30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游戏限制带来的烦恼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2A3E7FA-7848-4A07-B59B-11AF83DF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哪一项是同学明确说出的具体限制？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991B8D9-B955-4B83-94D4-29D5E041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A. 爸爸禁止他再接触电子游戏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116463E-2ED0-4988-B440-C8922C1C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B. 爸爸要求他放学后一直读书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3C989421-84F7-4F07-BA42-52EC8FE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C. 每天只准玩半小时并天天监督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2CDE7C29-8D05-40AA-BC5B-A304601E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D. 游戏成绩不好就不准他出门</a:t>
            </a:r>
          </a:p>
        </p:txBody>
      </p:sp>
    </p:spTree>
    <p:extLst>
      <p:ext uri="{BB962C8B-B14F-4D97-AF65-F5344CB8AC3E}">
        <p14:creationId xmlns:p14="http://schemas.microsoft.com/office/powerpoint/2010/main" val="16529900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16CF997-3427-4424-8727-09EE83C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第六段 父母的顾虑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AE3838B-5A0E-40BC-919C-A08E985F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“有些人玩上瘾了，不但无心学习，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和家人的关系也越来越疏远”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1EB4033-B2EA-45E6-89B9-E209E35A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“所以父母才会限制孩子玩游戏的时间。”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5383866-BAC3-4D23-9DC7-9EB579C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“你设身处地从爸爸的角度想一想”</a:t>
            </a:r>
          </a:p>
        </p:txBody>
      </p:sp>
    </p:spTree>
    <p:extLst>
      <p:ext uri="{BB962C8B-B14F-4D97-AF65-F5344CB8AC3E}">
        <p14:creationId xmlns:p14="http://schemas.microsoft.com/office/powerpoint/2010/main" val="7379624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1954FDE-34EF-4179-925A-AF175688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独立完成 匿名这一行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CE91E9A-C7FD-4763-8906-56FA221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根据课文内容，写出三位同学的烦恼及辅导员的建议。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4DFC684-A826-4376-B48C-CE944302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现在独立完成“匿名”这一行。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13B11-5D3E-41A1-9A95-C1ED424E79BB}"/>
              </a:ext>
            </a:extLst>
          </p:cNvPr>
          <p:cNvGraphicFramePr/>
          <p:nvPr/>
        </p:nvGraphicFramePr>
        <p:xfrm>
          <a:off xmlns:a="http://schemas.openxmlformats.org/drawingml/2006/main" x="609600" y="40957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191000"/>
                <a:gridCol w="5257800"/>
              </a:tblGrid>
              <a:tr h="95250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245E51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同学</a:t>
                      </a:r>
                    </a:p>
                  </a:txBody>
                  <a:tcPr marL="152400" marR="152400" marT="152400" marB="152400">
                    <a:lnL w="9525">
                      <a:solidFill>
                        <a:srgbClr val="A8BBB0"/>
                      </a:solidFill>
                      <a:prstDash val="solid"/>
                    </a:lnL>
                    <a:lnR w="9525">
                      <a:solidFill>
                        <a:srgbClr val="A8BBB0"/>
                      </a:solidFill>
                      <a:prstDash val="solid"/>
                    </a:lnR>
                    <a:lnT w="9525">
                      <a:solidFill>
                        <a:srgbClr val="A8BBB0"/>
                      </a:solidFill>
                      <a:prstDash val="solid"/>
                    </a:lnT>
                    <a:lnB w="9525">
                      <a:solidFill>
                        <a:srgbClr val="A8BBB0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245E51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烦恼</a:t>
                      </a:r>
                    </a:p>
                  </a:txBody>
                  <a:tcPr marL="152400" marR="152400" marT="152400" marB="152400">
                    <a:lnR w="9525">
                      <a:solidFill>
                        <a:srgbClr val="A8BBB0"/>
                      </a:solidFill>
                      <a:prstDash val="solid"/>
                    </a:lnR>
                    <a:lnT w="9525">
                      <a:solidFill>
                        <a:srgbClr val="A8BBB0"/>
                      </a:solidFill>
                      <a:prstDash val="solid"/>
                    </a:lnT>
                    <a:lnB w="9525">
                      <a:solidFill>
                        <a:srgbClr val="A8BBB0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245E51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辅导员的建议</a:t>
                      </a:r>
                    </a:p>
                  </a:txBody>
                  <a:tcPr marL="152400" marR="152400" marT="152400" marB="152400">
                    <a:lnR w="9525">
                      <a:solidFill>
                        <a:srgbClr val="A8BBB0"/>
                      </a:solidFill>
                      <a:prstDash val="solid"/>
                    </a:lnR>
                    <a:lnT w="9525">
                      <a:solidFill>
                        <a:srgbClr val="A8BBB0"/>
                      </a:solidFill>
                      <a:prstDash val="solid"/>
                    </a:lnT>
                    <a:lnB w="9525">
                      <a:solidFill>
                        <a:srgbClr val="A8BBB0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匿名</a:t>
                      </a:r>
                    </a:p>
                  </a:txBody>
                  <a:tcPr marL="152400" marR="152400" marT="152400" marB="152400">
                    <a:lnL w="9525">
                      <a:solidFill>
                        <a:srgbClr val="A8BBB0"/>
                      </a:solidFill>
                      <a:prstDash val="solid"/>
                    </a:lnL>
                    <a:lnR w="9525">
                      <a:solidFill>
                        <a:srgbClr val="A8BBB0"/>
                      </a:solidFill>
                      <a:prstDash val="solid"/>
                    </a:lnR>
                    <a:lnB w="9525">
                      <a:solidFill>
                        <a:srgbClr val="A8BBB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________</a:t>
                      </a:r>
                    </a:p>
                  </a:txBody>
                  <a:tcPr marL="152400" marR="152400" marT="152400" marB="152400">
                    <a:lnR w="9525">
                      <a:solidFill>
                        <a:srgbClr val="A8BBB0"/>
                      </a:solidFill>
                      <a:prstDash val="solid"/>
                    </a:lnR>
                    <a:lnB w="9525">
                      <a:solidFill>
                        <a:srgbClr val="A8BBB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________</a:t>
                      </a:r>
                    </a:p>
                  </a:txBody>
                  <a:tcPr marL="152400" marR="152400" marT="152400" marB="152400">
                    <a:lnR w="9525">
                      <a:solidFill>
                        <a:srgbClr val="A8BBB0"/>
                      </a:solidFill>
                      <a:prstDash val="solid"/>
                    </a:lnR>
                    <a:lnB w="9525">
                      <a:solidFill>
                        <a:srgbClr val="A8BBB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333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9C89C0A-B39F-4C2C-B673-1870C832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匿名这一行怎么写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B198AFC-C88C-42C9-AB7E-B28A7636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烦恼：每天只准玩半小时，还受监督，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0E55279-58F4-478A-9F79-3C0259B3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因此觉得不自由、不被理解。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E13B343-A339-4B63-A2D8-549CBBC6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建议：从爸爸角度想，体谅他对学习和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0732B37-E998-459B-93A6-21FA4BE2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家人关系受影响的担心。</a:t>
            </a:r>
          </a:p>
        </p:txBody>
      </p:sp>
    </p:spTree>
    <p:extLst>
      <p:ext uri="{BB962C8B-B14F-4D97-AF65-F5344CB8AC3E}">
        <p14:creationId xmlns:p14="http://schemas.microsoft.com/office/powerpoint/2010/main" val="21114505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082AED-AA6A-488B-AB13-4C1A96B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这个建议可能有帮助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3918876-CC3C-4593-8641-F7E9C6A0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先理解爸爸担心什么，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4EA5421-1BCF-46BD-838E-605DF8A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才能商量双方可以接受的安排。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A448297-79FC-40CB-9061-4379BA4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“有些人”不等于“这位同学”；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3B610350-AF6E-4B33-92C3-EE477417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“也许”不保证问题马上解决。</a:t>
            </a:r>
          </a:p>
        </p:txBody>
      </p:sp>
    </p:spTree>
    <p:extLst>
      <p:ext uri="{BB962C8B-B14F-4D97-AF65-F5344CB8AC3E}">
        <p14:creationId xmlns:p14="http://schemas.microsoft.com/office/powerpoint/2010/main" val="19487639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F1F75E5-6705-43FC-83B4-86025D9D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从课文找词语 一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61B5E7E-E058-4261-9508-3F7AED76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1. 拿不定主意。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D20FC8A-1549-4928-ABC3-4FDD0379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2. 受到不应有的指责而心里难过。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192826E-A00C-43E8-94C5-65901D3D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3. 内心感到惭愧。</a:t>
            </a:r>
          </a:p>
        </p:txBody>
      </p:sp>
    </p:spTree>
    <p:extLst>
      <p:ext uri="{BB962C8B-B14F-4D97-AF65-F5344CB8AC3E}">
        <p14:creationId xmlns:p14="http://schemas.microsoft.com/office/powerpoint/2010/main" val="5482916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23B6C6-F1E9-4045-BC31-A46C9EC1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词语核对 一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6B1C9B3-53C0-43C8-A374-B3D8441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1. 犹豫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AD89DBD-726F-43F3-A6F4-8358EB88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2. 委屈：受到不应有的指责。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374ECA8-6C6F-442D-92CD-507B08CB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3. 内疚：自己觉得有亏欠而惭愧。</a:t>
            </a:r>
          </a:p>
        </p:txBody>
      </p:sp>
    </p:spTree>
    <p:extLst>
      <p:ext uri="{BB962C8B-B14F-4D97-AF65-F5344CB8AC3E}">
        <p14:creationId xmlns:p14="http://schemas.microsoft.com/office/powerpoint/2010/main" val="12733543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D413F80-9BAD-4383-A2BC-0DC5A0FD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从课文找词语 二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E506BB7-E467-4141-B29D-ABE01B91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4. 不写出姓名。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FDD09D9-10B7-4F76-AB05-74721186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5. 呼吸困难，甚至停止。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9F13EBC-C9A3-4FC7-B885-C4D32A9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6. 比喻关键问题解决了，其他相关问题就很容易解决。</a:t>
            </a:r>
          </a:p>
        </p:txBody>
      </p:sp>
    </p:spTree>
    <p:extLst>
      <p:ext uri="{BB962C8B-B14F-4D97-AF65-F5344CB8AC3E}">
        <p14:creationId xmlns:p14="http://schemas.microsoft.com/office/powerpoint/2010/main" val="17503680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4E4EB44-C189-4C14-AE39-4C1CBEFA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词语核对 二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221288C-9058-46A3-8539-816CAD6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4. 匿名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B524BCB-9DAB-495D-B84E-389A7B19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5. 窒息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3AE1BDB-6282-4937-8A33-6FCC33F6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6. 迎刃而解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F8FF67D-7215-4814-8309-FDF791E0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“快要窒息了”在文中形容压抑。</a:t>
            </a:r>
          </a:p>
        </p:txBody>
      </p:sp>
    </p:spTree>
    <p:extLst>
      <p:ext uri="{BB962C8B-B14F-4D97-AF65-F5344CB8AC3E}">
        <p14:creationId xmlns:p14="http://schemas.microsoft.com/office/powerpoint/2010/main" val="878183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F2E3971-67BA-4C5C-A841-3014F604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我想对你说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D9E6DD0-BB33-43B2-9F7C-9D6F44C2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每个人都会有烦恼，如果有机会，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3FDB759-4C2E-41E7-9230-3C780FF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你想对父母或辅导员说些什么？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551FAD4-06D3-40F9-9CEE-B88545C3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想说这些话？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4BBE2323-DB90-4F12-8F05-DF7BC43C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请用一个具体情境说明。</a:t>
            </a:r>
          </a:p>
        </p:txBody>
      </p:sp>
    </p:spTree>
    <p:extLst>
      <p:ext uri="{BB962C8B-B14F-4D97-AF65-F5344CB8AC3E}">
        <p14:creationId xmlns:p14="http://schemas.microsoft.com/office/powerpoint/2010/main" val="17840512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0495979-DE6D-43C2-BFA2-9FF9EAB6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把想说的话说清楚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FA14D45-39E2-43E1-B5AD-03493A23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想说的话：希望对方理解什么？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0DC35F9-F5FE-453D-8710-9B02BEFD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理由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：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为什么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要说？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03DC490-D062-4EE4-A2E1-E4F5CF7F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例子：哪一个情境能说明？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A7BAC601-5167-4F34-91EB-E7ACA374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回扣：这样怎样帮助解决烦恼？</a:t>
            </a:r>
          </a:p>
        </p:txBody>
      </p:sp>
    </p:spTree>
    <p:extLst>
      <p:ext uri="{BB962C8B-B14F-4D97-AF65-F5344CB8AC3E}">
        <p14:creationId xmlns:p14="http://schemas.microsoft.com/office/powerpoint/2010/main" val="10765673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98C6D45-196A-4D77-9778-6F14571B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回应示例 假设情境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0CA9F19-9157-490D-BA29-69D8AA92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妈妈，假如我因小组作业晚回家，希望您先听我解释，因为被当</a:t>
            </a:r>
          </a:p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成顶嘴会让我难过。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AE29349-3A65-4016-8CF8-54B93374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我会提前发消息说明地点和预计回家时间。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B7427D2-CA74-4949-8E16-5C7432A4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这样您能放心，我们也能减少误会。</a:t>
            </a:r>
          </a:p>
        </p:txBody>
      </p:sp>
    </p:spTree>
    <p:extLst>
      <p:ext uri="{BB962C8B-B14F-4D97-AF65-F5344CB8AC3E}">
        <p14:creationId xmlns:p14="http://schemas.microsoft.com/office/powerpoint/2010/main" val="6862113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206263-4AE1-43A0-965E-7F3F4221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当堂检查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342D219-9BC8-48C1-8897-5D992485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三位同学：烦恼与建议有没有对应？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0396B40-95D1-4FF5-8054-AA23EFCD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有没有把“可能”写成“已经”？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7B03439-A9F4-4DAC-88D2-38A302F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开放回应有没有说明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为什么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DEDA912-4FF5-4B5E-9744-B4C3E40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订正后，收藏词语并导出学习记录。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1756986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2026-10-20T02:49:05.3670000Z</dcterms:created>
  <dcterms:modified xsi:type="dcterms:W3CDTF">2026-10-20T02:49:05.3670000Z</dcterms:modified>
</coreProperties>
</file>