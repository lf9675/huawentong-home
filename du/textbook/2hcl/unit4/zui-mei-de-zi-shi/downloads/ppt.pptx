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547f245dec43e3" /><Relationship Type="http://schemas.openxmlformats.org/officeDocument/2006/relationships/extended-properties" Target="/docProps/app.xml" Id="Red0dc7898239425f" /><Relationship Type="http://schemas.openxmlformats.org/officeDocument/2006/relationships/officeDocument" Target="/ppt/presentation.xml" Id="Raf29a7abc05346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3946e689e243de"/>
  </p:sldMasterIdLst>
  <p:notesMasterIdLst>
    <p:notesMasterId xmlns:r="http://schemas.openxmlformats.org/officeDocument/2006/relationships" r:id="R199ff2b7f1cc485b"/>
  </p:notesMasterIdLst>
  <p:sldIdLst>
    <p:sldId xmlns:r="http://schemas.openxmlformats.org/officeDocument/2006/relationships" id="256" r:id="Rd633237717b6429b"/>
    <p:sldId xmlns:r="http://schemas.openxmlformats.org/officeDocument/2006/relationships" id="257" r:id="Red65daff1f184c10"/>
    <p:sldId xmlns:r="http://schemas.openxmlformats.org/officeDocument/2006/relationships" id="258" r:id="R179aa9dae67f4d33"/>
    <p:sldId xmlns:r="http://schemas.openxmlformats.org/officeDocument/2006/relationships" id="259" r:id="R34ae364be0a14ae1"/>
    <p:sldId xmlns:r="http://schemas.openxmlformats.org/officeDocument/2006/relationships" id="260" r:id="R89391e22e2304793"/>
    <p:sldId xmlns:r="http://schemas.openxmlformats.org/officeDocument/2006/relationships" id="261" r:id="R1eac86eb823d49e7"/>
    <p:sldId xmlns:r="http://schemas.openxmlformats.org/officeDocument/2006/relationships" id="262" r:id="R7641de9e4212483a"/>
    <p:sldId xmlns:r="http://schemas.openxmlformats.org/officeDocument/2006/relationships" id="263" r:id="Rf55a4db51b3b4a5a"/>
    <p:sldId xmlns:r="http://schemas.openxmlformats.org/officeDocument/2006/relationships" id="264" r:id="Rf3318b4fc4304b9a"/>
    <p:sldId xmlns:r="http://schemas.openxmlformats.org/officeDocument/2006/relationships" id="265" r:id="R0aaf1b5368fd477f"/>
    <p:sldId xmlns:r="http://schemas.openxmlformats.org/officeDocument/2006/relationships" id="266" r:id="R8913f26685b54743"/>
    <p:sldId xmlns:r="http://schemas.openxmlformats.org/officeDocument/2006/relationships" id="267" r:id="R15cf51d4b8904041"/>
    <p:sldId xmlns:r="http://schemas.openxmlformats.org/officeDocument/2006/relationships" id="268" r:id="Re93d0a6880534722"/>
    <p:sldId xmlns:r="http://schemas.openxmlformats.org/officeDocument/2006/relationships" id="269" r:id="R233f44ab4bda4076"/>
    <p:sldId xmlns:r="http://schemas.openxmlformats.org/officeDocument/2006/relationships" id="270" r:id="Rb20d0ce518bd49d1"/>
    <p:sldId xmlns:r="http://schemas.openxmlformats.org/officeDocument/2006/relationships" id="271" r:id="R8bee5389776a4311"/>
    <p:sldId xmlns:r="http://schemas.openxmlformats.org/officeDocument/2006/relationships" id="272" r:id="Rb4fbd74675d64b90"/>
    <p:sldId xmlns:r="http://schemas.openxmlformats.org/officeDocument/2006/relationships" id="273" r:id="Rca039ac261c148a0"/>
    <p:sldId xmlns:r="http://schemas.openxmlformats.org/officeDocument/2006/relationships" id="274" r:id="R6993350e59a54027"/>
    <p:sldId xmlns:r="http://schemas.openxmlformats.org/officeDocument/2006/relationships" id="275" r:id="R3a2056f2f0934494"/>
    <p:sldId xmlns:r="http://schemas.openxmlformats.org/officeDocument/2006/relationships" id="276" r:id="R42ad3a7927074f4d"/>
    <p:sldId xmlns:r="http://schemas.openxmlformats.org/officeDocument/2006/relationships" id="277" r:id="R220fa471e4874e70"/>
    <p:sldId xmlns:r="http://schemas.openxmlformats.org/officeDocument/2006/relationships" id="278" r:id="R4b6e97068115462a"/>
    <p:sldId xmlns:r="http://schemas.openxmlformats.org/officeDocument/2006/relationships" id="279" r:id="R8154a063c5784cbf"/>
    <p:sldId xmlns:r="http://schemas.openxmlformats.org/officeDocument/2006/relationships" id="280" r:id="Raf21cfa290374c42"/>
    <p:sldId xmlns:r="http://schemas.openxmlformats.org/officeDocument/2006/relationships" id="281" r:id="R012d5349d2404586"/>
    <p:sldId xmlns:r="http://schemas.openxmlformats.org/officeDocument/2006/relationships" id="282" r:id="R777ca309dc5f420c"/>
    <p:sldId xmlns:r="http://schemas.openxmlformats.org/officeDocument/2006/relationships" id="283" r:id="R1ad4ac6057814a48"/>
    <p:sldId xmlns:r="http://schemas.openxmlformats.org/officeDocument/2006/relationships" id="284" r:id="R6b2ae176abc64f41"/>
    <p:sldId xmlns:r="http://schemas.openxmlformats.org/officeDocument/2006/relationships" id="285" r:id="R1934fdf4328d4643"/>
    <p:sldId xmlns:r="http://schemas.openxmlformats.org/officeDocument/2006/relationships" id="286" r:id="R8af25e2a657a4d6f"/>
    <p:sldId xmlns:r="http://schemas.openxmlformats.org/officeDocument/2006/relationships" id="287" r:id="R52887f00830745bc"/>
    <p:sldId xmlns:r="http://schemas.openxmlformats.org/officeDocument/2006/relationships" id="288" r:id="R47e4460f0b1c4710"/>
    <p:sldId xmlns:r="http://schemas.openxmlformats.org/officeDocument/2006/relationships" id="289" r:id="R11a6c8d6a95b4a44"/>
    <p:sldId xmlns:r="http://schemas.openxmlformats.org/officeDocument/2006/relationships" id="290" r:id="Rd1d92af99e0f4c99"/>
    <p:sldId xmlns:r="http://schemas.openxmlformats.org/officeDocument/2006/relationships" id="291" r:id="R2aad7b00022a4bee"/>
    <p:sldId xmlns:r="http://schemas.openxmlformats.org/officeDocument/2006/relationships" id="292" r:id="Rde3854d6f64748a8"/>
    <p:sldId xmlns:r="http://schemas.openxmlformats.org/officeDocument/2006/relationships" id="293" r:id="R039de76d900a42dc"/>
    <p:sldId xmlns:r="http://schemas.openxmlformats.org/officeDocument/2006/relationships" id="294" r:id="R9a2ae56034f343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a78d659f754621" /><Relationship Type="http://schemas.openxmlformats.org/officeDocument/2006/relationships/slideMaster" Target="/ppt/slideMasters/slideMaster1.xml" Id="Rc63946e689e243de" /><Relationship Type="http://schemas.openxmlformats.org/officeDocument/2006/relationships/notesMaster" Target="/ppt/notesMasters/notesMaster1.xml" Id="R199ff2b7f1cc485b" /><Relationship Type="http://schemas.openxmlformats.org/officeDocument/2006/relationships/presProps" Target="/ppt/presProps.xml" Id="R772116642fd24cb1" /><Relationship Type="http://schemas.openxmlformats.org/officeDocument/2006/relationships/tableStyles" Target="/ppt/tableStyles.xml" Id="R18d12677ec644948" /><Relationship Type="http://schemas.openxmlformats.org/officeDocument/2006/relationships/slide" Target="/ppt/slides/slide1.xml" Id="Rd633237717b6429b" /><Relationship Type="http://schemas.openxmlformats.org/officeDocument/2006/relationships/slide" Target="/ppt/slides/slide2.xml" Id="Red65daff1f184c10" /><Relationship Type="http://schemas.openxmlformats.org/officeDocument/2006/relationships/slide" Target="/ppt/slides/slide3.xml" Id="R179aa9dae67f4d33" /><Relationship Type="http://schemas.openxmlformats.org/officeDocument/2006/relationships/slide" Target="/ppt/slides/slide4.xml" Id="R34ae364be0a14ae1" /><Relationship Type="http://schemas.openxmlformats.org/officeDocument/2006/relationships/slide" Target="/ppt/slides/slide5.xml" Id="R89391e22e2304793" /><Relationship Type="http://schemas.openxmlformats.org/officeDocument/2006/relationships/slide" Target="/ppt/slides/slide6.xml" Id="R1eac86eb823d49e7" /><Relationship Type="http://schemas.openxmlformats.org/officeDocument/2006/relationships/slide" Target="/ppt/slides/slide7.xml" Id="R7641de9e4212483a" /><Relationship Type="http://schemas.openxmlformats.org/officeDocument/2006/relationships/slide" Target="/ppt/slides/slide8.xml" Id="Rf55a4db51b3b4a5a" /><Relationship Type="http://schemas.openxmlformats.org/officeDocument/2006/relationships/slide" Target="/ppt/slides/slide9.xml" Id="Rf3318b4fc4304b9a" /><Relationship Type="http://schemas.openxmlformats.org/officeDocument/2006/relationships/slide" Target="/ppt/slides/slide10.xml" Id="R0aaf1b5368fd477f" /><Relationship Type="http://schemas.openxmlformats.org/officeDocument/2006/relationships/slide" Target="/ppt/slides/slide11.xml" Id="R8913f26685b54743" /><Relationship Type="http://schemas.openxmlformats.org/officeDocument/2006/relationships/slide" Target="/ppt/slides/slide12.xml" Id="R15cf51d4b8904041" /><Relationship Type="http://schemas.openxmlformats.org/officeDocument/2006/relationships/slide" Target="/ppt/slides/slide13.xml" Id="Re93d0a6880534722" /><Relationship Type="http://schemas.openxmlformats.org/officeDocument/2006/relationships/slide" Target="/ppt/slides/slide14.xml" Id="R233f44ab4bda4076" /><Relationship Type="http://schemas.openxmlformats.org/officeDocument/2006/relationships/slide" Target="/ppt/slides/slide15.xml" Id="Rb20d0ce518bd49d1" /><Relationship Type="http://schemas.openxmlformats.org/officeDocument/2006/relationships/slide" Target="/ppt/slides/slide16.xml" Id="R8bee5389776a4311" /><Relationship Type="http://schemas.openxmlformats.org/officeDocument/2006/relationships/slide" Target="/ppt/slides/slide17.xml" Id="Rb4fbd74675d64b90" /><Relationship Type="http://schemas.openxmlformats.org/officeDocument/2006/relationships/slide" Target="/ppt/slides/slide18.xml" Id="Rca039ac261c148a0" /><Relationship Type="http://schemas.openxmlformats.org/officeDocument/2006/relationships/slide" Target="/ppt/slides/slide19.xml" Id="R6993350e59a54027" /><Relationship Type="http://schemas.openxmlformats.org/officeDocument/2006/relationships/slide" Target="/ppt/slides/slide20.xml" Id="R3a2056f2f0934494" /><Relationship Type="http://schemas.openxmlformats.org/officeDocument/2006/relationships/slide" Target="/ppt/slides/slide21.xml" Id="R42ad3a7927074f4d" /><Relationship Type="http://schemas.openxmlformats.org/officeDocument/2006/relationships/slide" Target="/ppt/slides/slide22.xml" Id="R220fa471e4874e70" /><Relationship Type="http://schemas.openxmlformats.org/officeDocument/2006/relationships/slide" Target="/ppt/slides/slide23.xml" Id="R4b6e97068115462a" /><Relationship Type="http://schemas.openxmlformats.org/officeDocument/2006/relationships/slide" Target="/ppt/slides/slide24.xml" Id="R8154a063c5784cbf" /><Relationship Type="http://schemas.openxmlformats.org/officeDocument/2006/relationships/slide" Target="/ppt/slides/slide25.xml" Id="Raf21cfa290374c42" /><Relationship Type="http://schemas.openxmlformats.org/officeDocument/2006/relationships/slide" Target="/ppt/slides/slide26.xml" Id="R012d5349d2404586" /><Relationship Type="http://schemas.openxmlformats.org/officeDocument/2006/relationships/slide" Target="/ppt/slides/slide27.xml" Id="R777ca309dc5f420c" /><Relationship Type="http://schemas.openxmlformats.org/officeDocument/2006/relationships/slide" Target="/ppt/slides/slide28.xml" Id="R1ad4ac6057814a48" /><Relationship Type="http://schemas.openxmlformats.org/officeDocument/2006/relationships/slide" Target="/ppt/slides/slide29.xml" Id="R6b2ae176abc64f41" /><Relationship Type="http://schemas.openxmlformats.org/officeDocument/2006/relationships/slide" Target="/ppt/slides/slide30.xml" Id="R1934fdf4328d4643" /><Relationship Type="http://schemas.openxmlformats.org/officeDocument/2006/relationships/slide" Target="/ppt/slides/slide31.xml" Id="R8af25e2a657a4d6f" /><Relationship Type="http://schemas.openxmlformats.org/officeDocument/2006/relationships/slide" Target="/ppt/slides/slide32.xml" Id="R52887f00830745bc" /><Relationship Type="http://schemas.openxmlformats.org/officeDocument/2006/relationships/slide" Target="/ppt/slides/slide33.xml" Id="R47e4460f0b1c4710" /><Relationship Type="http://schemas.openxmlformats.org/officeDocument/2006/relationships/slide" Target="/ppt/slides/slide34.xml" Id="R11a6c8d6a95b4a44" /><Relationship Type="http://schemas.openxmlformats.org/officeDocument/2006/relationships/slide" Target="/ppt/slides/slide35.xml" Id="Rd1d92af99e0f4c99" /><Relationship Type="http://schemas.openxmlformats.org/officeDocument/2006/relationships/slide" Target="/ppt/slides/slide36.xml" Id="R2aad7b00022a4bee" /><Relationship Type="http://schemas.openxmlformats.org/officeDocument/2006/relationships/slide" Target="/ppt/slides/slide37.xml" Id="Rde3854d6f64748a8" /><Relationship Type="http://schemas.openxmlformats.org/officeDocument/2006/relationships/slide" Target="/ppt/slides/slide38.xml" Id="R039de76d900a42dc" /><Relationship Type="http://schemas.openxmlformats.org/officeDocument/2006/relationships/slide" Target="/ppt/slides/slide39.xml" Id="R9a2ae56034f343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608f7f22fb4b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XGW WenKai TC"/>
        <a:ea typeface=""/>
        <a:cs typeface=""/>
      </a:majorFont>
      <a:minorFont>
        <a:latin typeface="LXGW WenKai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3de4a7bc5c4315" /><Relationship Type="http://schemas.openxmlformats.org/officeDocument/2006/relationships/notesMaster" Target="/ppt/notesMasters/notesMaster1.xml" Id="Ra3ce08059c844b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ff4b01385e4c00" /><Relationship Type="http://schemas.openxmlformats.org/officeDocument/2006/relationships/notesMaster" Target="/ppt/notesMasters/notesMaster1.xml" Id="Rdb753f27c13e4e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4f047b008e426d" /><Relationship Type="http://schemas.openxmlformats.org/officeDocument/2006/relationships/notesMaster" Target="/ppt/notesMasters/notesMaster1.xml" Id="R3afff802322547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f2d895cd814000" /><Relationship Type="http://schemas.openxmlformats.org/officeDocument/2006/relationships/notesMaster" Target="/ppt/notesMasters/notesMaster1.xml" Id="Rdb6f7dd34abc4a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414fc15a534587" /><Relationship Type="http://schemas.openxmlformats.org/officeDocument/2006/relationships/notesMaster" Target="/ppt/notesMasters/notesMaster1.xml" Id="R3cc10c3f46c54d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acf76a580c4cec" /><Relationship Type="http://schemas.openxmlformats.org/officeDocument/2006/relationships/notesMaster" Target="/ppt/notesMasters/notesMaster1.xml" Id="Rd9f677b847934b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936538bd3c4a9e" /><Relationship Type="http://schemas.openxmlformats.org/officeDocument/2006/relationships/notesMaster" Target="/ppt/notesMasters/notesMaster1.xml" Id="R1d73669db4bd43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29ad9e884c4c80" /><Relationship Type="http://schemas.openxmlformats.org/officeDocument/2006/relationships/notesMaster" Target="/ppt/notesMasters/notesMaster1.xml" Id="R141433d9a9e744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a387260f314e06" /><Relationship Type="http://schemas.openxmlformats.org/officeDocument/2006/relationships/notesMaster" Target="/ppt/notesMasters/notesMaster1.xml" Id="R1a4b5867930345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e3265a9dab4b31" /><Relationship Type="http://schemas.openxmlformats.org/officeDocument/2006/relationships/notesMaster" Target="/ppt/notesMasters/notesMaster1.xml" Id="Rcfd07660619a44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ad0c992bcc4398" /><Relationship Type="http://schemas.openxmlformats.org/officeDocument/2006/relationships/notesMaster" Target="/ppt/notesMasters/notesMaster1.xml" Id="Rf6ed965accf349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51bbcb45464546" /><Relationship Type="http://schemas.openxmlformats.org/officeDocument/2006/relationships/notesMaster" Target="/ppt/notesMasters/notesMaster1.xml" Id="R2c93d6e0cf6e49b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1a8c0948724942" /><Relationship Type="http://schemas.openxmlformats.org/officeDocument/2006/relationships/notesMaster" Target="/ppt/notesMasters/notesMaster1.xml" Id="Ra4fd70a51d0840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d681599a265497e" /><Relationship Type="http://schemas.openxmlformats.org/officeDocument/2006/relationships/notesMaster" Target="/ppt/notesMasters/notesMaster1.xml" Id="Rc9eafd05338e4aa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09be1b7c8c48cd" /><Relationship Type="http://schemas.openxmlformats.org/officeDocument/2006/relationships/notesMaster" Target="/ppt/notesMasters/notesMaster1.xml" Id="R602ec4fe70f5459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c0ecce8e88e470e" /><Relationship Type="http://schemas.openxmlformats.org/officeDocument/2006/relationships/notesMaster" Target="/ppt/notesMasters/notesMaster1.xml" Id="R716d12d67957468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ddf23d7dfc045cd" /><Relationship Type="http://schemas.openxmlformats.org/officeDocument/2006/relationships/notesMaster" Target="/ppt/notesMasters/notesMaster1.xml" Id="Ra5ccaae26ecd41e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174ca5468cd49ce" /><Relationship Type="http://schemas.openxmlformats.org/officeDocument/2006/relationships/notesMaster" Target="/ppt/notesMasters/notesMaster1.xml" Id="Re0059cd34ca242c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86d071688e84996" /><Relationship Type="http://schemas.openxmlformats.org/officeDocument/2006/relationships/notesMaster" Target="/ppt/notesMasters/notesMaster1.xml" Id="R533654e6413646f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2a9053696ff485e" /><Relationship Type="http://schemas.openxmlformats.org/officeDocument/2006/relationships/notesMaster" Target="/ppt/notesMasters/notesMaster1.xml" Id="Rb9eb1b3a87c24f8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9f1940da74e42b2" /><Relationship Type="http://schemas.openxmlformats.org/officeDocument/2006/relationships/notesMaster" Target="/ppt/notesMasters/notesMaster1.xml" Id="Rd6f75df8b21b47e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1a4400e44704b17" /><Relationship Type="http://schemas.openxmlformats.org/officeDocument/2006/relationships/notesMaster" Target="/ppt/notesMasters/notesMaster1.xml" Id="R45d1ef467d2f443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00ed550d22a4b71" /><Relationship Type="http://schemas.openxmlformats.org/officeDocument/2006/relationships/notesMaster" Target="/ppt/notesMasters/notesMaster1.xml" Id="R96c0e012a5a545a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caf7de4885c46ba" /><Relationship Type="http://schemas.openxmlformats.org/officeDocument/2006/relationships/notesMaster" Target="/ppt/notesMasters/notesMaster1.xml" Id="R12961dd90648460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50c2d4bbc0a4bd9" /><Relationship Type="http://schemas.openxmlformats.org/officeDocument/2006/relationships/notesMaster" Target="/ppt/notesMasters/notesMaster1.xml" Id="Rc2b8a09e6267478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508e5c0af53464b" /><Relationship Type="http://schemas.openxmlformats.org/officeDocument/2006/relationships/notesMaster" Target="/ppt/notesMasters/notesMaster1.xml" Id="Rbfc43833314b4fb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3c14aa9d0d84ec6" /><Relationship Type="http://schemas.openxmlformats.org/officeDocument/2006/relationships/notesMaster" Target="/ppt/notesMasters/notesMaster1.xml" Id="Rf2d0059d7f8a419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6312565f9224bbe" /><Relationship Type="http://schemas.openxmlformats.org/officeDocument/2006/relationships/notesMaster" Target="/ppt/notesMasters/notesMaster1.xml" Id="Rf2a5f4c3f78b446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974699aba094cf7" /><Relationship Type="http://schemas.openxmlformats.org/officeDocument/2006/relationships/notesMaster" Target="/ppt/notesMasters/notesMaster1.xml" Id="R232004167b8741e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dc6af033f544773" /><Relationship Type="http://schemas.openxmlformats.org/officeDocument/2006/relationships/notesMaster" Target="/ppt/notesMasters/notesMaster1.xml" Id="R962564389a8349d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d9064d89ac340bd" /><Relationship Type="http://schemas.openxmlformats.org/officeDocument/2006/relationships/notesMaster" Target="/ppt/notesMasters/notesMaster1.xml" Id="R3216a803f1414a5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28cfed7040f4024" /><Relationship Type="http://schemas.openxmlformats.org/officeDocument/2006/relationships/notesMaster" Target="/ppt/notesMasters/notesMaster1.xml" Id="Rb1550b4ff30d407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8fdb3259a904d81" /><Relationship Type="http://schemas.openxmlformats.org/officeDocument/2006/relationships/notesMaster" Target="/ppt/notesMasters/notesMaster1.xml" Id="Re7c3d068ab12486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033266f31294443" /><Relationship Type="http://schemas.openxmlformats.org/officeDocument/2006/relationships/notesMaster" Target="/ppt/notesMasters/notesMaster1.xml" Id="Rd4aa51ffe098480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743579847904671" /><Relationship Type="http://schemas.openxmlformats.org/officeDocument/2006/relationships/notesMaster" Target="/ppt/notesMasters/notesMaster1.xml" Id="Rba7c246b89e24f9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9299207a84a40f2" /><Relationship Type="http://schemas.openxmlformats.org/officeDocument/2006/relationships/notesMaster" Target="/ppt/notesMasters/notesMaster1.xml" Id="Rd6bb92a6e18d446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c4821de25074e48" /><Relationship Type="http://schemas.openxmlformats.org/officeDocument/2006/relationships/notesMaster" Target="/ppt/notesMasters/notesMaster1.xml" Id="R14c3ddb922d84df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90926d9d65442a3" /><Relationship Type="http://schemas.openxmlformats.org/officeDocument/2006/relationships/notesMaster" Target="/ppt/notesMasters/notesMaster1.xml" Id="R61fd19b581764ac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33a7a5310614fb3" /><Relationship Type="http://schemas.openxmlformats.org/officeDocument/2006/relationships/notesMaster" Target="/ppt/notesMasters/notesMaster1.xml" Id="Raaa092d52ee34a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第一课读第1—5段，第二课读第6—10段。每课50分钟，四项书写任务，其他用口头、点选和取证。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教参1.2导入。口头交流5分钟，不评价学生外貌，不要求展示个人照片。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先读第一段完整原文。原文中的“我觉得”表明叙述者主观感受，不能据此断定同学的意图。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概念先教后练。“像”字不一定单独决定修辞，要看有无用另一事物突出相似特点。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课本第1段旁注；教参第1—2段</a:t>
            </a:r>
          </a:p>
          <a:p xmlns:a="http://schemas.openxmlformats.org/drawingml/2006/main">
            <a:r>
              <a:t>教师示范。</a:t>
            </a:r>
          </a:p>
          <a:p xmlns:a="http://schemas.openxmlformats.org/drawingml/2006/main">
            <a:r>
              <a:t>这一段的两个比喻句有什么作用？</a:t>
            </a:r>
          </a:p>
          <a:p xmlns:a="http://schemas.openxmlformats.org/drawingml/2006/main">
            <a:r>
              <a:t>参考：把别人的一瞥比作射向自己的利箭，把被注视时的感受比作被烈日炙烤，生动地表现“我”觉得受伤、难受，非常在意别人的目光，内心敏感而自卑。</a:t>
            </a:r>
          </a:p>
          <a:p xmlns:a="http://schemas.openxmlformats.org/drawingml/2006/main">
            <a:r>
              <a:t>解析：“利箭”突出受伤感，“烈日炙烤”突出被注视时的难受。两处写的是“我”的心理体验；不能据此断言同学故意伤害“我”。</a:t>
            </a:r>
          </a:p>
          <a:p xmlns:a="http://schemas.openxmlformats.org/drawingml/2006/main">
            <a:r>
              <a:t>课堂建议4分：两个比喻各1分；受伤、难受的具体感受1分；敏感自卑、在意目光1分。只写“生动形象”不给作用分。</a:t>
            </a:r>
          </a:p>
          <a:p xmlns:a="http://schemas.openxmlformats.org/drawingml/2006/main">
            <a:r>
              <a:t>常见误读：不把“我”的感受直接写成同学的实际意图。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课本第1段旁注；教参第1—2段</a:t>
            </a:r>
          </a:p>
          <a:p xmlns:a="http://schemas.openxmlformats.org/drawingml/2006/main">
            <a:r>
              <a:t>教师示范。</a:t>
            </a:r>
          </a:p>
          <a:p xmlns:a="http://schemas.openxmlformats.org/drawingml/2006/main">
            <a:r>
              <a:t>这一段的两个比喻句有什么作用？</a:t>
            </a:r>
          </a:p>
          <a:p xmlns:a="http://schemas.openxmlformats.org/drawingml/2006/main">
            <a:r>
              <a:t>参考：把别人的一瞥比作射向自己的利箭，把被注视时的感受比作被烈日炙烤，生动地表现“我”觉得受伤、难受，非常在意别人的目光，内心敏感而自卑。</a:t>
            </a:r>
          </a:p>
          <a:p xmlns:a="http://schemas.openxmlformats.org/drawingml/2006/main">
            <a:r>
              <a:t>解析：“利箭”突出受伤感，“烈日炙烤”突出被注视时的难受。两处写的是“我”的心理体验；不能据此断言同学故意伤害“我”。</a:t>
            </a:r>
          </a:p>
          <a:p xmlns:a="http://schemas.openxmlformats.org/drawingml/2006/main">
            <a:r>
              <a:t>课堂建议4分：两个比喻各1分；受伤、难受的具体感受1分；敏感自卑、在意目光1分。只写“生动形象”不给作用分。</a:t>
            </a:r>
          </a:p>
          <a:p xmlns:a="http://schemas.openxmlformats.org/drawingml/2006/main">
            <a:r>
              <a:t>常见误读：不把“我”的感受直接写成同学的实际意图。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课本第2段旁注；教参第1—2段</a:t>
            </a:r>
          </a:p>
          <a:p xmlns:a="http://schemas.openxmlformats.org/drawingml/2006/main">
            <a:r>
              <a:t>学生独立。</a:t>
            </a:r>
          </a:p>
          <a:p xmlns:a="http://schemas.openxmlformats.org/drawingml/2006/main">
            <a:r>
              <a:t>从哪里可以看出“我”对自己的外表没有自信？</a:t>
            </a:r>
          </a:p>
          <a:p xmlns:a="http://schemas.openxmlformats.org/drawingml/2006/main">
            <a:r>
              <a:t>参考：“我”用沉默和独来独往武装自己，害怕摄像头，认为怎样打扮也掩饰不了缺陷，并认定自己像丑小鸭一样永远不会变美。</a:t>
            </a:r>
          </a:p>
          <a:p xmlns:a="http://schemas.openxmlformats.org/drawingml/2006/main">
            <a:r>
              <a:t>解析：先找行为，再找想法；不是因为不喜欢同学，而是因为否定自己的外表，害怕拍照暴露缺陷。</a:t>
            </a:r>
          </a:p>
          <a:p xmlns:a="http://schemas.openxmlformats.org/drawingml/2006/main">
            <a:r>
              <a:t>按意义理解核对；接受有依据的等义表达。各意义单位独立给分。</a:t>
            </a:r>
          </a:p>
          <a:p xmlns:a="http://schemas.openxmlformats.org/drawingml/2006/main">
            <a:r>
              <a:t>常见误读：只答不爱交朋友、不喜欢社交媒体；把丑小鸭不会变天鹅当作作者认同的真理。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课本第2段旁注；教参第1—2段</a:t>
            </a:r>
          </a:p>
          <a:p xmlns:a="http://schemas.openxmlformats.org/drawingml/2006/main">
            <a:r>
              <a:t>学生独立。</a:t>
            </a:r>
          </a:p>
          <a:p xmlns:a="http://schemas.openxmlformats.org/drawingml/2006/main">
            <a:r>
              <a:t>从哪里可以看出“我”对自己的外表没有自信？</a:t>
            </a:r>
          </a:p>
          <a:p xmlns:a="http://schemas.openxmlformats.org/drawingml/2006/main">
            <a:r>
              <a:t>参考：“我”用沉默和独来独往武装自己，害怕摄像头，认为怎样打扮也掩饰不了缺陷，并认定自己像丑小鸭一样永远不会变美。</a:t>
            </a:r>
          </a:p>
          <a:p xmlns:a="http://schemas.openxmlformats.org/drawingml/2006/main">
            <a:r>
              <a:t>解析：先找行为，再找想法；不是因为不喜欢同学，而是因为否定自己的外表，害怕拍照暴露缺陷。</a:t>
            </a:r>
          </a:p>
          <a:p xmlns:a="http://schemas.openxmlformats.org/drawingml/2006/main">
            <a:r>
              <a:t>按意义理解核对；接受有依据的等义表达。各意义单位独立给分。</a:t>
            </a:r>
          </a:p>
          <a:p xmlns:a="http://schemas.openxmlformats.org/drawingml/2006/main">
            <a:r>
              <a:t>常见误读：只答不爱交朋友、不喜欢社交媒体；把丑小鸭不会变天鹅当作作者认同的真理。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课本巩固练习一；教参3.1</a:t>
            </a:r>
          </a:p>
          <a:p xmlns:a="http://schemas.openxmlformats.org/drawingml/2006/main">
            <a:r>
              <a:t>学生独立。</a:t>
            </a:r>
          </a:p>
          <a:p xmlns:a="http://schemas.openxmlformats.org/drawingml/2006/main">
            <a:r>
              <a:t>仿写句子。</a:t>
            </a:r>
          </a:p>
          <a:p xmlns:a="http://schemas.openxmlformats.org/drawingml/2006/main">
            <a:r>
              <a:t>例：在我看来，丑小鸭就是丑小鸭，永远都成不了天鹅。</a:t>
            </a:r>
          </a:p>
          <a:p xmlns:a="http://schemas.openxmlformats.org/drawingml/2006/main">
            <a:r>
              <a:t>在我看来，________就是________，________。</a:t>
            </a:r>
          </a:p>
          <a:p xmlns:a="http://schemas.openxmlformats.org/drawingml/2006/main">
            <a:r>
              <a:t>参考：示例：在我看来，朋友就是愿意真诚相待的人，不会只凭外表评价别人。</a:t>
            </a:r>
          </a:p>
          <a:p xmlns:a="http://schemas.openxmlformats.org/drawingml/2006/main">
            <a:r>
              <a:t>解析：“在我看来”提出个人看法，“就是”表现比较坚持的判断。仿用句式即可，不需要赞成原句中否定自己的想法。</a:t>
            </a:r>
          </a:p>
          <a:p xmlns:a="http://schemas.openxmlformats.org/drawingml/2006/main">
            <a:r>
              <a:t>课堂建议2分：句式正确1分；意思完整、前后连贯1分。示例不是唯一答案。</a:t>
            </a:r>
          </a:p>
          <a:p xmlns:a="http://schemas.openxmlformats.org/drawingml/2006/main">
            <a:r>
              <a:t>常见误读：只换词而语义不通；认为仿句必须延续“我永远不如人”的想法。</a:t>
            </a:r>
          </a:p>
          <a:p xmlns:a="http://schemas.openxmlformats.org/drawingml/2006/main">
            <a:r>
              <a:t>第一课文字作答1。可仿用句式，不必赞同原句。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课本巩固练习一；教参3.1</a:t>
            </a:r>
          </a:p>
          <a:p xmlns:a="http://schemas.openxmlformats.org/drawingml/2006/main">
            <a:r>
              <a:t>学生独立。</a:t>
            </a:r>
          </a:p>
          <a:p xmlns:a="http://schemas.openxmlformats.org/drawingml/2006/main">
            <a:r>
              <a:t>仿写句子。</a:t>
            </a:r>
          </a:p>
          <a:p xmlns:a="http://schemas.openxmlformats.org/drawingml/2006/main">
            <a:r>
              <a:t>例：在我看来，丑小鸭就是丑小鸭，永远都成不了天鹅。</a:t>
            </a:r>
          </a:p>
          <a:p xmlns:a="http://schemas.openxmlformats.org/drawingml/2006/main">
            <a:r>
              <a:t>在我看来，________就是________，________。</a:t>
            </a:r>
          </a:p>
          <a:p xmlns:a="http://schemas.openxmlformats.org/drawingml/2006/main">
            <a:r>
              <a:t>参考：示例：在我看来，朋友就是愿意真诚相待的人，不会只凭外表评价别人。</a:t>
            </a:r>
          </a:p>
          <a:p xmlns:a="http://schemas.openxmlformats.org/drawingml/2006/main">
            <a:r>
              <a:t>解析：“在我看来”提出个人看法，“就是”表现比较坚持的判断。仿用句式即可，不需要赞成原句中否定自己的想法。</a:t>
            </a:r>
          </a:p>
          <a:p xmlns:a="http://schemas.openxmlformats.org/drawingml/2006/main">
            <a:r>
              <a:t>课堂建议2分：句式正确1分；意思完整、前后连贯1分。示例不是唯一答案。</a:t>
            </a:r>
          </a:p>
          <a:p xmlns:a="http://schemas.openxmlformats.org/drawingml/2006/main">
            <a:r>
              <a:t>常见误读：只换词而语义不通；认为仿句必须延续“我永远不如人”的想法。</a:t>
            </a:r>
          </a:p>
          <a:p xmlns:a="http://schemas.openxmlformats.org/drawingml/2006/main">
            <a:r>
              <a:t>先收取学生句子再显示示例。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课本第3段旁注；教参第3—7段</a:t>
            </a:r>
          </a:p>
          <a:p xmlns:a="http://schemas.openxmlformats.org/drawingml/2006/main">
            <a:r>
              <a:t>学生独立。</a:t>
            </a:r>
          </a:p>
          <a:p xmlns:a="http://schemas.openxmlformats.org/drawingml/2006/main">
            <a:r>
              <a:t>“我”和同学们的心情有什么不同？</a:t>
            </a:r>
          </a:p>
          <a:p xmlns:a="http://schemas.openxmlformats.org/drawingml/2006/main">
            <a:r>
              <a:t>参考：同学们兴致勃勃，积极讨论和摆姿势；“我”却心情低落、害怕拍照，因为对自己的外表没有信心。</a:t>
            </a:r>
          </a:p>
          <a:p xmlns:a="http://schemas.openxmlformats.org/drawingml/2006/main">
            <a:r>
              <a:t>解析：题目要比较双方，不能只答“我”害怕。用“却”连接两种不同心情；“沉到谷底”形容心情极度低落。</a:t>
            </a:r>
          </a:p>
          <a:p xmlns:a="http://schemas.openxmlformats.org/drawingml/2006/main">
            <a:r>
              <a:t>按意义理解核对；接受有依据的等义表达。各意义单位独立给分。</a:t>
            </a:r>
          </a:p>
          <a:p xmlns:a="http://schemas.openxmlformats.org/drawingml/2006/main">
            <a:r>
              <a:t>常见误读：只写一方；把低落解释成无聊；误加比赛或奖品。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课本第3段旁注；教参第3—7段</a:t>
            </a:r>
          </a:p>
          <a:p xmlns:a="http://schemas.openxmlformats.org/drawingml/2006/main">
            <a:r>
              <a:t>学生独立。</a:t>
            </a:r>
          </a:p>
          <a:p xmlns:a="http://schemas.openxmlformats.org/drawingml/2006/main">
            <a:r>
              <a:t>“我”和同学们的心情有什么不同？</a:t>
            </a:r>
          </a:p>
          <a:p xmlns:a="http://schemas.openxmlformats.org/drawingml/2006/main">
            <a:r>
              <a:t>参考：同学们兴致勃勃，积极讨论和摆姿势；“我”却心情低落、害怕拍照，因为对自己的外表没有信心。</a:t>
            </a:r>
          </a:p>
          <a:p xmlns:a="http://schemas.openxmlformats.org/drawingml/2006/main">
            <a:r>
              <a:t>解析：题目要比较双方，不能只答“我”害怕。用“却”连接两种不同心情；“沉到谷底”形容心情极度低落。</a:t>
            </a:r>
          </a:p>
          <a:p xmlns:a="http://schemas.openxmlformats.org/drawingml/2006/main">
            <a:r>
              <a:t>按意义理解核对；接受有依据的等义表达。各意义单位独立给分。</a:t>
            </a:r>
          </a:p>
          <a:p xmlns:a="http://schemas.openxmlformats.org/drawingml/2006/main">
            <a:r>
              <a:t>常见误读：只写一方；把低落解释成无聊；误加比赛或奖品。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原漫画第16格对应第4段。先读第4—5段完整原文，再观察画面帮助理解；答题以原句为准。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课本第4段旁注；教参第3—7段</a:t>
            </a:r>
          </a:p>
          <a:p xmlns:a="http://schemas.openxmlformats.org/drawingml/2006/main">
            <a:r>
              <a:t>学生独立。</a:t>
            </a:r>
          </a:p>
          <a:p xmlns:a="http://schemas.openxmlformats.org/drawingml/2006/main">
            <a:r>
              <a:t>轮到“我”拍照时，“我”有什么反应？为什么“我”会有这样的反应？</a:t>
            </a:r>
          </a:p>
          <a:p xmlns:a="http://schemas.openxmlformats.org/drawingml/2006/main">
            <a:r>
              <a:t>参考：“我”慢吞吞地走上前，拘束地站着，心里慌乱，被同学注视时更加局促不安，脸红发烫，还沮丧地说自己没有美的姿势。因为“我”对外表没有信心，觉得无法掩饰缺陷，不知道怎样面对镜头和同学的注视。</a:t>
            </a:r>
          </a:p>
          <a:p xmlns:a="http://schemas.openxmlformats.org/drawingml/2006/main">
            <a:r>
              <a:t>解析：反应要写行为、心理或神态；原因要联系第1—2段的自卑。教室安静与同学注视使“我”更紧张，但安静本身不能证明大家嘲笑“我”。</a:t>
            </a:r>
          </a:p>
          <a:p xmlns:a="http://schemas.openxmlformats.org/drawingml/2006/main">
            <a:r>
              <a:t>课堂建议4分：两种不同反应各1分；外表缺乏信心1分；不知如何面对镜头或注视1分。反应与原因独立给分。只写“因为紧张”属于循环解释。</a:t>
            </a:r>
          </a:p>
          <a:p xmlns:a="http://schemas.openxmlformats.org/drawingml/2006/main">
            <a:r>
              <a:t>常见误读：把同学安静当作嘲笑证据；把脸红解释为天气热；只重复“因为慌乱所以慌乱”。</a:t>
            </a:r>
          </a:p>
          <a:p xmlns:a="http://schemas.openxmlformats.org/drawingml/2006/main">
            <a:r>
              <a:t>第一课文字作答2。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先让学生独立写答；需要时才提供此框架。要求反应＋原因，避免循环解释。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课本第4段旁注；教参第3—7段</a:t>
            </a:r>
          </a:p>
          <a:p xmlns:a="http://schemas.openxmlformats.org/drawingml/2006/main">
            <a:r>
              <a:t>学生独立。</a:t>
            </a:r>
          </a:p>
          <a:p xmlns:a="http://schemas.openxmlformats.org/drawingml/2006/main">
            <a:r>
              <a:t>轮到“我”拍照时，“我”有什么反应？为什么“我”会有这样的反应？</a:t>
            </a:r>
          </a:p>
          <a:p xmlns:a="http://schemas.openxmlformats.org/drawingml/2006/main">
            <a:r>
              <a:t>参考：“我”慢吞吞地走上前，拘束地站着，心里慌乱，被同学注视时更加局促不安，脸红发烫，还沮丧地说自己没有美的姿势。因为“我”对外表没有信心，觉得无法掩饰缺陷，不知道怎样面对镜头和同学的注视。</a:t>
            </a:r>
          </a:p>
          <a:p xmlns:a="http://schemas.openxmlformats.org/drawingml/2006/main">
            <a:r>
              <a:t>解析：反应要写行为、心理或神态；原因要联系第1—2段的自卑。教室安静与同学注视使“我”更紧张，但安静本身不能证明大家嘲笑“我”。</a:t>
            </a:r>
          </a:p>
          <a:p xmlns:a="http://schemas.openxmlformats.org/drawingml/2006/main">
            <a:r>
              <a:t>课堂建议4分：两种不同反应各1分；外表缺乏信心1分；不知如何面对镜头或注视1分。反应与原因独立给分。只写“因为紧张”属于循环解释。</a:t>
            </a:r>
          </a:p>
          <a:p xmlns:a="http://schemas.openxmlformats.org/drawingml/2006/main">
            <a:r>
              <a:t>常见误读：把同学安静当作嘲笑证据；把脸红解释为天气热；只重复“因为慌乱所以慌乱”。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课本第4段旁注；教参第3—7段</a:t>
            </a:r>
          </a:p>
          <a:p xmlns:a="http://schemas.openxmlformats.org/drawingml/2006/main">
            <a:r>
              <a:t>学生独立。</a:t>
            </a:r>
          </a:p>
          <a:p xmlns:a="http://schemas.openxmlformats.org/drawingml/2006/main">
            <a:r>
              <a:t>轮到“我”拍照时，“我”有什么反应？为什么“我”会有这样的反应？</a:t>
            </a:r>
          </a:p>
          <a:p xmlns:a="http://schemas.openxmlformats.org/drawingml/2006/main">
            <a:r>
              <a:t>参考：“我”慢吞吞地走上前，拘束地站着，心里慌乱，被同学注视时更加局促不安，脸红发烫，还沮丧地说自己没有美的姿势。因为“我”对外表没有信心，觉得无法掩饰缺陷，不知道怎样面对镜头和同学的注视。</a:t>
            </a:r>
          </a:p>
          <a:p xmlns:a="http://schemas.openxmlformats.org/drawingml/2006/main">
            <a:r>
              <a:t>解析：反应要写行为、心理或神态；原因要联系第1—2段的自卑。教室安静与同学注视使“我”更紧张，但安静本身不能证明大家嘲笑“我”。</a:t>
            </a:r>
          </a:p>
          <a:p xmlns:a="http://schemas.openxmlformats.org/drawingml/2006/main">
            <a:r>
              <a:t>课堂建议4分：两种不同反应各1分；外表缺乏信心1分；不知如何面对镜头或注视1分。反应与原因独立给分。只写“因为紧张”属于循环解释。</a:t>
            </a:r>
          </a:p>
          <a:p xmlns:a="http://schemas.openxmlformats.org/drawingml/2006/main">
            <a:r>
              <a:t>常见误读：把同学安静当作嘲笑证据；把脸红解释为天气热；只重复“因为慌乱所以慌乱”。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课本第4段旁注；教参第3—7段</a:t>
            </a:r>
          </a:p>
          <a:p xmlns:a="http://schemas.openxmlformats.org/drawingml/2006/main">
            <a:r>
              <a:t>学生独立。</a:t>
            </a:r>
          </a:p>
          <a:p xmlns:a="http://schemas.openxmlformats.org/drawingml/2006/main">
            <a:r>
              <a:t>轮到“我”拍照时，“我”有什么反应？为什么“我”会有这样的反应？</a:t>
            </a:r>
          </a:p>
          <a:p xmlns:a="http://schemas.openxmlformats.org/drawingml/2006/main">
            <a:r>
              <a:t>参考：“我”慢吞吞地走上前，拘束地站着，心里慌乱，被同学注视时更加局促不安，脸红发烫，还沮丧地说自己没有美的姿势。因为“我”对外表没有信心，觉得无法掩饰缺陷，不知道怎样面对镜头和同学的注视。</a:t>
            </a:r>
          </a:p>
          <a:p xmlns:a="http://schemas.openxmlformats.org/drawingml/2006/main">
            <a:r>
              <a:t>解析：反应要写行为、心理或神态；原因要联系第1—2段的自卑。教室安静与同学注视使“我”更紧张，但安静本身不能证明大家嘲笑“我”。</a:t>
            </a:r>
          </a:p>
          <a:p xmlns:a="http://schemas.openxmlformats.org/drawingml/2006/main">
            <a:r>
              <a:t>课堂建议4分：两种不同反应各1分；外表缺乏信心1分；不知如何面对镜头或注视1分。反应与原因独立给分。只写“因为紧张”属于循环解释。</a:t>
            </a:r>
          </a:p>
          <a:p xmlns:a="http://schemas.openxmlformats.org/drawingml/2006/main">
            <a:r>
              <a:t>常见误读：把同学安静当作嘲笑证据；把脸红解释为天气热；只重复“因为慌乱所以慌乱”。</a:t>
            </a:r>
          </a:p>
          <a:p xmlns:a="http://schemas.openxmlformats.org/drawingml/2006/main">
            <a:r>
              <a:t>教参补充原题，口头讨论，不增加打字。可推测大家把注意力转向“我”，不能断言嘲笑。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第一课最后4分钟，对照已有回答并订正，整理收藏词语。不加新出口题。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回顾前文3分钟。第二课两项书写为主题题和必做开放题。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课本第6段旁注；教参第3—7段</a:t>
            </a:r>
          </a:p>
          <a:p xmlns:a="http://schemas.openxmlformats.org/drawingml/2006/main">
            <a:r>
              <a:t>学生独立。</a:t>
            </a:r>
          </a:p>
          <a:p xmlns:a="http://schemas.openxmlformats.org/drawingml/2006/main">
            <a:r>
              <a:t>你如何理解“这个世界上每个人都有自己最美丽的姿势”这句话？</a:t>
            </a:r>
          </a:p>
          <a:p xmlns:a="http://schemas.openxmlformats.org/drawingml/2006/main">
            <a:r>
              <a:t>参考：每个人都有值得自己骄傲、自信的一面；即使有不完美的地方，也能发现和展现自己的美。</a:t>
            </a:r>
          </a:p>
          <a:p xmlns:a="http://schemas.openxmlformats.org/drawingml/2006/main">
            <a:r>
              <a:t>解析：老师先肯定“每个人”，再邀请大家帮宜欣设计姿势。句意不局限于一种拍照动作，也不是说人必须毫无缺陷。</a:t>
            </a:r>
          </a:p>
          <a:p xmlns:a="http://schemas.openxmlformats.org/drawingml/2006/main">
            <a:r>
              <a:t>按意义理解核对；接受有依据的等义表达。各意义单位独立给分。</a:t>
            </a:r>
          </a:p>
          <a:p xmlns:a="http://schemas.openxmlformats.org/drawingml/2006/main">
            <a:r>
              <a:t>常见误读：只解释拍照动作；说必须消除全部缺陷才能自信。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课本第6段旁注；教参第3—7段</a:t>
            </a:r>
          </a:p>
          <a:p xmlns:a="http://schemas.openxmlformats.org/drawingml/2006/main">
            <a:r>
              <a:t>学生独立。</a:t>
            </a:r>
          </a:p>
          <a:p xmlns:a="http://schemas.openxmlformats.org/drawingml/2006/main">
            <a:r>
              <a:t>你如何理解“这个世界上每个人都有自己最美丽的姿势”这句话？</a:t>
            </a:r>
          </a:p>
          <a:p xmlns:a="http://schemas.openxmlformats.org/drawingml/2006/main">
            <a:r>
              <a:t>参考：每个人都有值得自己骄傲、自信的一面；即使有不完美的地方，也能发现和展现自己的美。</a:t>
            </a:r>
          </a:p>
          <a:p xmlns:a="http://schemas.openxmlformats.org/drawingml/2006/main">
            <a:r>
              <a:t>解析：老师先肯定“每个人”，再邀请大家帮宜欣设计姿势。句意不局限于一种拍照动作，也不是说人必须毫无缺陷。</a:t>
            </a:r>
          </a:p>
          <a:p xmlns:a="http://schemas.openxmlformats.org/drawingml/2006/main">
            <a:r>
              <a:t>按意义理解核对；接受有依据的等义表达。各意义单位独立给分。</a:t>
            </a:r>
          </a:p>
          <a:p xmlns:a="http://schemas.openxmlformats.org/drawingml/2006/main">
            <a:r>
              <a:t>常见误读：只解释拍照动作；说必须消除全部缺陷才能自信。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原漫画第24格，老师为宜欣拍下照片。先读第7段动作；原文的左右手细节以文字为准。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教参第3—7段引导题</a:t>
            </a:r>
          </a:p>
          <a:p xmlns:a="http://schemas.openxmlformats.org/drawingml/2006/main">
            <a:r>
              <a:t>师生共构。</a:t>
            </a:r>
          </a:p>
          <a:p xmlns:a="http://schemas.openxmlformats.org/drawingml/2006/main">
            <a:r>
              <a:t>你认为陈老师为什么提议办照片展？</a:t>
            </a:r>
          </a:p>
          <a:p xmlns:a="http://schemas.openxmlformats.org/drawingml/2006/main">
            <a:r>
              <a:t>参考：从老师“展现最美的自己”的提议、肯定每个人都有美的一面，以及引导同学帮助宜欣，可推测她希望学生发现并欣赏自己的美，也学会欣赏和鼓励同学，增强信心。</a:t>
            </a:r>
          </a:p>
          <a:p xmlns:a="http://schemas.openxmlformats.org/drawingml/2006/main">
            <a:r>
              <a:t>解析：这是一道推测目的题，要用老师说的话和做法支持。原文只写老师喜爱摄影，没有明确说照片展专为宜欣一人安排。</a:t>
            </a:r>
          </a:p>
          <a:p xmlns:a="http://schemas.openxmlformats.org/drawingml/2006/main">
            <a:r>
              <a:t>口头核对：目的合理，且至少一项老师言行能支持；不计自动分。</a:t>
            </a:r>
          </a:p>
          <a:p xmlns:a="http://schemas.openxmlformats.org/drawingml/2006/main">
            <a:r>
              <a:t>常见误读：断言老师为了比赛、宣传或只为宜欣办展；只说老师爱摄影而未联系言行。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教参第3—7段引导题</a:t>
            </a:r>
          </a:p>
          <a:p xmlns:a="http://schemas.openxmlformats.org/drawingml/2006/main">
            <a:r>
              <a:t>师生共构。</a:t>
            </a:r>
          </a:p>
          <a:p xmlns:a="http://schemas.openxmlformats.org/drawingml/2006/main">
            <a:r>
              <a:t>你认为陈老师为什么提议办照片展？</a:t>
            </a:r>
          </a:p>
          <a:p xmlns:a="http://schemas.openxmlformats.org/drawingml/2006/main">
            <a:r>
              <a:t>参考：从老师“展现最美的自己”的提议、肯定每个人都有美的一面，以及引导同学帮助宜欣，可推测她希望学生发现并欣赏自己的美，也学会欣赏和鼓励同学，增强信心。</a:t>
            </a:r>
          </a:p>
          <a:p xmlns:a="http://schemas.openxmlformats.org/drawingml/2006/main">
            <a:r>
              <a:t>解析：这是一道推测目的题，要用老师说的话和做法支持。原文只写老师喜爱摄影，没有明确说照片展专为宜欣一人安排。</a:t>
            </a:r>
          </a:p>
          <a:p xmlns:a="http://schemas.openxmlformats.org/drawingml/2006/main">
            <a:r>
              <a:t>口头核对：目的合理，且至少一项老师言行能支持；不计自动分。</a:t>
            </a:r>
          </a:p>
          <a:p xmlns:a="http://schemas.openxmlformats.org/drawingml/2006/main">
            <a:r>
              <a:t>常见误读：断言老师为了比赛、宣传或只为宜欣办展；只说老师爱摄影而未联系言行。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课本第8段旁注；教参第8段</a:t>
            </a:r>
          </a:p>
          <a:p xmlns:a="http://schemas.openxmlformats.org/drawingml/2006/main">
            <a:r>
              <a:t>学生独立。</a:t>
            </a:r>
          </a:p>
          <a:p xmlns:a="http://schemas.openxmlformats.org/drawingml/2006/main">
            <a:r>
              <a:t>为什么同学们都鼓起掌来？</a:t>
            </a:r>
          </a:p>
          <a:p xmlns:a="http://schemas.openxmlformats.org/drawingml/2006/main">
            <a:r>
              <a:t>参考：同学们觉得“我”的照片好看，也想通过赞美和掌声鼓励因外表而自卑的“我”，帮助“我”获得信心。</a:t>
            </a:r>
          </a:p>
          <a:p xmlns:a="http://schemas.openxmlformats.org/drawingml/2006/main">
            <a:r>
              <a:t>解析：“照片多好看”“宜欣真美”是直接信息；结合此前的拘束、沮丧以及同学热心帮助，可理解掌声也含有鼓励。感动落泪是“我”的反应，不是鼓掌的起因。</a:t>
            </a:r>
          </a:p>
          <a:p xmlns:a="http://schemas.openxmlformats.org/drawingml/2006/main">
            <a:r>
              <a:t>按意义理解核对；接受有依据的等义表达。各意义单位独立给分。</a:t>
            </a:r>
          </a:p>
          <a:p xmlns:a="http://schemas.openxmlformats.org/drawingml/2006/main">
            <a:r>
              <a:t>常见误读：只答照片漂亮而漏掉鼓励；倒置为因为宜欣哭了才鼓掌。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课本第8段旁注；教参第8段</a:t>
            </a:r>
          </a:p>
          <a:p xmlns:a="http://schemas.openxmlformats.org/drawingml/2006/main">
            <a:r>
              <a:t>学生独立。</a:t>
            </a:r>
          </a:p>
          <a:p xmlns:a="http://schemas.openxmlformats.org/drawingml/2006/main">
            <a:r>
              <a:t>为什么同学们都鼓起掌来？</a:t>
            </a:r>
          </a:p>
          <a:p xmlns:a="http://schemas.openxmlformats.org/drawingml/2006/main">
            <a:r>
              <a:t>参考：同学们觉得“我”的照片好看，也想通过赞美和掌声鼓励因外表而自卑的“我”，帮助“我”获得信心。</a:t>
            </a:r>
          </a:p>
          <a:p xmlns:a="http://schemas.openxmlformats.org/drawingml/2006/main">
            <a:r>
              <a:t>解析：“照片多好看”“宜欣真美”是直接信息；结合此前的拘束、沮丧以及同学热心帮助，可理解掌声也含有鼓励。感动落泪是“我”的反应，不是鼓掌的起因。</a:t>
            </a:r>
          </a:p>
          <a:p xmlns:a="http://schemas.openxmlformats.org/drawingml/2006/main">
            <a:r>
              <a:t>按意义理解核对；接受有依据的等义表达。各意义单位独立给分。</a:t>
            </a:r>
          </a:p>
          <a:p xmlns:a="http://schemas.openxmlformats.org/drawingml/2006/main">
            <a:r>
              <a:t>常见误读：只答照片漂亮而漏掉鼓励；倒置为因为宜欣哭了才鼓掌。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教参第9—10段引导题</a:t>
            </a:r>
          </a:p>
          <a:p xmlns:a="http://schemas.openxmlformats.org/drawingml/2006/main">
            <a:r>
              <a:t>学生独立。</a:t>
            </a:r>
          </a:p>
          <a:p xmlns:a="http://schemas.openxmlformats.org/drawingml/2006/main">
            <a:r>
              <a:t>“我”后来发生什么变化？为什么“我”会发生这样的变化？</a:t>
            </a:r>
          </a:p>
          <a:p xmlns:a="http://schemas.openxmlformats.org/drawingml/2006/main">
            <a:r>
              <a:t>参考：“我”找回信心和勇气，不再以沉默和独来独往保护自己，开始主动交流，并交了许多朋友。因为照片和同学们的肯定让“我”发现自己也可以很美，同学并不在意自己的缺陷，因而突破心防。</a:t>
            </a:r>
          </a:p>
          <a:p xmlns:a="http://schemas.openxmlformats.org/drawingml/2006/main">
            <a:r>
              <a:t>解析：变化既包括心态，也包括行动；原因是照片与同学的肯定带来的自我认识改变。课文没有写脖子恢复正常。</a:t>
            </a:r>
          </a:p>
          <a:p xmlns:a="http://schemas.openxmlformats.org/drawingml/2006/main">
            <a:r>
              <a:t>按意义理解核对；接受有依据的等义表达。各意义单位独立给分。</a:t>
            </a:r>
          </a:p>
          <a:p xmlns:a="http://schemas.openxmlformats.org/drawingml/2006/main">
            <a:r>
              <a:t>常见误读：把外表缺陷消失当成变化原因；只说变开心，漏掉主动交流。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教参第9—10段引导题</a:t>
            </a:r>
          </a:p>
          <a:p xmlns:a="http://schemas.openxmlformats.org/drawingml/2006/main">
            <a:r>
              <a:t>学生独立。</a:t>
            </a:r>
          </a:p>
          <a:p xmlns:a="http://schemas.openxmlformats.org/drawingml/2006/main">
            <a:r>
              <a:t>“我”后来发生什么变化？为什么“我”会发生这样的变化？</a:t>
            </a:r>
          </a:p>
          <a:p xmlns:a="http://schemas.openxmlformats.org/drawingml/2006/main">
            <a:r>
              <a:t>参考：“我”找回信心和勇气，不再以沉默和独来独往保护自己，开始主动交流，并交了许多朋友。因为照片和同学们的肯定让“我”发现自己也可以很美，同学并不在意自己的缺陷，因而突破心防。</a:t>
            </a:r>
          </a:p>
          <a:p xmlns:a="http://schemas.openxmlformats.org/drawingml/2006/main">
            <a:r>
              <a:t>解析：变化既包括心态，也包括行动；原因是照片与同学的肯定带来的自我认识改变。课文没有写脖子恢复正常。</a:t>
            </a:r>
          </a:p>
          <a:p xmlns:a="http://schemas.openxmlformats.org/drawingml/2006/main">
            <a:r>
              <a:t>按意义理解核对；接受有依据的等义表达。各意义单位独立给分。</a:t>
            </a:r>
          </a:p>
          <a:p xmlns:a="http://schemas.openxmlformats.org/drawingml/2006/main">
            <a:r>
              <a:t>常见误读：把外表缺陷消失当成变化原因；只说变开心，漏掉主动交流。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课本第10段旁注；教参第9—10段</a:t>
            </a:r>
          </a:p>
          <a:p xmlns:a="http://schemas.openxmlformats.org/drawingml/2006/main">
            <a:r>
              <a:t>学生独立。</a:t>
            </a:r>
          </a:p>
          <a:p xmlns:a="http://schemas.openxmlformats.org/drawingml/2006/main">
            <a:r>
              <a:t>这里“姿势”的意思和前面的一样吗？</a:t>
            </a:r>
          </a:p>
          <a:p xmlns:a="http://schemas.openxmlformats.org/drawingml/2006/main">
            <a:r>
              <a:t>参考：不一样。前面的“姿势”指拍照时摆出的具体动作；结尾的“姿势”指每个人身上的优点，或值得骄傲、自信的一面。</a:t>
            </a:r>
          </a:p>
          <a:p xmlns:a="http://schemas.openxmlformats.org/drawingml/2006/main">
            <a:r>
              <a:t>解析：结尾由宜欣的经历推广到“每个人”，从具体动作引出自信生活的道理。要说明前后两层意思，不能只说“不一样”。</a:t>
            </a:r>
          </a:p>
          <a:p xmlns:a="http://schemas.openxmlformats.org/drawingml/2006/main">
            <a:r>
              <a:t>按意义理解核对；接受有依据的等义表达。各意义单位独立给分。</a:t>
            </a:r>
          </a:p>
          <a:p xmlns:a="http://schemas.openxmlformats.org/drawingml/2006/main">
            <a:r>
              <a:t>常见误读：只说不一样；解释成托腮动作或掩饰缺陷。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课本第10段旁注；教参第9—10段</a:t>
            </a:r>
          </a:p>
          <a:p xmlns:a="http://schemas.openxmlformats.org/drawingml/2006/main">
            <a:r>
              <a:t>学生独立。</a:t>
            </a:r>
          </a:p>
          <a:p xmlns:a="http://schemas.openxmlformats.org/drawingml/2006/main">
            <a:r>
              <a:t>这里“姿势”的意思和前面的一样吗？</a:t>
            </a:r>
          </a:p>
          <a:p xmlns:a="http://schemas.openxmlformats.org/drawingml/2006/main">
            <a:r>
              <a:t>参考：不一样。前面的“姿势”指拍照时摆出的具体动作；结尾的“姿势”指每个人身上的优点，或值得骄傲、自信的一面。</a:t>
            </a:r>
          </a:p>
          <a:p xmlns:a="http://schemas.openxmlformats.org/drawingml/2006/main">
            <a:r>
              <a:t>解析：结尾由宜欣的经历推广到“每个人”，从具体动作引出自信生活的道理。要说明前后两层意思，不能只说“不一样”。</a:t>
            </a:r>
          </a:p>
          <a:p xmlns:a="http://schemas.openxmlformats.org/drawingml/2006/main">
            <a:r>
              <a:t>按意义理解核对；接受有依据的等义表达。各意义单位独立给分。</a:t>
            </a:r>
          </a:p>
          <a:p xmlns:a="http://schemas.openxmlformats.org/drawingml/2006/main">
            <a:r>
              <a:t>常见误读：只说不一样；解释成托腮动作或掩饰缺陷。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课本巩固练习二之前先解释概念。例句为教师补充。不要先公布本课关键句。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课本巩固练习二；教参3.2</a:t>
            </a:r>
          </a:p>
          <a:p xmlns:a="http://schemas.openxmlformats.org/drawingml/2006/main">
            <a:r>
              <a:t>学生独立。</a:t>
            </a:r>
          </a:p>
          <a:p xmlns:a="http://schemas.openxmlformats.org/drawingml/2006/main">
            <a:r>
              <a:t>找出课文中的关键句，结合内容理解文章的主题。</a:t>
            </a:r>
          </a:p>
          <a:p xmlns:a="http://schemas.openxmlformats.org/drawingml/2006/main">
            <a:r>
              <a:t>分别找出抒情句、议论句，再写出这篇文章的主题。</a:t>
            </a:r>
          </a:p>
          <a:p xmlns:a="http://schemas.openxmlformats.org/drawingml/2006/main">
            <a:r>
              <a:t>参考：抒情句：“原来，我也可以很美！”议论句：“其实，每个人或多或少都有不完美的地方。但是，我们都可以找到自己最美的姿势，都可以活得自信，活出精彩。”主题：每个人都有不完美之处，但能发现自己的优点，建立自信，活出精彩。宜欣在老师与同学的帮助和肯定下重拾信心，也体现欣赏和鼓励对他人的帮助。</a:t>
            </a:r>
          </a:p>
          <a:p xmlns:a="http://schemas.openxmlformats.org/drawingml/2006/main">
            <a:r>
              <a:t>解析：抒情句直接表达欣喜，议论句提出道理。把“我”的拍照经历和改变与结尾道理连起来，不能只抄关键句便停下。</a:t>
            </a:r>
          </a:p>
          <a:p xmlns:a="http://schemas.openxmlformats.org/drawingml/2006/main">
            <a:r>
              <a:t>课堂建议5分：抒情句1分；议论句完整意思1分；接纳不完美与发现优点1分；自信生活1分；联系经历说明1分。按意义而非固定句长；合理的其他抒情句由教师结合表达效果判断。</a:t>
            </a:r>
          </a:p>
          <a:p xmlns:a="http://schemas.openxmlformats.org/drawingml/2006/main">
            <a:r>
              <a:t>常见误读：只抄关键句而没有概括主题；只说摆好动作便能变美；说得到赞美才有价值。</a:t>
            </a:r>
          </a:p>
          <a:p xmlns:a="http://schemas.openxmlformats.org/drawingml/2006/main">
            <a:r>
              <a:t>第二课文字作答1。两个证据框可累加多句；主题不可只抄原文。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课本巩固练习二；教参3.2</a:t>
            </a:r>
          </a:p>
          <a:p xmlns:a="http://schemas.openxmlformats.org/drawingml/2006/main">
            <a:r>
              <a:t>学生独立。</a:t>
            </a:r>
          </a:p>
          <a:p xmlns:a="http://schemas.openxmlformats.org/drawingml/2006/main">
            <a:r>
              <a:t>找出课文中的关键句，结合内容理解文章的主题。</a:t>
            </a:r>
          </a:p>
          <a:p xmlns:a="http://schemas.openxmlformats.org/drawingml/2006/main">
            <a:r>
              <a:t>分别找出抒情句、议论句，再写出这篇文章的主题。</a:t>
            </a:r>
          </a:p>
          <a:p xmlns:a="http://schemas.openxmlformats.org/drawingml/2006/main">
            <a:r>
              <a:t>参考：抒情句：“原来，我也可以很美！”议论句：“其实，每个人或多或少都有不完美的地方。但是，我们都可以找到自己最美的姿势，都可以活得自信，活出精彩。”主题：每个人都有不完美之处，但能发现自己的优点，建立自信，活出精彩。宜欣在老师与同学的帮助和肯定下重拾信心，也体现欣赏和鼓励对他人的帮助。</a:t>
            </a:r>
          </a:p>
          <a:p xmlns:a="http://schemas.openxmlformats.org/drawingml/2006/main">
            <a:r>
              <a:t>解析：抒情句直接表达欣喜，议论句提出道理。把“我”的拍照经历和改变与结尾道理连起来，不能只抄关键句便停下。</a:t>
            </a:r>
          </a:p>
          <a:p xmlns:a="http://schemas.openxmlformats.org/drawingml/2006/main">
            <a:r>
              <a:t>课堂建议5分：抒情句1分；议论句完整意思1分；接纳不完美与发现优点1分；自信生活1分；联系经历说明1分。按意义而非固定句长；合理的其他抒情句由教师结合表达效果判断。</a:t>
            </a:r>
          </a:p>
          <a:p xmlns:a="http://schemas.openxmlformats.org/drawingml/2006/main">
            <a:r>
              <a:t>常见误读：只抄关键句而没有概括主题；只说摆好动作便能变美；说得到赞美才有价值。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课本巩固练习二；教参3.2</a:t>
            </a:r>
          </a:p>
          <a:p xmlns:a="http://schemas.openxmlformats.org/drawingml/2006/main">
            <a:r>
              <a:t>学生独立。</a:t>
            </a:r>
          </a:p>
          <a:p xmlns:a="http://schemas.openxmlformats.org/drawingml/2006/main">
            <a:r>
              <a:t>找出课文中的关键句，结合内容理解文章的主题。</a:t>
            </a:r>
          </a:p>
          <a:p xmlns:a="http://schemas.openxmlformats.org/drawingml/2006/main">
            <a:r>
              <a:t>分别找出抒情句、议论句，再写出这篇文章的主题。</a:t>
            </a:r>
          </a:p>
          <a:p xmlns:a="http://schemas.openxmlformats.org/drawingml/2006/main">
            <a:r>
              <a:t>参考：抒情句：“原来，我也可以很美！”议论句：“其实，每个人或多或少都有不完美的地方。但是，我们都可以找到自己最美的姿势，都可以活得自信，活出精彩。”主题：每个人都有不完美之处，但能发现自己的优点，建立自信，活出精彩。宜欣在老师与同学的帮助和肯定下重拾信心，也体现欣赏和鼓励对他人的帮助。</a:t>
            </a:r>
          </a:p>
          <a:p xmlns:a="http://schemas.openxmlformats.org/drawingml/2006/main">
            <a:r>
              <a:t>解析：抒情句直接表达欣喜，议论句提出道理。把“我”的拍照经历和改变与结尾道理连起来，不能只抄关键句便停下。</a:t>
            </a:r>
          </a:p>
          <a:p xmlns:a="http://schemas.openxmlformats.org/drawingml/2006/main">
            <a:r>
              <a:t>课堂建议5分：抒情句1分；议论句完整意思1分；接纳不完美与发现优点1分；自信生活1分；联系经历说明1分。按意义而非固定句长；合理的其他抒情句由教师结合表达效果判断。</a:t>
            </a:r>
          </a:p>
          <a:p xmlns:a="http://schemas.openxmlformats.org/drawingml/2006/main">
            <a:r>
              <a:t>常见误读：只抄关键句而没有概括主题；只说摆好动作便能变美；说得到赞美才有价值。</a:t>
            </a:r>
          </a:p>
          <a:p xmlns:a="http://schemas.openxmlformats.org/drawingml/2006/main">
            <a:r>
              <a:t>可补充欣赏和鼓励他人的价值，但不能取代核心自信主题。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课本巩固练习三；教参3.3</a:t>
            </a:r>
          </a:p>
          <a:p xmlns:a="http://schemas.openxmlformats.org/drawingml/2006/main">
            <a:r>
              <a:t>学生独立。</a:t>
            </a:r>
          </a:p>
          <a:p xmlns:a="http://schemas.openxmlformats.org/drawingml/2006/main">
            <a:r>
              <a:t>你觉得人们在结交朋友时，比较注重外在美还是内在美？为什么？</a:t>
            </a:r>
          </a:p>
          <a:p xmlns:a="http://schemas.openxmlformats.org/drawingml/2006/main">
            <a:r>
              <a:t>参考：示例：我觉得人们建立长久友谊时，通常更看重内在美，因为真诚、体贴会让人感到被理解和支持。课文中甜甜热心地帮助宜欣，其他同学也真诚地称赞、鼓励她，宜欣因此敢于交流，交到朋友。这些行动体现内在美，能帮助建立信任，所以内在美对友谊更重要。</a:t>
            </a:r>
          </a:p>
          <a:p xmlns:a="http://schemas.openxmlformats.org/drawingml/2006/main">
            <a:r>
              <a:t>解析：先回答你观察到的情况，再解释为什么。可以认为外在美影响初识，也可以认为内在美更影响长期相处，或提出其他有依据的看法；不因立场不同扣分。要解释例子如何支持观点。</a:t>
            </a:r>
          </a:p>
          <a:p xmlns:a="http://schemas.openxmlformats.org/drawingml/2006/main">
            <a:r>
              <a:t>课堂建议4分：明确看法1分；合理理由1分；具体例证1分；例证与观点的联系1分。各点独立判断；主观题不自动评分。</a:t>
            </a:r>
          </a:p>
          <a:p xmlns:a="http://schemas.openxmlformats.org/drawingml/2006/main">
            <a:r>
              <a:t>常见误读：只说“内在美比较重要，因为内在美好”；只举例不解释；只答自己应怎么做而未回应人们交友的情况。</a:t>
            </a:r>
          </a:p>
          <a:p xmlns:a="http://schemas.openxmlformats.org/drawingml/2006/main">
            <a:r>
              <a:t>第二课文字作答2。题目问实际观察；先回应，再谈应有态度。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可讨论初识和长期相处的差别。两者都重视也可接受，但须回答比较关系或说明条件。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课本巩固练习三；教参3.3</a:t>
            </a:r>
          </a:p>
          <a:p xmlns:a="http://schemas.openxmlformats.org/drawingml/2006/main">
            <a:r>
              <a:t>学生独立。</a:t>
            </a:r>
          </a:p>
          <a:p xmlns:a="http://schemas.openxmlformats.org/drawingml/2006/main">
            <a:r>
              <a:t>你觉得人们在结交朋友时，比较注重外在美还是内在美？为什么？</a:t>
            </a:r>
          </a:p>
          <a:p xmlns:a="http://schemas.openxmlformats.org/drawingml/2006/main">
            <a:r>
              <a:t>参考：示例：我觉得人们建立长久友谊时，通常更看重内在美，因为真诚、体贴会让人感到被理解和支持。课文中甜甜热心地帮助宜欣，其他同学也真诚地称赞、鼓励她，宜欣因此敢于交流，交到朋友。这些行动体现内在美，能帮助建立信任，所以内在美对友谊更重要。</a:t>
            </a:r>
          </a:p>
          <a:p xmlns:a="http://schemas.openxmlformats.org/drawingml/2006/main">
            <a:r>
              <a:t>解析：先回答你观察到的情况，再解释为什么。可以认为外在美影响初识，也可以认为内在美更影响长期相处，或提出其他有依据的看法；不因立场不同扣分。要解释例子如何支持观点。</a:t>
            </a:r>
          </a:p>
          <a:p xmlns:a="http://schemas.openxmlformats.org/drawingml/2006/main">
            <a:r>
              <a:t>课堂建议4分：明确看法1分；合理理由1分；具体例证1分；例证与观点的联系1分。各点独立判断；主观题不自动评分。</a:t>
            </a:r>
          </a:p>
          <a:p xmlns:a="http://schemas.openxmlformats.org/drawingml/2006/main">
            <a:r>
              <a:t>常见误读：只说“内在美比较重要，因为内在美好”；只举例不解释；只答自己应怎么做而未回应人们交友的情况。</a:t>
            </a:r>
          </a:p>
          <a:p xmlns:a="http://schemas.openxmlformats.org/drawingml/2006/main">
            <a:r>
              <a:t>示例不是唯一立场，学生先答后显示。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单元四《最美的姿势》。来源：教师提供的课本两张截图、教参三张截图及四页漫画。</a:t>
            </a:r>
          </a:p>
          <a:p xmlns:a="http://schemas.openxmlformats.org/drawingml/2006/main">
            <a:r>
              <a:t>第二课最后3分钟。不新增短文、课后一周小测或打卡。主观题由教师核对；个人词语本可跨课收藏。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7cdfece40845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b1b949081d461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d771eff87d4b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3feeace4af4f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cc64f0d12a4bc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a13f6240b4c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BC1388-1BBC-4C6A-88D8-D3D0BF72E0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FCE559-6B28-41D1-AC21-CFE9A00411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77B3930-36B9-4F1D-91A5-05852CEA03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EF2DBB-5938-4D60-B6E6-2510C44389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0ABDE42-9D0B-4D4B-A30F-3A633D7199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4FFDD85-52DB-4E88-9574-A324444388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8005C1-DF6F-4922-AD0D-BA1661AC35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15F1E06-8E1F-4C37-A822-191125695F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E003B2-3231-440A-BDC4-2DC0D001E9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925C84-37CD-4CE7-BC58-FADAEAD5F0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6916571e464286" /><Relationship Type="http://schemas.openxmlformats.org/officeDocument/2006/relationships/slideLayout" Target="/ppt/slideLayouts/slideLayout1.xml" Id="R5c07da2a30b54299" /><Relationship Type="http://schemas.openxmlformats.org/officeDocument/2006/relationships/slideLayout" Target="/ppt/slideLayouts/slideLayout2.xml" Id="Rc66abc10be9f45f4" /><Relationship Type="http://schemas.openxmlformats.org/officeDocument/2006/relationships/slideLayout" Target="/ppt/slideLayouts/slideLayout3.xml" Id="Re291019d3a574b51" /><Relationship Type="http://schemas.openxmlformats.org/officeDocument/2006/relationships/slideLayout" Target="/ppt/slideLayouts/slideLayout4.xml" Id="R64eabab16fc049fb" /><Relationship Type="http://schemas.openxmlformats.org/officeDocument/2006/relationships/slideLayout" Target="/ppt/slideLayouts/slideLayout5.xml" Id="R3512af2799604ddb" /><Relationship Type="http://schemas.openxmlformats.org/officeDocument/2006/relationships/slideLayout" Target="/ppt/slideLayouts/slideLayout6.xml" Id="R4e8bd06a75ba45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07da2a30b54299"/>
    <p:sldLayoutId xmlns:r="http://schemas.openxmlformats.org/officeDocument/2006/relationships" id="2147483650" r:id="Rc66abc10be9f45f4"/>
    <p:sldLayoutId xmlns:r="http://schemas.openxmlformats.org/officeDocument/2006/relationships" id="2147483651" r:id="Re291019d3a574b51"/>
    <p:sldLayoutId xmlns:r="http://schemas.openxmlformats.org/officeDocument/2006/relationships" id="2147483652" r:id="R64eabab16fc049fb"/>
    <p:sldLayoutId xmlns:r="http://schemas.openxmlformats.org/officeDocument/2006/relationships" id="2147483653" r:id="R3512af2799604ddb"/>
    <p:sldLayoutId xmlns:r="http://schemas.openxmlformats.org/officeDocument/2006/relationships" id="2147483654" r:id="R4e8bd06a75ba45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XGW WenKai TC"/>
        <a:ea typeface=""/>
        <a:cs typeface=""/>
      </a:majorFont>
      <a:minorFont>
        <a:latin typeface="LXGW WenKai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cfaaad521c4d98" /><Relationship Type="http://schemas.openxmlformats.org/officeDocument/2006/relationships/notesSlide" Target="/ppt/notesSlides/notesSlide1.xml" Id="R1ddf8f2eeeec44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2c2d28a60644e2" /><Relationship Type="http://schemas.openxmlformats.org/officeDocument/2006/relationships/notesSlide" Target="/ppt/notesSlides/notesSlide2.xml" Id="Rb3e0eb54445149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f75cf53a844f05" /><Relationship Type="http://schemas.openxmlformats.org/officeDocument/2006/relationships/notesSlide" Target="/ppt/notesSlides/notesSlide3.xml" Id="R9a9e4f35f03649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eca813ff1f41e4" /><Relationship Type="http://schemas.openxmlformats.org/officeDocument/2006/relationships/notesSlide" Target="/ppt/notesSlides/notesSlide4.xml" Id="Rdfb0726a75cd48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b61017c7784ccc" /><Relationship Type="http://schemas.openxmlformats.org/officeDocument/2006/relationships/notesSlide" Target="/ppt/notesSlides/notesSlide5.xml" Id="R3a05c760c7464c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530db129c24b19" /><Relationship Type="http://schemas.openxmlformats.org/officeDocument/2006/relationships/notesSlide" Target="/ppt/notesSlides/notesSlide6.xml" Id="R11347940792742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e7a6ebac3d4600" /><Relationship Type="http://schemas.openxmlformats.org/officeDocument/2006/relationships/notesSlide" Target="/ppt/notesSlides/notesSlide7.xml" Id="Rcdc9439909d749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b127fef6bb4a0d" /><Relationship Type="http://schemas.openxmlformats.org/officeDocument/2006/relationships/notesSlide" Target="/ppt/notesSlides/notesSlide8.xml" Id="R3a2127ee09f940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09e43682e541ac" /><Relationship Type="http://schemas.openxmlformats.org/officeDocument/2006/relationships/notesSlide" Target="/ppt/notesSlides/notesSlide9.xml" Id="R63d6105c357a41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1fb906f36e4b5f" /><Relationship Type="http://schemas.openxmlformats.org/officeDocument/2006/relationships/notesSlide" Target="/ppt/notesSlides/notesSlide10.xml" Id="Rc45052ff899647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427c308f704e49" /><Relationship Type="http://schemas.openxmlformats.org/officeDocument/2006/relationships/notesSlide" Target="/ppt/notesSlides/notesSlide11.xml" Id="R58bab76ee4ac43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7da72e449c40a1" /><Relationship Type="http://schemas.openxmlformats.org/officeDocument/2006/relationships/notesSlide" Target="/ppt/notesSlides/notesSlide12.xml" Id="Rdb653233c188463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60fcd6edcb4b54" /><Relationship Type="http://schemas.openxmlformats.org/officeDocument/2006/relationships/image" Target="/ppt/media/image.png" Id="R03b4b79ba29d4fff" /><Relationship Type="http://schemas.openxmlformats.org/officeDocument/2006/relationships/notesSlide" Target="/ppt/notesSlides/notesSlide13.xml" Id="R4615f2959b5847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0de17ea84843e7" /><Relationship Type="http://schemas.openxmlformats.org/officeDocument/2006/relationships/notesSlide" Target="/ppt/notesSlides/notesSlide14.xml" Id="Rec94572529f24e8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f3ff425e0e437f" /><Relationship Type="http://schemas.openxmlformats.org/officeDocument/2006/relationships/notesSlide" Target="/ppt/notesSlides/notesSlide15.xml" Id="R82bc1d5e923a49f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78ad2d6c5843a6" /><Relationship Type="http://schemas.openxmlformats.org/officeDocument/2006/relationships/notesSlide" Target="/ppt/notesSlides/notesSlide16.xml" Id="R26eaf47055c94cd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9c555ebe644207" /><Relationship Type="http://schemas.openxmlformats.org/officeDocument/2006/relationships/notesSlide" Target="/ppt/notesSlides/notesSlide17.xml" Id="R469806ff1f30460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78179743bb440e" /><Relationship Type="http://schemas.openxmlformats.org/officeDocument/2006/relationships/notesSlide" Target="/ppt/notesSlides/notesSlide18.xml" Id="Rf87732858d0f48f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bc9d3274c942c5" /><Relationship Type="http://schemas.openxmlformats.org/officeDocument/2006/relationships/notesSlide" Target="/ppt/notesSlides/notesSlide19.xml" Id="R7ac1a03a908e470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39996f8d484262" /><Relationship Type="http://schemas.openxmlformats.org/officeDocument/2006/relationships/notesSlide" Target="/ppt/notesSlides/notesSlide20.xml" Id="Raa6fdecf3101426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62c541467c4b44" /><Relationship Type="http://schemas.openxmlformats.org/officeDocument/2006/relationships/notesSlide" Target="/ppt/notesSlides/notesSlide21.xml" Id="R05fb0525287b477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7fb15861ce4fb1" /><Relationship Type="http://schemas.openxmlformats.org/officeDocument/2006/relationships/notesSlide" Target="/ppt/notesSlides/notesSlide22.xml" Id="R7ff4066b0a7047e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108dda124d4d96" /><Relationship Type="http://schemas.openxmlformats.org/officeDocument/2006/relationships/image" Target="/ppt/media/image2.png" Id="R6dfbb84b170b40cf" /><Relationship Type="http://schemas.openxmlformats.org/officeDocument/2006/relationships/notesSlide" Target="/ppt/notesSlides/notesSlide23.xml" Id="Rd1c82a9b75314f2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4a79c4bdf8465f" /><Relationship Type="http://schemas.openxmlformats.org/officeDocument/2006/relationships/notesSlide" Target="/ppt/notesSlides/notesSlide24.xml" Id="R4e24e79ba19a497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58a75dcd984589" /><Relationship Type="http://schemas.openxmlformats.org/officeDocument/2006/relationships/notesSlide" Target="/ppt/notesSlides/notesSlide25.xml" Id="R93c7510b2be249f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cbd259de6c47b7" /><Relationship Type="http://schemas.openxmlformats.org/officeDocument/2006/relationships/notesSlide" Target="/ppt/notesSlides/notesSlide26.xml" Id="R0d4ebfae749a459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7b27a2dba4467e" /><Relationship Type="http://schemas.openxmlformats.org/officeDocument/2006/relationships/notesSlide" Target="/ppt/notesSlides/notesSlide27.xml" Id="R4c1397c7fc93497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32431acd394838" /><Relationship Type="http://schemas.openxmlformats.org/officeDocument/2006/relationships/notesSlide" Target="/ppt/notesSlides/notesSlide28.xml" Id="R004e4be365d54f2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4fc3c9613d468e" /><Relationship Type="http://schemas.openxmlformats.org/officeDocument/2006/relationships/notesSlide" Target="/ppt/notesSlides/notesSlide29.xml" Id="R0beaaaa6aa5e4f6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8c03c3d08d47b1" /><Relationship Type="http://schemas.openxmlformats.org/officeDocument/2006/relationships/notesSlide" Target="/ppt/notesSlides/notesSlide30.xml" Id="R3c4b02318c0b462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1ef4c9568d4ef7" /><Relationship Type="http://schemas.openxmlformats.org/officeDocument/2006/relationships/notesSlide" Target="/ppt/notesSlides/notesSlide31.xml" Id="Rb7edc842a824453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d62ac00df44140" /><Relationship Type="http://schemas.openxmlformats.org/officeDocument/2006/relationships/notesSlide" Target="/ppt/notesSlides/notesSlide32.xml" Id="Rbe213f07269949d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ed62517ea147e0" /><Relationship Type="http://schemas.openxmlformats.org/officeDocument/2006/relationships/notesSlide" Target="/ppt/notesSlides/notesSlide33.xml" Id="Rf0f5d1628e2745e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13d47655df4650" /><Relationship Type="http://schemas.openxmlformats.org/officeDocument/2006/relationships/notesSlide" Target="/ppt/notesSlides/notesSlide34.xml" Id="Rf1af2e8df8f5426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582bfcfbe14659" /><Relationship Type="http://schemas.openxmlformats.org/officeDocument/2006/relationships/notesSlide" Target="/ppt/notesSlides/notesSlide35.xml" Id="Rb235a6d50c2d4ac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8a470357d248c4" /><Relationship Type="http://schemas.openxmlformats.org/officeDocument/2006/relationships/notesSlide" Target="/ppt/notesSlides/notesSlide36.xml" Id="R5f5ebe1b9c354d0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11a3471f144ae9" /><Relationship Type="http://schemas.openxmlformats.org/officeDocument/2006/relationships/notesSlide" Target="/ppt/notesSlides/notesSlide37.xml" Id="Ra440e6f522ba435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27de4c2fc74462" /><Relationship Type="http://schemas.openxmlformats.org/officeDocument/2006/relationships/notesSlide" Target="/ppt/notesSlides/notesSlide38.xml" Id="R97b8a94db8dd400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a678aa50ac4791" /><Relationship Type="http://schemas.openxmlformats.org/officeDocument/2006/relationships/notesSlide" Target="/ppt/notesSlides/notesSlide39.xml" Id="Re4a86e597cd54c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8BBF4C2-1A3D-4BF9-8B75-E1963D9A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最美的姿势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2D6F28D-316E-44E9-92F9-02430C56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1D96DC8-3F42-4FA1-84FF-DE73B34A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中二高级华文 · 单元四 · 巩固阅读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0B40992-4C4F-464C-A8A7-115E5072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两课时：从自卑到自信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C71770D-1169-45CB-BC1C-AABD5DEA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一张照片，怎样让“我”重新看见自己？</a:t>
            </a:r>
          </a:p>
        </p:txBody>
      </p:sp>
    </p:spTree>
    <p:extLst>
      <p:ext uri="{BB962C8B-B14F-4D97-AF65-F5344CB8AC3E}">
        <p14:creationId xmlns:p14="http://schemas.microsoft.com/office/powerpoint/2010/main" val="4838108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657D5E7-DFB7-467E-B1F3-7B5B095F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拍照时，你会摆什么姿势？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38E8E56-86D5-451C-9B0E-1D9F9999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30F723C-DD61-45C2-B689-2BC64190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你拍照时最喜欢摆什么姿势？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56951E3-93AE-4558-86A3-F9B01EF4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摆出什么姿势会让你有自信？为什么？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3E3BDCD-D77D-47A4-B56C-4199508A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只谈愿意分享的内容。</a:t>
            </a:r>
          </a:p>
        </p:txBody>
      </p:sp>
    </p:spTree>
    <p:extLst>
      <p:ext uri="{BB962C8B-B14F-4D97-AF65-F5344CB8AC3E}">
        <p14:creationId xmlns:p14="http://schemas.microsoft.com/office/powerpoint/2010/main" val="148633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CF66E58-2938-4285-9F17-EB4BACB6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第一段 · 先分清人物的感受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A675D8D-006A-4953-B289-043BDDA2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3814479-41CB-4EDF-A20A-0708523F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“即使是别人不经意的一瞥……”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ABAB4FA-922E-4731-A0BA-F077E3AF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“我觉得同学们的目光都落在……”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D5A4805-DC82-45B5-B2FE-40607B90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无意的一眼，在“我”心里有多大影响？</a:t>
            </a:r>
          </a:p>
        </p:txBody>
      </p:sp>
    </p:spTree>
    <p:extLst>
      <p:ext uri="{BB962C8B-B14F-4D97-AF65-F5344CB8AC3E}">
        <p14:creationId xmlns:p14="http://schemas.microsoft.com/office/powerpoint/2010/main" val="6810681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143D316-2E79-4BFC-A31C-9CBCFB6E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比喻要说清具体作用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D240A71-903E-4202-8FEF-8BCA2796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766821D-B2AD-41CA-BDF7-A45E4642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“声音像雷声” → 突出声音大。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093A88B-4FC4-41D0-8190-BD336369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比喻（metaphor / simile）：写相似特点。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F485BCB-4D1D-40FA-AA01-7BA80B02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找到比较对象，再解释特点与感受。</a:t>
            </a:r>
          </a:p>
        </p:txBody>
      </p:sp>
    </p:spTree>
    <p:extLst>
      <p:ext uri="{BB962C8B-B14F-4D97-AF65-F5344CB8AC3E}">
        <p14:creationId xmlns:p14="http://schemas.microsoft.com/office/powerpoint/2010/main" val="17458064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22A06C4-3C3C-43E0-9DBD-BE26202D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第一段 · 两个比喻有什么作用？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65A7ACE-095D-4A7B-8AFB-6CC4C414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F063DD6-ACF8-4D56-9A35-70335A7F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这一段的两个比喻句有什么作用？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A6C1F5B-5DC5-4018-9D98-A8420BCB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“射向我的利箭”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8891B36-51F2-4931-A9C7-3CDF70F9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“好像被烈日炙烤着”</a:t>
            </a:r>
          </a:p>
        </p:txBody>
      </p:sp>
    </p:spTree>
    <p:extLst>
      <p:ext uri="{BB962C8B-B14F-4D97-AF65-F5344CB8AC3E}">
        <p14:creationId xmlns:p14="http://schemas.microsoft.com/office/powerpoint/2010/main" val="5291992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9AFB773-4227-4765-AE75-CF4F2E3C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两个比喻 · 从感受到心理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3CE1CC8-43D3-41CF-AAAE-7EC4FC45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1453A55-A9F1-40EC-90D0-6F80D804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一瞥像利箭 → 目光使“我”感到受伤。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01A71C8-AB91-4D1C-87AB-7B22654C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被注视像被炙烤 → 内心非常难受。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15AA811-9A4C-414E-9AF1-9A8ACD3B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共同表现：“我”敏感、自卑，在意目光。</a:t>
            </a:r>
          </a:p>
        </p:txBody>
      </p:sp>
    </p:spTree>
    <p:extLst>
      <p:ext uri="{BB962C8B-B14F-4D97-AF65-F5344CB8AC3E}">
        <p14:creationId xmlns:p14="http://schemas.microsoft.com/office/powerpoint/2010/main" val="20918681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AFDA69D-EB60-49C7-A959-34A4DF8D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第二段 · 没有信心的依据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ADA37DC-E5EF-442E-A07D-29258B3C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1860754-B1F6-4EAE-B7ED-4A7F36A7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从哪里可以看出“我”对自己的外表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66ABD14-94A5-40E8-BFB7-56DDB0F1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没有自信？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EF08834-052D-4798-89EC-3D1005AA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找行为，再找想法；可连续加入多句原文。</a:t>
            </a:r>
          </a:p>
        </p:txBody>
      </p:sp>
    </p:spTree>
    <p:extLst>
      <p:ext uri="{BB962C8B-B14F-4D97-AF65-F5344CB8AC3E}">
        <p14:creationId xmlns:p14="http://schemas.microsoft.com/office/powerpoint/2010/main" val="9384902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2A4956E-2E06-4053-892C-F759A8E2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行为与想法，一起证明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2AEA870-A2B9-4737-A9A6-3FEC444D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0079FBC-F78B-49F2-93CF-15818CE3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行为：沉默、独来独往，害怕摄像头。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49737B5-0672-4CE8-A4B8-DAD6A4FC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想法：怎样打扮也掩饰不了缺陷。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6FB4F4E-B9D6-49C0-8CF7-57D75C83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“丑小鸭”是“我”否定自己的看法。</a:t>
            </a:r>
          </a:p>
        </p:txBody>
      </p:sp>
    </p:spTree>
    <p:extLst>
      <p:ext uri="{BB962C8B-B14F-4D97-AF65-F5344CB8AC3E}">
        <p14:creationId xmlns:p14="http://schemas.microsoft.com/office/powerpoint/2010/main" val="14811901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D47187F-DF47-409B-89E5-85F73001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仿写句子 · 先独立写一句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FB66D99-0C63-405B-8DE2-EA820C86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23AE6A9-C9D9-44A3-BC27-F68EFE5F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例：在我看来，丑小鸭就是丑小鸭，</a:t>
            </a:r>
          </a:p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永远都成不了天鹅。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DF21DD3-8EB5-4E09-A481-150AB316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在我看来，________就是________，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0B27B37-4BEE-4D39-81A2-CEF32C85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________。</a:t>
            </a:r>
          </a:p>
        </p:txBody>
      </p:sp>
    </p:spTree>
    <p:extLst>
      <p:ext uri="{BB962C8B-B14F-4D97-AF65-F5344CB8AC3E}">
        <p14:creationId xmlns:p14="http://schemas.microsoft.com/office/powerpoint/2010/main" val="734164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3E64F6E-CA92-4A28-AB40-3031B9A6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仿句参考 · 表达自己的看法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88A3EAF-B639-4E1F-BAFA-8EC04A8A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89F7B10-64C0-496E-97B4-9CF13EA7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在我看来，朋友就是愿意真诚相待的人，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81F3F4A-8C92-42A8-B5B2-A956BEB3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不会只凭外表评价别人。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46674AD-C52A-476D-A09E-34094A17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“在我看来”＋判断＋相关说明</a:t>
            </a:r>
          </a:p>
        </p:txBody>
      </p:sp>
    </p:spTree>
    <p:extLst>
      <p:ext uri="{BB962C8B-B14F-4D97-AF65-F5344CB8AC3E}">
        <p14:creationId xmlns:p14="http://schemas.microsoft.com/office/powerpoint/2010/main" val="3460325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0F449E6-B197-4499-9D05-1F1C7E96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第三段 · 两种不同的心情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253CCF1-6F5A-4A9D-A6FA-B15031DB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426E4A0-BE9F-48FF-9250-A4AC2EE8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“我”和同学们的心情有什么不同？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2DD9573-82A6-45C5-913A-69E3E8A2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先说同学，再说“我”。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49287B4-7C2F-4A2A-9228-823FE902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用“却”连起两种心情。</a:t>
            </a:r>
          </a:p>
        </p:txBody>
      </p:sp>
    </p:spTree>
    <p:extLst>
      <p:ext uri="{BB962C8B-B14F-4D97-AF65-F5344CB8AC3E}">
        <p14:creationId xmlns:p14="http://schemas.microsoft.com/office/powerpoint/2010/main" val="4234196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0EBFFEE-2BCF-493E-A102-7C23702A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期待拍照与害怕拍照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25594A2-0602-4D18-B4FC-18D71A12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76646FE-2E53-4AB6-BA12-127E581D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同学：兴致勃勃，积极讨论和摆姿势。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9A0AB18-7B48-4E00-84F5-549128D7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“我”：心沉到谷底，心情低落。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A9FB8A6-95B9-4883-86C7-272C995C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区别源于“我”对自己的外表缺乏信心。</a:t>
            </a:r>
          </a:p>
        </p:txBody>
      </p:sp>
    </p:spTree>
    <p:extLst>
      <p:ext uri="{BB962C8B-B14F-4D97-AF65-F5344CB8AC3E}">
        <p14:creationId xmlns:p14="http://schemas.microsoft.com/office/powerpoint/2010/main" val="5851247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346B7652-EFD1-44A0-9426-13579858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第四段 · 轮到“我”拍照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06364B0-47FD-4688-BB3F-91598D86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2CE0C-6EB7-40A3-9C3F-A1DAF0E2E2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4b79ba29d4fff"/>
          <a:srcRect xmlns:a="http://schemas.openxmlformats.org/drawingml/2006/main" l="50293" t="74544" r="586" b="651"/>
          <a:stretch xmlns:a="http://schemas.openxmlformats.org/drawingml/2006/main"/>
        </p:blipFill>
        <p:spPr>
          <a:xfrm xmlns:a="http://schemas.openxmlformats.org/drawingml/2006/main">
            <a:off x="3109438" y="1571625"/>
            <a:ext cx="5973125" cy="452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7160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333275B-E38E-4168-A6D8-8C0F4F7C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第四、五段 · 反应与原因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08009D6-83F5-4BE5-AD83-F53DDCEE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B844FBB-F429-41E2-8B2E-FCA13BAD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轮到“我”拍照时，“我”有什么反应？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A9F865D-1BC8-4EB2-AADB-9D469FAF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为什么“我”会有这样的反应？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522A02E-3BDA-489F-A641-1897CB78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先独立写，再比较。</a:t>
            </a:r>
          </a:p>
        </p:txBody>
      </p:sp>
    </p:spTree>
    <p:extLst>
      <p:ext uri="{BB962C8B-B14F-4D97-AF65-F5344CB8AC3E}">
        <p14:creationId xmlns:p14="http://schemas.microsoft.com/office/powerpoint/2010/main" val="9944881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796DC51-91EA-4DA9-82AA-32094AFE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反应与原因，要分开回答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7F190C4-EBD1-476B-A5F4-AEC42B86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BF60090-A731-4161-A58E-587003C1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反应：做了什么？心里怎样？神态怎样？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DC89460-624F-4EE3-A549-35CF0833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原因：为什么这样？联系前文哪一句？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43FD5FC-763B-4FF7-BCBC-A027B2DB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不能用“因为慌乱”解释“心里慌乱”。</a:t>
            </a:r>
          </a:p>
        </p:txBody>
      </p:sp>
    </p:spTree>
    <p:extLst>
      <p:ext uri="{BB962C8B-B14F-4D97-AF65-F5344CB8AC3E}">
        <p14:creationId xmlns:p14="http://schemas.microsoft.com/office/powerpoint/2010/main" val="6521969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9B3D3E77-D03C-4C23-BB9C-77B81F3D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反应参考 · 至少两种表现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BB30882-2727-41B5-9395-E932D4B3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512AF39-3FAD-42B8-91E6-2D38D764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慢吞吞走上前，拘束地站着。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A1FE570-1BE1-474A-871B-F004115E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心里慌乱，更加局促不安，脸红发烫。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F91197E-8EA2-4B4D-876A-92EA960C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沮丧地说：自己没有美的姿势。</a:t>
            </a:r>
          </a:p>
        </p:txBody>
      </p:sp>
    </p:spTree>
    <p:extLst>
      <p:ext uri="{BB962C8B-B14F-4D97-AF65-F5344CB8AC3E}">
        <p14:creationId xmlns:p14="http://schemas.microsoft.com/office/powerpoint/2010/main" val="13330410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0BA6957-47B4-4E8F-9EF5-EA6C6769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原因参考 · 连接前文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DAA9FC8-0F67-4769-A809-A8EB8BD5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165F5C3-EFE3-43C5-8BF0-94245548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对外表没有信心，觉得掩饰不了缺陷。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9603686-890B-48FD-80E7-999AD093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不知道怎样面对镜头和同学的注视。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150960E-0E91-4256-A63D-D9FDC05B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别人的目光，让“我”更紧张。</a:t>
            </a:r>
          </a:p>
        </p:txBody>
      </p:sp>
    </p:spTree>
    <p:extLst>
      <p:ext uri="{BB962C8B-B14F-4D97-AF65-F5344CB8AC3E}">
        <p14:creationId xmlns:p14="http://schemas.microsoft.com/office/powerpoint/2010/main" val="4095666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3A3B328-672A-43DE-B137-DD7396C4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教室为什么突然安静？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F6221F3-0885-4F2F-9386-B21B2E3C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0827B12-98B7-46CD-AA1C-7CD74010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轮到“我”拍照时，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89035F8-72D4-4619-9B6A-186123BE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教室里为什么突然变得无比安静？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7CDD76A-1D7F-4B79-B14B-3501585B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同学的具体想法，原文写明了吗？</a:t>
            </a:r>
          </a:p>
        </p:txBody>
      </p:sp>
    </p:spTree>
    <p:extLst>
      <p:ext uri="{BB962C8B-B14F-4D97-AF65-F5344CB8AC3E}">
        <p14:creationId xmlns:p14="http://schemas.microsoft.com/office/powerpoint/2010/main" val="13519918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937C3FD-5F3D-4743-87C6-91F0FDF3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第一课 · 用已有答案自检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1FDF4E6-2F09-4728-9AD0-F07C9EF2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9C0F73E-A62F-4AD5-ACE7-E4AEABC0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比喻：有没有写出具体感受与心理？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3C68172-0310-4E7D-98C3-BF74AACB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反应和原因：有没有分别说明？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87A3679-2747-4D05-A465-27FBDDA0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原文证据：有没有把“我觉得”当事实？</a:t>
            </a:r>
          </a:p>
        </p:txBody>
      </p:sp>
    </p:spTree>
    <p:extLst>
      <p:ext uri="{BB962C8B-B14F-4D97-AF65-F5344CB8AC3E}">
        <p14:creationId xmlns:p14="http://schemas.microsoft.com/office/powerpoint/2010/main" val="20368809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1355225-3C6B-47E0-A299-CF36F027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第二课 · 什么帮助“我”改变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E92FCEC-2AA7-46CC-A9A2-77CAC360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1D9445A-152B-4643-A304-01BA500F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读第6—10段，按段落顺序思考。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66F5A6B-AA0A-474E-B9F3-C4565EFF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老师与同学做了什么？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D95865A-B6B5-4705-B80A-972029AC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这些言行怎样影响“我”？</a:t>
            </a:r>
          </a:p>
        </p:txBody>
      </p:sp>
    </p:spTree>
    <p:extLst>
      <p:ext uri="{BB962C8B-B14F-4D97-AF65-F5344CB8AC3E}">
        <p14:creationId xmlns:p14="http://schemas.microsoft.com/office/powerpoint/2010/main" val="44827632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9F35D25-BD59-46F8-8C3E-4B7C83DC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第六段 · 怎样理解老师的话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CD504F0-A479-4A9C-8F26-88E5BA3B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FA8EA2E-B9C9-4FB6-A6EB-AC71142F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你如何理解这句话？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0BFEE47-D180-4FBB-964B-5B79BAE4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“这个世界上每个人都有自己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8A7C3B3-73EF-4F1F-9000-5E118034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最美丽的姿势。”</a:t>
            </a:r>
          </a:p>
        </p:txBody>
      </p:sp>
    </p:spTree>
    <p:extLst>
      <p:ext uri="{BB962C8B-B14F-4D97-AF65-F5344CB8AC3E}">
        <p14:creationId xmlns:p14="http://schemas.microsoft.com/office/powerpoint/2010/main" val="72789723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937FCB3-9414-44D5-8AB6-DC1F11E2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每个人都有可以自信的一面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5B9BC05-A56E-4B22-A5EB-B051D80F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7079B7B-36F2-4902-8A1F-222D2E07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即使有不完美，也有值得欣赏的地方。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B196F13-97C4-42FE-A55E-514EFDA6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老师先肯定“每个人”，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2C0DFD6-1526-4B3E-B810-0124E6C1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再请大家帮助宜欣找到美。</a:t>
            </a:r>
          </a:p>
        </p:txBody>
      </p:sp>
    </p:spTree>
    <p:extLst>
      <p:ext uri="{BB962C8B-B14F-4D97-AF65-F5344CB8AC3E}">
        <p14:creationId xmlns:p14="http://schemas.microsoft.com/office/powerpoint/2010/main" val="81728461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D3825660-268D-45ED-A729-9301D76A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第七段 · 帮助变成具体行动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2BF357D-5BB7-408B-A08B-2F1D5069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CBF8A-02F4-45A2-9E6A-A70DAB7F7A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bb84b170b40cf"/>
          <a:srcRect xmlns:a="http://schemas.openxmlformats.org/drawingml/2006/main" l="50293" t="70247" r="586" b="651"/>
          <a:stretch xmlns:a="http://schemas.openxmlformats.org/drawingml/2006/main"/>
        </p:blipFill>
        <p:spPr>
          <a:xfrm xmlns:a="http://schemas.openxmlformats.org/drawingml/2006/main">
            <a:off x="3550406" y="1571625"/>
            <a:ext cx="5091187" cy="452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95679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13CBE26-DC6C-4401-83BB-920C8609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第七段 · 照片展的用意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F76FA2D-2BB1-4BAF-9578-3B4FB00A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64871FB-5B30-4AF1-BB6E-A2AD1839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你认为陈老师为什么提议办照片展？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AB7E32B-E9BB-4442-AE2E-A5B9B4A6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联系照片展名称、老师说的话和做法。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7C6D3E7-EA23-4701-8BE0-ECDB6A91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哪些是明写的信息？哪些是你的推测？</a:t>
            </a:r>
          </a:p>
        </p:txBody>
      </p:sp>
    </p:spTree>
    <p:extLst>
      <p:ext uri="{BB962C8B-B14F-4D97-AF65-F5344CB8AC3E}">
        <p14:creationId xmlns:p14="http://schemas.microsoft.com/office/powerpoint/2010/main" val="70944709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0B26345-ED02-44D3-B768-76140934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用言行支持对目的的推测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B5D9BD7-648F-416E-9AA3-2D6C6725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E258248-9065-4A3D-A81C-92F3A1D1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希望学生发现、展现自己的美。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96294C0-3A90-446B-BD21-A4C998FA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也学会欣赏、帮助和鼓励同学。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1462132-9531-42D2-8C3C-0D2EB61F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这是有依据的推测，不能说只为宜欣办展。</a:t>
            </a:r>
          </a:p>
        </p:txBody>
      </p:sp>
    </p:spTree>
    <p:extLst>
      <p:ext uri="{BB962C8B-B14F-4D97-AF65-F5344CB8AC3E}">
        <p14:creationId xmlns:p14="http://schemas.microsoft.com/office/powerpoint/2010/main" val="176051072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25DEA4D0-053D-4572-BFD2-FAC82CBF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第八段 · 为什么鼓掌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3887885-1855-42F9-A585-A0D4C89E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8425075-6EBE-4BE9-AC8B-614FD8C3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为什么同学们都鼓起掌来？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FD1C2A7-E4B0-4526-8336-D4888B5F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同学先说了什么？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155E4F8-D530-47C7-B24E-06449371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联系前文，掌声还可能有什么用？</a:t>
            </a:r>
          </a:p>
        </p:txBody>
      </p:sp>
    </p:spTree>
    <p:extLst>
      <p:ext uri="{BB962C8B-B14F-4D97-AF65-F5344CB8AC3E}">
        <p14:creationId xmlns:p14="http://schemas.microsoft.com/office/powerpoint/2010/main" val="16830913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7A6F46A-53C4-4C5D-97BA-579A8204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掌声 · 赞美与鼓励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8A1D964-F74F-4BBB-A8BA-3AB08BFE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B707024-5602-4AAC-A1E2-8108C9BD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直接信息：同学觉得照片好看。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DA1777D-1CB2-4113-85BC-D68A4A53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结合前文：希望鼓励因外表而自卑的宜欣。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6C99D95-4500-46B9-A73E-136F7768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感动落泪是反应，不能倒过来当鼓掌原因。</a:t>
            </a:r>
          </a:p>
        </p:txBody>
      </p:sp>
    </p:spTree>
    <p:extLst>
      <p:ext uri="{BB962C8B-B14F-4D97-AF65-F5344CB8AC3E}">
        <p14:creationId xmlns:p14="http://schemas.microsoft.com/office/powerpoint/2010/main" val="26674658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963FD2E6-A221-4DFB-BAD2-35694385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第九段 · 变化与原因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65524B2-2439-4CD9-B154-CD8E4034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1FF1CA1-ECAA-4D2D-A178-7B3AD164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“我”后来发生什么变化？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AF85857-7125-4A6F-9D21-1A6D52D4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为什么“我”会发生这样的变化？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CE1FCA2-F1F5-4831-B750-402D6330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分别找心态、行动和促成变化的原因。</a:t>
            </a:r>
          </a:p>
        </p:txBody>
      </p:sp>
    </p:spTree>
    <p:extLst>
      <p:ext uri="{BB962C8B-B14F-4D97-AF65-F5344CB8AC3E}">
        <p14:creationId xmlns:p14="http://schemas.microsoft.com/office/powerpoint/2010/main" val="78259157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22350F7-101D-404E-8A38-4E85E712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变化 · 从心态走向行动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81B3396-7D87-4BC3-A123-DF70369C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9FE1A73-C072-400E-9A2D-6FF87652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照片与肯定 → 发现自己也可以很美。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525DC32-11C7-4CBA-9280-3ACCFB7A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找回信心和勇气 → 突破心防。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8966894-3821-421E-954C-A547862D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主动交流、结交朋友；没有脖子复原的情节。</a:t>
            </a:r>
          </a:p>
        </p:txBody>
      </p:sp>
    </p:spTree>
    <p:extLst>
      <p:ext uri="{BB962C8B-B14F-4D97-AF65-F5344CB8AC3E}">
        <p14:creationId xmlns:p14="http://schemas.microsoft.com/office/powerpoint/2010/main" val="177374811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5BA68CF-441B-4C5E-AE8A-418BC4FA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第十段 · “姿势”的意思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11020E3-96BC-4792-866C-44988FA2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609240A-D5A0-4629-9E65-FC3776EF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这里“姿势”的意思和前面的一样吗？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246DBB3-F15E-4CB4-AE75-525F5E9D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先解释拍照时的“姿势”，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124B5E2-3F82-4E4D-86A4-16CACEEF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再解释结尾的“姿势”。</a:t>
            </a:r>
          </a:p>
        </p:txBody>
      </p:sp>
    </p:spTree>
    <p:extLst>
      <p:ext uri="{BB962C8B-B14F-4D97-AF65-F5344CB8AC3E}">
        <p14:creationId xmlns:p14="http://schemas.microsoft.com/office/powerpoint/2010/main" val="158736107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2DB2523-0E02-4BF9-8B06-97892265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从动作，写到人的优点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FC8F02C-CBF6-43FB-84FD-40E18D73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77EFBC5-E7F5-4F69-A2A8-1AC8909A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前面：拍照时摆出的具体动作。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174D43E-3FDC-4B67-97C3-AACA0213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结尾：自身优点，或值得自信的一面。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0D589C7-7019-482E-B0FA-2D14F14C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由宜欣一个人的经历，写到每个人。</a:t>
            </a:r>
          </a:p>
        </p:txBody>
      </p:sp>
    </p:spTree>
    <p:extLst>
      <p:ext uri="{BB962C8B-B14F-4D97-AF65-F5344CB8AC3E}">
        <p14:creationId xmlns:p14="http://schemas.microsoft.com/office/powerpoint/2010/main" val="199872575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A8F746B5-7EF7-4514-BF07-A22F25F9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关键句 · 先分清两种作用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C45BAE8-DC75-4415-9C83-0E9909E9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F5E1A83-3F92-4913-BC82-04BE5C33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抒情句：直接表达情感。</a:t>
            </a:r>
          </a:p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例：“多么令人高兴啊！”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E0F816D-E745-43E2-960F-7841EF48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议论句：提出看法或道理。</a:t>
            </a:r>
          </a:p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例：“真诚能帮助人建立友谊。”</a:t>
            </a:r>
          </a:p>
        </p:txBody>
      </p:sp>
    </p:spTree>
    <p:extLst>
      <p:ext uri="{BB962C8B-B14F-4D97-AF65-F5344CB8AC3E}">
        <p14:creationId xmlns:p14="http://schemas.microsoft.com/office/powerpoint/2010/main" val="191824069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BD8AE59-C34D-49AE-9A99-01937D94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课本巩固练习二 · 关键句与主题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A6F97EC-1571-47FC-99F3-312822DD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101F961-E733-4A28-AE9E-49CC133E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找出课文中的关键句，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167213A-A03E-4522-BB8F-0E21B061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结合内容理解文章的主题。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05162B0-C471-4349-B5CE-53DBD3B9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找抒情句、议论句，再写主题与内容依据。</a:t>
            </a:r>
          </a:p>
        </p:txBody>
      </p:sp>
    </p:spTree>
    <p:extLst>
      <p:ext uri="{BB962C8B-B14F-4D97-AF65-F5344CB8AC3E}">
        <p14:creationId xmlns:p14="http://schemas.microsoft.com/office/powerpoint/2010/main" val="75929710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C425E0C-58E8-4292-AD55-5BA5DA87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关键句参考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F48FB9F-416A-4493-A728-11506444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ECE1FE7-6B98-4978-BF39-6158F0E3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抒情句：“原来，我也可以很美！”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76DE6BF-363C-4D85-B916-1D570602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议论句：第10段的两句话。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9D1017B-9836-4117-85F3-48BE5030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从“每个人或多或少都有不完美的地方”</a:t>
            </a:r>
          </a:p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到“活得自信，活出精彩”。</a:t>
            </a:r>
          </a:p>
        </p:txBody>
      </p:sp>
    </p:spTree>
    <p:extLst>
      <p:ext uri="{BB962C8B-B14F-4D97-AF65-F5344CB8AC3E}">
        <p14:creationId xmlns:p14="http://schemas.microsoft.com/office/powerpoint/2010/main" val="125394436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8432A52-1573-4954-8BD6-339AB1E5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主题参考 · 连接经历与道理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CBDE74E-81B5-4AE7-8F73-F7E546D2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C012C1C-65AC-46DC-9D3C-54F7016A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每个人都有不完美之处，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1D7E158-F31A-438C-887E-A587B5B2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但可以发现自己的优点，自信生活。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A38CB55-5783-4182-90B7-E60F2FA1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宜欣获得帮助和肯定，重拾信心并主动交友。</a:t>
            </a:r>
          </a:p>
        </p:txBody>
      </p:sp>
    </p:spTree>
    <p:extLst>
      <p:ext uri="{BB962C8B-B14F-4D97-AF65-F5344CB8AC3E}">
        <p14:creationId xmlns:p14="http://schemas.microsoft.com/office/powerpoint/2010/main" val="155343064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64F71AF-8718-4545-923A-F40492D8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课本巩固练习三 · 必做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D272809-19BC-49E3-8F08-15697337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34A7B8E-7C10-48A7-9EF9-BA9B0680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你觉得人们在结交朋友时，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E487E1B-74AB-4E9D-9C43-AFC92899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比较注重外在美还是内在美？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9239B64-46B2-4E2C-BC3E-15B3F176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为什么？</a:t>
            </a:r>
          </a:p>
        </p:txBody>
      </p:sp>
    </p:spTree>
    <p:extLst>
      <p:ext uri="{BB962C8B-B14F-4D97-AF65-F5344CB8AC3E}">
        <p14:creationId xmlns:p14="http://schemas.microsoft.com/office/powerpoint/2010/main" val="28765492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90EA5EF-7274-48A2-9EC9-20B9CDA6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理由要解释，例子要连接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F249773-024F-4793-BD09-78FC6A7A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A3A0D78-03ED-483D-A884-D2846B24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看法＋理由：比较看重什么？为什么？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3BC511B-959C-4714-90DB-FB91D170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例子：哪个具体行为能说明？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2A3AC6D-BC3B-4D12-A5C4-02911DF4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回扣：这个行为怎样影响友谊？</a:t>
            </a:r>
          </a:p>
        </p:txBody>
      </p:sp>
    </p:spTree>
    <p:extLst>
      <p:ext uri="{BB962C8B-B14F-4D97-AF65-F5344CB8AC3E}">
        <p14:creationId xmlns:p14="http://schemas.microsoft.com/office/powerpoint/2010/main" val="91259391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4A113FD-0F06-4DFC-BDC4-9848F2F6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开放题示范 · 用课文说明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4904D1E-60CD-43F4-8DB4-90C653F3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C28FDC3-71B7-4A58-B210-AE3B94D6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我觉得长久友谊通常更看重内在美，</a:t>
            </a:r>
          </a:p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因为真诚、体贴使人感到被理解。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D7FEA75-CAFF-41CB-AAA7-8DAEE29B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甜甜热心帮助宜欣，同学们鼓励她，</a:t>
            </a:r>
          </a:p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使她敢于交流，交到朋友。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6AFC7A1-8192-434A-90C2-CAC0E65A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这些行动帮助建立信任，</a:t>
            </a:r>
          </a:p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说明内在美对友谊很重要。</a:t>
            </a:r>
          </a:p>
        </p:txBody>
      </p:sp>
    </p:spTree>
    <p:extLst>
      <p:ext uri="{BB962C8B-B14F-4D97-AF65-F5344CB8AC3E}">
        <p14:creationId xmlns:p14="http://schemas.microsoft.com/office/powerpoint/2010/main" val="84806890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EBFB2D4-614D-4CEA-BA5F-9E42E982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对照、订正、留下记录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AD9E72B-781F-4A0B-975C-3D6F372A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660F42B-BB17-4893-934E-1BD898BF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主题：关键句与情节有没有连起来？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B47A06D-9419-4718-8425-A1B35E42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开放题：有没有说清“为什么”？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1684F0A-A599-4002-8824-47AD0D49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0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订正后，可从检查页导出学习记录。</a:t>
            </a:r>
          </a:p>
        </p:txBody>
      </p:sp>
    </p:spTree>
    <p:extLst>
      <p:ext uri="{BB962C8B-B14F-4D97-AF65-F5344CB8AC3E}">
        <p14:creationId xmlns:p14="http://schemas.microsoft.com/office/powerpoint/2010/main" val="1497056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XGW WenKai TC"/>
        <a:ea typeface=""/>
        <a:cs typeface=""/>
      </a:majorFont>
      <a:minorFont>
        <a:latin typeface="LXGW WenKai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2026-10-20T08:24:36.7100000Z</dcterms:created>
  <dcterms:modified xsi:type="dcterms:W3CDTF">2026-10-20T08:24:36.7100000Z</dcterms:modified>
</coreProperties>
</file>