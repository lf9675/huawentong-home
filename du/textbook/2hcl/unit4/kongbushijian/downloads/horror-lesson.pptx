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3007eb03ce4d41" /><Relationship Type="http://schemas.openxmlformats.org/officeDocument/2006/relationships/extended-properties" Target="/docProps/app.xml" Id="R8988a20a68cf4f6f" /><Relationship Type="http://schemas.openxmlformats.org/officeDocument/2006/relationships/officeDocument" Target="/ppt/presentation.xml" Id="Rcb30084d595645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7cb824d7c04a17"/>
  </p:sldMasterIdLst>
  <p:notesMasterIdLst>
    <p:notesMasterId xmlns:r="http://schemas.openxmlformats.org/officeDocument/2006/relationships" r:id="R04e464b9d24c4b8f"/>
  </p:notesMasterIdLst>
  <p:sldIdLst>
    <p:sldId xmlns:r="http://schemas.openxmlformats.org/officeDocument/2006/relationships" id="256" r:id="Rc50de1582adc48ac"/>
    <p:sldId xmlns:r="http://schemas.openxmlformats.org/officeDocument/2006/relationships" id="257" r:id="R5382408134984bc5"/>
    <p:sldId xmlns:r="http://schemas.openxmlformats.org/officeDocument/2006/relationships" id="258" r:id="R7144b476111440c0"/>
    <p:sldId xmlns:r="http://schemas.openxmlformats.org/officeDocument/2006/relationships" id="259" r:id="Rc3551a2033d9456c"/>
    <p:sldId xmlns:r="http://schemas.openxmlformats.org/officeDocument/2006/relationships" id="260" r:id="Rf8e612f514274623"/>
    <p:sldId xmlns:r="http://schemas.openxmlformats.org/officeDocument/2006/relationships" id="261" r:id="R219a8538adb345de"/>
    <p:sldId xmlns:r="http://schemas.openxmlformats.org/officeDocument/2006/relationships" id="262" r:id="R29abafd42218456f"/>
    <p:sldId xmlns:r="http://schemas.openxmlformats.org/officeDocument/2006/relationships" id="263" r:id="R02a7a11b4ad046b0"/>
    <p:sldId xmlns:r="http://schemas.openxmlformats.org/officeDocument/2006/relationships" id="264" r:id="Rb2dc5ae6aa0e4e73"/>
    <p:sldId xmlns:r="http://schemas.openxmlformats.org/officeDocument/2006/relationships" id="265" r:id="Rf4fb2b0f892e4101"/>
    <p:sldId xmlns:r="http://schemas.openxmlformats.org/officeDocument/2006/relationships" id="266" r:id="Rd54c6d61aac4498d"/>
    <p:sldId xmlns:r="http://schemas.openxmlformats.org/officeDocument/2006/relationships" id="267" r:id="Rdb6c0a11d2344ada"/>
    <p:sldId xmlns:r="http://schemas.openxmlformats.org/officeDocument/2006/relationships" id="268" r:id="Rc79b970eceda4466"/>
    <p:sldId xmlns:r="http://schemas.openxmlformats.org/officeDocument/2006/relationships" id="269" r:id="R83df0a65647649c8"/>
    <p:sldId xmlns:r="http://schemas.openxmlformats.org/officeDocument/2006/relationships" id="270" r:id="Rce4453daf6e44187"/>
    <p:sldId xmlns:r="http://schemas.openxmlformats.org/officeDocument/2006/relationships" id="271" r:id="R2468e53444e44702"/>
    <p:sldId xmlns:r="http://schemas.openxmlformats.org/officeDocument/2006/relationships" id="272" r:id="R444593b6a5874dc1"/>
    <p:sldId xmlns:r="http://schemas.openxmlformats.org/officeDocument/2006/relationships" id="273" r:id="R2956408f5dc14330"/>
    <p:sldId xmlns:r="http://schemas.openxmlformats.org/officeDocument/2006/relationships" id="274" r:id="R647fc0e160cd40f9"/>
    <p:sldId xmlns:r="http://schemas.openxmlformats.org/officeDocument/2006/relationships" id="275" r:id="R7c3d9d3c0d994af3"/>
    <p:sldId xmlns:r="http://schemas.openxmlformats.org/officeDocument/2006/relationships" id="276" r:id="R3572bb5afc884bd0"/>
    <p:sldId xmlns:r="http://schemas.openxmlformats.org/officeDocument/2006/relationships" id="277" r:id="R7d61859a1ddb4064"/>
    <p:sldId xmlns:r="http://schemas.openxmlformats.org/officeDocument/2006/relationships" id="278" r:id="Rb0f4933301dc403d"/>
    <p:sldId xmlns:r="http://schemas.openxmlformats.org/officeDocument/2006/relationships" id="279" r:id="R260ac9fd981f4c5f"/>
    <p:sldId xmlns:r="http://schemas.openxmlformats.org/officeDocument/2006/relationships" id="280" r:id="Rc87b58f5f60e489c"/>
    <p:sldId xmlns:r="http://schemas.openxmlformats.org/officeDocument/2006/relationships" id="281" r:id="R8e1a40fa36a34d18"/>
    <p:sldId xmlns:r="http://schemas.openxmlformats.org/officeDocument/2006/relationships" id="282" r:id="R2f57e57f171c4891"/>
    <p:sldId xmlns:r="http://schemas.openxmlformats.org/officeDocument/2006/relationships" id="283" r:id="Rfc5feb9560244deb"/>
    <p:sldId xmlns:r="http://schemas.openxmlformats.org/officeDocument/2006/relationships" id="284" r:id="R90ba3f5ae9864d72"/>
    <p:sldId xmlns:r="http://schemas.openxmlformats.org/officeDocument/2006/relationships" id="285" r:id="R9f748912fb574d39"/>
    <p:sldId xmlns:r="http://schemas.openxmlformats.org/officeDocument/2006/relationships" id="286" r:id="Rd9033748a5a445b2"/>
    <p:sldId xmlns:r="http://schemas.openxmlformats.org/officeDocument/2006/relationships" id="287" r:id="Rca5061a558a94e54"/>
    <p:sldId xmlns:r="http://schemas.openxmlformats.org/officeDocument/2006/relationships" id="288" r:id="R953f6a81fc424ca5"/>
    <p:sldId xmlns:r="http://schemas.openxmlformats.org/officeDocument/2006/relationships" id="289" r:id="Ref9a81fb767d4359"/>
    <p:sldId xmlns:r="http://schemas.openxmlformats.org/officeDocument/2006/relationships" id="290" r:id="R9e852e044a664866"/>
    <p:sldId xmlns:r="http://schemas.openxmlformats.org/officeDocument/2006/relationships" id="291" r:id="R72fc702deb36435e"/>
    <p:sldId xmlns:r="http://schemas.openxmlformats.org/officeDocument/2006/relationships" id="292" r:id="R3dad449c15384a86"/>
    <p:sldId xmlns:r="http://schemas.openxmlformats.org/officeDocument/2006/relationships" id="293" r:id="Rb754eff645964a93"/>
    <p:sldId xmlns:r="http://schemas.openxmlformats.org/officeDocument/2006/relationships" id="294" r:id="R960f32e6770642b9"/>
    <p:sldId xmlns:r="http://schemas.openxmlformats.org/officeDocument/2006/relationships" id="295" r:id="R6dda856d61ec42ea"/>
    <p:sldId xmlns:r="http://schemas.openxmlformats.org/officeDocument/2006/relationships" id="296" r:id="R359ad09f9aa44c0b"/>
    <p:sldId xmlns:r="http://schemas.openxmlformats.org/officeDocument/2006/relationships" id="297" r:id="Rb5a252dd26b64d90"/>
    <p:sldId xmlns:r="http://schemas.openxmlformats.org/officeDocument/2006/relationships" id="298" r:id="R76a966e99c514f56"/>
    <p:sldId xmlns:r="http://schemas.openxmlformats.org/officeDocument/2006/relationships" id="299" r:id="Re987713d7f5c4f57"/>
    <p:sldId xmlns:r="http://schemas.openxmlformats.org/officeDocument/2006/relationships" id="300" r:id="Ra537aa186ad447ed"/>
    <p:sldId xmlns:r="http://schemas.openxmlformats.org/officeDocument/2006/relationships" id="301" r:id="R913887bd7dc74e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a90326c7b748c6" /><Relationship Type="http://schemas.openxmlformats.org/officeDocument/2006/relationships/slideMaster" Target="/ppt/slideMasters/slideMaster1.xml" Id="Re17cb824d7c04a17" /><Relationship Type="http://schemas.openxmlformats.org/officeDocument/2006/relationships/notesMaster" Target="/ppt/notesMasters/notesMaster1.xml" Id="R04e464b9d24c4b8f" /><Relationship Type="http://schemas.openxmlformats.org/officeDocument/2006/relationships/presProps" Target="/ppt/presProps.xml" Id="R9691e2d6d063491d" /><Relationship Type="http://schemas.openxmlformats.org/officeDocument/2006/relationships/tableStyles" Target="/ppt/tableStyles.xml" Id="Ra710a86135cc49c6" /><Relationship Type="http://schemas.openxmlformats.org/officeDocument/2006/relationships/slide" Target="/ppt/slides/slide1.xml" Id="Rc50de1582adc48ac" /><Relationship Type="http://schemas.openxmlformats.org/officeDocument/2006/relationships/slide" Target="/ppt/slides/slide2.xml" Id="R5382408134984bc5" /><Relationship Type="http://schemas.openxmlformats.org/officeDocument/2006/relationships/slide" Target="/ppt/slides/slide3.xml" Id="R7144b476111440c0" /><Relationship Type="http://schemas.openxmlformats.org/officeDocument/2006/relationships/slide" Target="/ppt/slides/slide4.xml" Id="Rc3551a2033d9456c" /><Relationship Type="http://schemas.openxmlformats.org/officeDocument/2006/relationships/slide" Target="/ppt/slides/slide5.xml" Id="Rf8e612f514274623" /><Relationship Type="http://schemas.openxmlformats.org/officeDocument/2006/relationships/slide" Target="/ppt/slides/slide6.xml" Id="R219a8538adb345de" /><Relationship Type="http://schemas.openxmlformats.org/officeDocument/2006/relationships/slide" Target="/ppt/slides/slide7.xml" Id="R29abafd42218456f" /><Relationship Type="http://schemas.openxmlformats.org/officeDocument/2006/relationships/slide" Target="/ppt/slides/slide8.xml" Id="R02a7a11b4ad046b0" /><Relationship Type="http://schemas.openxmlformats.org/officeDocument/2006/relationships/slide" Target="/ppt/slides/slide9.xml" Id="Rb2dc5ae6aa0e4e73" /><Relationship Type="http://schemas.openxmlformats.org/officeDocument/2006/relationships/slide" Target="/ppt/slides/slide10.xml" Id="Rf4fb2b0f892e4101" /><Relationship Type="http://schemas.openxmlformats.org/officeDocument/2006/relationships/slide" Target="/ppt/slides/slide11.xml" Id="Rd54c6d61aac4498d" /><Relationship Type="http://schemas.openxmlformats.org/officeDocument/2006/relationships/slide" Target="/ppt/slides/slide12.xml" Id="Rdb6c0a11d2344ada" /><Relationship Type="http://schemas.openxmlformats.org/officeDocument/2006/relationships/slide" Target="/ppt/slides/slide13.xml" Id="Rc79b970eceda4466" /><Relationship Type="http://schemas.openxmlformats.org/officeDocument/2006/relationships/slide" Target="/ppt/slides/slide14.xml" Id="R83df0a65647649c8" /><Relationship Type="http://schemas.openxmlformats.org/officeDocument/2006/relationships/slide" Target="/ppt/slides/slide15.xml" Id="Rce4453daf6e44187" /><Relationship Type="http://schemas.openxmlformats.org/officeDocument/2006/relationships/slide" Target="/ppt/slides/slide16.xml" Id="R2468e53444e44702" /><Relationship Type="http://schemas.openxmlformats.org/officeDocument/2006/relationships/slide" Target="/ppt/slides/slide17.xml" Id="R444593b6a5874dc1" /><Relationship Type="http://schemas.openxmlformats.org/officeDocument/2006/relationships/slide" Target="/ppt/slides/slide18.xml" Id="R2956408f5dc14330" /><Relationship Type="http://schemas.openxmlformats.org/officeDocument/2006/relationships/slide" Target="/ppt/slides/slide19.xml" Id="R647fc0e160cd40f9" /><Relationship Type="http://schemas.openxmlformats.org/officeDocument/2006/relationships/slide" Target="/ppt/slides/slide20.xml" Id="R7c3d9d3c0d994af3" /><Relationship Type="http://schemas.openxmlformats.org/officeDocument/2006/relationships/slide" Target="/ppt/slides/slide21.xml" Id="R3572bb5afc884bd0" /><Relationship Type="http://schemas.openxmlformats.org/officeDocument/2006/relationships/slide" Target="/ppt/slides/slide22.xml" Id="R7d61859a1ddb4064" /><Relationship Type="http://schemas.openxmlformats.org/officeDocument/2006/relationships/slide" Target="/ppt/slides/slide23.xml" Id="Rb0f4933301dc403d" /><Relationship Type="http://schemas.openxmlformats.org/officeDocument/2006/relationships/slide" Target="/ppt/slides/slide24.xml" Id="R260ac9fd981f4c5f" /><Relationship Type="http://schemas.openxmlformats.org/officeDocument/2006/relationships/slide" Target="/ppt/slides/slide25.xml" Id="Rc87b58f5f60e489c" /><Relationship Type="http://schemas.openxmlformats.org/officeDocument/2006/relationships/slide" Target="/ppt/slides/slide26.xml" Id="R8e1a40fa36a34d18" /><Relationship Type="http://schemas.openxmlformats.org/officeDocument/2006/relationships/slide" Target="/ppt/slides/slide27.xml" Id="R2f57e57f171c4891" /><Relationship Type="http://schemas.openxmlformats.org/officeDocument/2006/relationships/slide" Target="/ppt/slides/slide28.xml" Id="Rfc5feb9560244deb" /><Relationship Type="http://schemas.openxmlformats.org/officeDocument/2006/relationships/slide" Target="/ppt/slides/slide29.xml" Id="R90ba3f5ae9864d72" /><Relationship Type="http://schemas.openxmlformats.org/officeDocument/2006/relationships/slide" Target="/ppt/slides/slide30.xml" Id="R9f748912fb574d39" /><Relationship Type="http://schemas.openxmlformats.org/officeDocument/2006/relationships/slide" Target="/ppt/slides/slide31.xml" Id="Rd9033748a5a445b2" /><Relationship Type="http://schemas.openxmlformats.org/officeDocument/2006/relationships/slide" Target="/ppt/slides/slide32.xml" Id="Rca5061a558a94e54" /><Relationship Type="http://schemas.openxmlformats.org/officeDocument/2006/relationships/slide" Target="/ppt/slides/slide33.xml" Id="R953f6a81fc424ca5" /><Relationship Type="http://schemas.openxmlformats.org/officeDocument/2006/relationships/slide" Target="/ppt/slides/slide34.xml" Id="Ref9a81fb767d4359" /><Relationship Type="http://schemas.openxmlformats.org/officeDocument/2006/relationships/slide" Target="/ppt/slides/slide35.xml" Id="R9e852e044a664866" /><Relationship Type="http://schemas.openxmlformats.org/officeDocument/2006/relationships/slide" Target="/ppt/slides/slide36.xml" Id="R72fc702deb36435e" /><Relationship Type="http://schemas.openxmlformats.org/officeDocument/2006/relationships/slide" Target="/ppt/slides/slide37.xml" Id="R3dad449c15384a86" /><Relationship Type="http://schemas.openxmlformats.org/officeDocument/2006/relationships/slide" Target="/ppt/slides/slide38.xml" Id="Rb754eff645964a93" /><Relationship Type="http://schemas.openxmlformats.org/officeDocument/2006/relationships/slide" Target="/ppt/slides/slide39.xml" Id="R960f32e6770642b9" /><Relationship Type="http://schemas.openxmlformats.org/officeDocument/2006/relationships/slide" Target="/ppt/slides/slide40.xml" Id="R6dda856d61ec42ea" /><Relationship Type="http://schemas.openxmlformats.org/officeDocument/2006/relationships/slide" Target="/ppt/slides/slide41.xml" Id="R359ad09f9aa44c0b" /><Relationship Type="http://schemas.openxmlformats.org/officeDocument/2006/relationships/slide" Target="/ppt/slides/slide42.xml" Id="Rb5a252dd26b64d90" /><Relationship Type="http://schemas.openxmlformats.org/officeDocument/2006/relationships/slide" Target="/ppt/slides/slide43.xml" Id="R76a966e99c514f56" /><Relationship Type="http://schemas.openxmlformats.org/officeDocument/2006/relationships/slide" Target="/ppt/slides/slide44.xml" Id="Re987713d7f5c4f57" /><Relationship Type="http://schemas.openxmlformats.org/officeDocument/2006/relationships/slide" Target="/ppt/slides/slide45.xml" Id="Ra537aa186ad447ed" /><Relationship Type="http://schemas.openxmlformats.org/officeDocument/2006/relationships/slide" Target="/ppt/slides/slide46.xml" Id="R913887bd7dc74e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d99312156449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XGW WenKai TC"/>
        <a:ea typeface=""/>
        <a:cs typeface=""/>
      </a:majorFont>
      <a:minorFont>
        <a:latin typeface="LXGW WenKai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0a7e388cc7424d" /><Relationship Type="http://schemas.openxmlformats.org/officeDocument/2006/relationships/notesMaster" Target="/ppt/notesMasters/notesMaster1.xml" Id="R1b1180acdaa444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2100d0bf354379" /><Relationship Type="http://schemas.openxmlformats.org/officeDocument/2006/relationships/notesMaster" Target="/ppt/notesMasters/notesMaster1.xml" Id="R417b2dd901014a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0bf23a9cdf497a" /><Relationship Type="http://schemas.openxmlformats.org/officeDocument/2006/relationships/notesMaster" Target="/ppt/notesMasters/notesMaster1.xml" Id="R879024ab889c4b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e3bb2245404c84" /><Relationship Type="http://schemas.openxmlformats.org/officeDocument/2006/relationships/notesMaster" Target="/ppt/notesMasters/notesMaster1.xml" Id="R1caab87e190440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61859b01924e37" /><Relationship Type="http://schemas.openxmlformats.org/officeDocument/2006/relationships/notesMaster" Target="/ppt/notesMasters/notesMaster1.xml" Id="R88f8cc8431d449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4b4b4ae39b4edd" /><Relationship Type="http://schemas.openxmlformats.org/officeDocument/2006/relationships/notesMaster" Target="/ppt/notesMasters/notesMaster1.xml" Id="Rcc84fcb7a0d345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d3a290f8a04bb4" /><Relationship Type="http://schemas.openxmlformats.org/officeDocument/2006/relationships/notesMaster" Target="/ppt/notesMasters/notesMaster1.xml" Id="R53f30214aaa44a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0660a4f92242b1" /><Relationship Type="http://schemas.openxmlformats.org/officeDocument/2006/relationships/notesMaster" Target="/ppt/notesMasters/notesMaster1.xml" Id="R7db3c6865f214d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d21d6feb0d4602" /><Relationship Type="http://schemas.openxmlformats.org/officeDocument/2006/relationships/notesMaster" Target="/ppt/notesMasters/notesMaster1.xml" Id="R3a43bd34efbe4c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9042f95bf64a57" /><Relationship Type="http://schemas.openxmlformats.org/officeDocument/2006/relationships/notesMaster" Target="/ppt/notesMasters/notesMaster1.xml" Id="R925682a8255c4a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c2789e45244682" /><Relationship Type="http://schemas.openxmlformats.org/officeDocument/2006/relationships/notesMaster" Target="/ppt/notesMasters/notesMaster1.xml" Id="Rab0300b34f6c4a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d854eb2e804769" /><Relationship Type="http://schemas.openxmlformats.org/officeDocument/2006/relationships/notesMaster" Target="/ppt/notesMasters/notesMaster1.xml" Id="R8fddbb4f37194e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19864c985c44a2f" /><Relationship Type="http://schemas.openxmlformats.org/officeDocument/2006/relationships/notesMaster" Target="/ppt/notesMasters/notesMaster1.xml" Id="R9669339c3c2d494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b36118b03847c4" /><Relationship Type="http://schemas.openxmlformats.org/officeDocument/2006/relationships/notesMaster" Target="/ppt/notesMasters/notesMaster1.xml" Id="R31b064d034a3482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fa0724536f54fe0" /><Relationship Type="http://schemas.openxmlformats.org/officeDocument/2006/relationships/notesMaster" Target="/ppt/notesMasters/notesMaster1.xml" Id="Rbfda9aeb09dd4a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ffdbda54e40481d" /><Relationship Type="http://schemas.openxmlformats.org/officeDocument/2006/relationships/notesMaster" Target="/ppt/notesMasters/notesMaster1.xml" Id="R6b02b7e18b9e499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64f0e8366734df1" /><Relationship Type="http://schemas.openxmlformats.org/officeDocument/2006/relationships/notesMaster" Target="/ppt/notesMasters/notesMaster1.xml" Id="R4e8bc4257bf1485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f83aca3d79e4ba0" /><Relationship Type="http://schemas.openxmlformats.org/officeDocument/2006/relationships/notesMaster" Target="/ppt/notesMasters/notesMaster1.xml" Id="R71313db15e96491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189dc7e332e4ca2" /><Relationship Type="http://schemas.openxmlformats.org/officeDocument/2006/relationships/notesMaster" Target="/ppt/notesMasters/notesMaster1.xml" Id="R063b3b2045a14fc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f2cd94dcfd642e8" /><Relationship Type="http://schemas.openxmlformats.org/officeDocument/2006/relationships/notesMaster" Target="/ppt/notesMasters/notesMaster1.xml" Id="R1c794032c4004da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5ac727bb6894f10" /><Relationship Type="http://schemas.openxmlformats.org/officeDocument/2006/relationships/notesMaster" Target="/ppt/notesMasters/notesMaster1.xml" Id="R3db9a7162f594b2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f3723c2968a4b29" /><Relationship Type="http://schemas.openxmlformats.org/officeDocument/2006/relationships/notesMaster" Target="/ppt/notesMasters/notesMaster1.xml" Id="Rc4a4009883884ee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794100926e349b6" /><Relationship Type="http://schemas.openxmlformats.org/officeDocument/2006/relationships/notesMaster" Target="/ppt/notesMasters/notesMaster1.xml" Id="R8d0f07d6d05d4a5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4a411eaff5947a8" /><Relationship Type="http://schemas.openxmlformats.org/officeDocument/2006/relationships/notesMaster" Target="/ppt/notesMasters/notesMaster1.xml" Id="Rd9a896a1ddff482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ce2a8a7cea34607" /><Relationship Type="http://schemas.openxmlformats.org/officeDocument/2006/relationships/notesMaster" Target="/ppt/notesMasters/notesMaster1.xml" Id="R8d762bca1cd94e5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c066c18892c4783" /><Relationship Type="http://schemas.openxmlformats.org/officeDocument/2006/relationships/notesMaster" Target="/ppt/notesMasters/notesMaster1.xml" Id="R192f44494a9b4e5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026ba460cd44f45" /><Relationship Type="http://schemas.openxmlformats.org/officeDocument/2006/relationships/notesMaster" Target="/ppt/notesMasters/notesMaster1.xml" Id="Rf83ebcdabcc7417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1fd0a87c1994f05" /><Relationship Type="http://schemas.openxmlformats.org/officeDocument/2006/relationships/notesMaster" Target="/ppt/notesMasters/notesMaster1.xml" Id="Rb546d6eb6f06478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e7dc26fa92842a4" /><Relationship Type="http://schemas.openxmlformats.org/officeDocument/2006/relationships/notesMaster" Target="/ppt/notesMasters/notesMaster1.xml" Id="R7db37c4e8b99454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e31c4207b844ccf" /><Relationship Type="http://schemas.openxmlformats.org/officeDocument/2006/relationships/notesMaster" Target="/ppt/notesMasters/notesMaster1.xml" Id="R72b099182d8d432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5631c472b6e4dcf" /><Relationship Type="http://schemas.openxmlformats.org/officeDocument/2006/relationships/notesMaster" Target="/ppt/notesMasters/notesMaster1.xml" Id="Rbce488c0001c4d8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94420f690de4d3a" /><Relationship Type="http://schemas.openxmlformats.org/officeDocument/2006/relationships/notesMaster" Target="/ppt/notesMasters/notesMaster1.xml" Id="R2ae92bb41c4d46a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397262036eb4e67" /><Relationship Type="http://schemas.openxmlformats.org/officeDocument/2006/relationships/notesMaster" Target="/ppt/notesMasters/notesMaster1.xml" Id="R363b37a9374e435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f02ac4a983c434e" /><Relationship Type="http://schemas.openxmlformats.org/officeDocument/2006/relationships/notesMaster" Target="/ppt/notesMasters/notesMaster1.xml" Id="R996c9aaedba349d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b0cbad083cd4b25" /><Relationship Type="http://schemas.openxmlformats.org/officeDocument/2006/relationships/notesMaster" Target="/ppt/notesMasters/notesMaster1.xml" Id="Rbb40e70bd20d497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8adc9ab482b4df4" /><Relationship Type="http://schemas.openxmlformats.org/officeDocument/2006/relationships/notesMaster" Target="/ppt/notesMasters/notesMaster1.xml" Id="R77e3f36e7424430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c8ed70b7ca54a98" /><Relationship Type="http://schemas.openxmlformats.org/officeDocument/2006/relationships/notesMaster" Target="/ppt/notesMasters/notesMaster1.xml" Id="R8f4dd6437a4c43f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300f6c26b24417b" /><Relationship Type="http://schemas.openxmlformats.org/officeDocument/2006/relationships/notesMaster" Target="/ppt/notesMasters/notesMaster1.xml" Id="R552288e2e5d44a5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158a2bdc07a4425" /><Relationship Type="http://schemas.openxmlformats.org/officeDocument/2006/relationships/notesMaster" Target="/ppt/notesMasters/notesMaster1.xml" Id="R746d4e559ced471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25576b85cb14c50" /><Relationship Type="http://schemas.openxmlformats.org/officeDocument/2006/relationships/notesMaster" Target="/ppt/notesMasters/notesMaster1.xml" Id="R80485d55190a422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5858561de814c4f" /><Relationship Type="http://schemas.openxmlformats.org/officeDocument/2006/relationships/notesMaster" Target="/ppt/notesMasters/notesMaster1.xml" Id="R392a8171b6714b3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af5219b094749ba" /><Relationship Type="http://schemas.openxmlformats.org/officeDocument/2006/relationships/notesMaster" Target="/ppt/notesMasters/notesMaster1.xml" Id="R99ca5b2a2f43470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647242329ff4d43" /><Relationship Type="http://schemas.openxmlformats.org/officeDocument/2006/relationships/notesMaster" Target="/ppt/notesMasters/notesMaster1.xml" Id="R2105bb92f5a94b8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a5e8dccc2494f44" /><Relationship Type="http://schemas.openxmlformats.org/officeDocument/2006/relationships/notesMaster" Target="/ppt/notesMasters/notesMaster1.xml" Id="R8e6eaa56afdc4f2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de60490dfda490c" /><Relationship Type="http://schemas.openxmlformats.org/officeDocument/2006/relationships/notesMaster" Target="/ppt/notesMasters/notesMaster1.xml" Id="Rd8785af9cd43483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66f17ff3a5349a9" /><Relationship Type="http://schemas.openxmlformats.org/officeDocument/2006/relationships/notesMaster" Target="/ppt/notesMasters/notesMaster1.xml" Id="R4af63373ce754e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三课时展开，两课时可按教师流程精简。先只读第1—2段，提问：为什么讨厌蒋妍？不要先讲结局。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课本预习二第1题，改为随段点选</a:t>
            </a:r>
          </a:p>
          <a:p xmlns:a="http://schemas.openxmlformats.org/drawingml/2006/main">
            <a:r>
              <a:t>学生独立。“憋”指勉强忍住，把想说的话和不满压在心里。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</a:t>
            </a:r>
          </a:p>
          <a:p xmlns:a="http://schemas.openxmlformats.org/drawingml/2006/main">
            <a:r>
              <a:t>课本第1—2段旁注；教参2.2第1—2段；整合旧Q6</a:t>
            </a:r>
          </a:p>
          <a:p xmlns:a="http://schemas.openxmlformats.org/drawingml/2006/main">
            <a:r>
              <a:t>教师示范。她每晚读到十二点，灯光使室友无法入睡；清晨闹钟又吵醒室友。勤奋学习本身未必是坏习惯，但这些做法影响同住的人，因此“我”把它们称作“坏习惯”。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常见误读：只答她勤奋；遗漏灯光或闹钟；断言她故意扰人。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课本第1—2段旁注；教参2.2第1—2段；整合旧Q6</a:t>
            </a:r>
          </a:p>
          <a:p xmlns:a="http://schemas.openxmlformats.org/drawingml/2006/main">
            <a:r>
              <a:t>教师示范。她每晚读到十二点，灯光使室友无法入睡；清晨闹钟又吵醒室友。勤奋学习本身未必是坏习惯，但这些做法影响同住的人，因此“我”把它们称作“坏习惯”。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常见误读：只答她勤奋；遗漏灯光或闹钟；断言她故意扰人。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课本预习一第1题；教参2.2第3—5段；修正旧Q7</a:t>
            </a:r>
          </a:p>
          <a:p xmlns:a="http://schemas.openxmlformats.org/drawingml/2006/main">
            <a:r>
              <a:t>学生独立。“委婉”指说话温和、含蓄，不直接生硬地责备。大家已委婉提醒她尊重作息，但她没有改变；美梦再次被吵醒，使“我”忍无可忍。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常见误读：把委婉理解为大声责骂；凭“不愿多说”确定其他室友的性格。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课本预习一第1题；教参2.2第3—5段；修正旧Q7</a:t>
            </a:r>
          </a:p>
          <a:p xmlns:a="http://schemas.openxmlformats.org/drawingml/2006/main">
            <a:r>
              <a:t>学生独立。“委婉”指说话温和、含蓄，不直接生硬地责备。大家已委婉提醒她尊重作息，但她没有改变；美梦再次被吵醒，使“我”忍无可忍。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常见误读：把委婉理解为大声责骂；凭“不愿多说”确定其他室友的性格。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课本预习二第2题；旧Q8、Q12修订为有证据的判断</a:t>
            </a:r>
          </a:p>
          <a:p xmlns:a="http://schemas.openxmlformats.org/drawingml/2006/main">
            <a:r>
              <a:t>学生独立。对应词语是“反驳”。不能确定她已经服气。她面对怒气冲冲的“我”，不敢把话说完；这能说明她当时不敢反驳，不能直接证明认错、委屈或内心完全赞同。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常见误读：把“可能委屈”说成确定事实；把第17段道歉提前到第4段。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课本预习二第2题；旧Q8、Q12修订为有证据的判断</a:t>
            </a:r>
          </a:p>
          <a:p xmlns:a="http://schemas.openxmlformats.org/drawingml/2006/main">
            <a:r>
              <a:t>学生独立。对应词语是“反驳”。不能确定她已经服气。她面对怒气冲冲的“我”，不敢把话说完；这能说明她当时不敢反驳，不能直接证明认错、委屈或内心完全赞同。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常见误读：把“可能委屈”说成确定事实；把第17段道歉提前到第4段。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教参2.2第3—5段；课本第5段旁注；整合修正旧Q17、Q20</a:t>
            </a:r>
          </a:p>
          <a:p xmlns:a="http://schemas.openxmlformats.org/drawingml/2006/main">
            <a:r>
              <a:t>学生独立。两人由原本没有什么交流，变成谁也不搭理谁、各走各的路。“抬头不见低头见”形容经常见面；同住一室却互不理睬，显出相处的尴尬。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常见误读：把“冤家”解释成亲密玩笑；只抄“冤家”而没有具体行为。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教参2.2第3—5段；课本第5段旁注；整合修正旧Q17、Q20</a:t>
            </a:r>
          </a:p>
          <a:p xmlns:a="http://schemas.openxmlformats.org/drawingml/2006/main">
            <a:r>
              <a:t>学生独立。两人由原本没有什么交流，变成谁也不搭理谁、各走各的路。“抬头不见低头见”形容经常见面；同住一室却互不理睬，显出相处的尴尬。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常见误读：把“冤家”解释成亲密玩笑；只抄“冤家”而没有具体行为。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夸张 hyperbole。示例不是课文引句。先解释，再请学生看下一页原句。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课本第6段旁注；教参2.2第6—17段；整合旧Q13、Q14</a:t>
            </a:r>
          </a:p>
          <a:p xmlns:a="http://schemas.openxmlformats.org/drawingml/2006/main">
            <a:r>
              <a:t>师生共构。用了夸张。“空气仿佛凝固”“安静得可以听到彼此心跳”夸大气氛的凝重和房间的安静，烘托两人互不搭理造成的尴尬。</a:t>
            </a:r>
          </a:p>
          <a:p xmlns:a="http://schemas.openxmlformats.org/drawingml/2006/main">
            <a:r>
              <a:t>建议3分：夸张1分；凝重、安静的气氛1分；互不搭理的尴尬1分。各意义单位独立给分。</a:t>
            </a:r>
          </a:p>
          <a:p xmlns:a="http://schemas.openxmlformats.org/drawingml/2006/main">
            <a:r>
              <a:t>常见误读：只写“生动形象”；把“仿佛”机械当比喻；未联系两人的关系。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课本第6段旁注；教参2.2第6—17段；整合旧Q13、Q14</a:t>
            </a:r>
          </a:p>
          <a:p xmlns:a="http://schemas.openxmlformats.org/drawingml/2006/main">
            <a:r>
              <a:t>师生共构。用了夸张。“空气仿佛凝固”“安静得可以听到彼此心跳”夸大气氛的凝重和房间的安静，烘托两人互不搭理造成的尴尬。</a:t>
            </a:r>
          </a:p>
          <a:p xmlns:a="http://schemas.openxmlformats.org/drawingml/2006/main">
            <a:r>
              <a:t>建议3分：夸张1分；凝重、安静的气氛1分；互不搭理的尴尬1分。各意义单位独立给分。</a:t>
            </a:r>
          </a:p>
          <a:p xmlns:a="http://schemas.openxmlformats.org/drawingml/2006/main">
            <a:r>
              <a:t>常见误读：只写“生动形象”；把“仿佛”机械当比喻；未联系两人的关系。</a:t>
            </a:r>
          </a:p>
          <a:p xmlns:a="http://schemas.openxmlformats.org/drawingml/2006/main">
            <a:r>
              <a:t>第一课书面作答。原句可以连续加入，参考后订正。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课本第6段旁注；教参；旧Q15修订</a:t>
            </a:r>
          </a:p>
          <a:p xmlns:a="http://schemas.openxmlformats.org/drawingml/2006/main">
            <a:r>
              <a:t>学生独立。不宜。“缓缓裂开一条缝”写出门慢慢露出窄缝的过程，让动作更具体、仿佛慢镜头，增强紧张感；“打开”较笼统，减弱这种效果。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常见误读：说门板裂了；虚构有东西硬撑开门。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课本第6段旁注；教参；旧Q15修订</a:t>
            </a:r>
          </a:p>
          <a:p xmlns:a="http://schemas.openxmlformats.org/drawingml/2006/main">
            <a:r>
              <a:t>学生独立。不宜。“缓缓裂开一条缝”写出门慢慢露出窄缝的过程，让动作更具体、仿佛慢镜头，增强紧张感；“打开”较笼统，减弱这种效果。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常见误读：说门板裂了；虚构有东西硬撑开门。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课本第9段旁注；教参恐惧取证题分步；旧Q10重新排序</a:t>
            </a:r>
          </a:p>
          <a:p xmlns:a="http://schemas.openxmlformats.org/drawingml/2006/main">
            <a:r>
              <a:t>学生独立。“在彼此的眼睛里都看到了恐惧。”两人飞快对视，从彼此眼神看出害怕。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课本第9段旁注；教参恐惧取证题分步；旧Q10重新排序</a:t>
            </a:r>
          </a:p>
          <a:p xmlns:a="http://schemas.openxmlformats.org/drawingml/2006/main">
            <a:r>
              <a:t>学生独立。“在彼此的眼睛里都看到了恐惧。”两人飞快对视，从彼此眼神看出害怕。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课本恐惧取证题；预习一第2题；整合旧Q10</a:t>
            </a:r>
          </a:p>
          <a:p xmlns:a="http://schemas.openxmlformats.org/drawingml/2006/main">
            <a:r>
              <a:t>学生独立。“鼓起勇气”“小心地探出身”“锁上门”“赶紧熄灯上床”等，写出“我”勉强克服害怕去查看，以及两人急着回床上的反应。“熄灯”是把灯关掉，使灯不亮。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常见误读：用查看走廊断定她毫不害怕；抄动作却不解释情绪。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课本恐惧取证题；预习一第2题；整合旧Q10</a:t>
            </a:r>
          </a:p>
          <a:p xmlns:a="http://schemas.openxmlformats.org/drawingml/2006/main">
            <a:r>
              <a:t>学生独立。“鼓起勇气”“小心地探出身”“锁上门”“赶紧熄灯上床”等，写出“我”勉强克服害怕去查看，以及两人急着回床上的反应。“熄灯”是把灯关掉，使灯不亮。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常见误读：用查看走廊断定她毫不害怕；抄动作却不解释情绪。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课本阅读放大镜一例句3；恐惧取证题；旧Q10</a:t>
            </a:r>
          </a:p>
          <a:p xmlns:a="http://schemas.openxmlformats.org/drawingml/2006/main">
            <a:r>
              <a:t>学生独立。“好可怕啊！”及“我的声音有些颤抖”，表现“我”的恐惧。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课本阅读放大镜一例句3；恐惧取证题；旧Q10</a:t>
            </a:r>
          </a:p>
          <a:p xmlns:a="http://schemas.openxmlformats.org/drawingml/2006/main">
            <a:r>
              <a:t>学生独立。“好可怕啊！”及“我的声音有些颤抖”，表现“我”的恐惧。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</a:t>
            </a:r>
          </a:p>
          <a:p xmlns:a="http://schemas.openxmlformats.org/drawingml/2006/main">
            <a:r>
              <a:t>课本感叹句还包括惊喜、愤怒等，不能只凭感叹号定情绪。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课本预习二第3题；恐惧取证题；修订旧Q10</a:t>
            </a:r>
          </a:p>
          <a:p xmlns:a="http://schemas.openxmlformats.org/drawingml/2006/main">
            <a:r>
              <a:t>学生独立。“蜷缩在被子里瑟瑟发抖”表现蒋妍害怕。对应词语是“诡异”。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常见误读：把身体动作机械当成新描写类别；没有依据地说她发烧或冷。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课本预习二第3题；恐惧取证题；修订旧Q10</a:t>
            </a:r>
          </a:p>
          <a:p xmlns:a="http://schemas.openxmlformats.org/drawingml/2006/main">
            <a:r>
              <a:t>学生独立。“蜷缩在被子里瑟瑟发抖”表现蒋妍害怕。对应词语是“诡异”。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常见误读：把身体动作机械当成新描写类别；没有依据地说她发烧或冷。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课本预习一第3题；教参关系变化；旧Q9的前置定位</a:t>
            </a:r>
          </a:p>
          <a:p xmlns:a="http://schemas.openxmlformats.org/drawingml/2006/main">
            <a:r>
              <a:t>学生独立。“也”说明“我”同样喜欢读鬼故事，两人有共同爱好。“恐怖”指令人害怕、胆战心惊。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课本预习一第3题；教参关系变化；旧Q9的前置定位</a:t>
            </a:r>
          </a:p>
          <a:p xmlns:a="http://schemas.openxmlformats.org/drawingml/2006/main">
            <a:r>
              <a:t>学生独立。“也”说明“我”同样喜欢读鬼故事，两人有共同爱好。“恐怖”指令人害怕、胆战心惊。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课本预习三、预习二第4题；教参；旧Q2、Q9、Q18重写</a:t>
            </a:r>
          </a:p>
          <a:p xmlns:a="http://schemas.openxmlformats.org/drawingml/2006/main">
            <a:r>
              <a:t>学生独立。“讨厌鬼”指“我”原先讨厌的蒋妍。两人因共同的恐惧开始交流，发现彼此有共同点；蒋妍也为之前的事道歉。“我”改变看法，不再讨厌她，还主动借书给她。“通宵”就是整夜。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常见误读：说讨厌鬼也指门外女生；说两人互相道歉；把不见了理解为搬走。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课本预习三、预习二第4题；教参；旧Q2、Q9、Q18重写</a:t>
            </a:r>
          </a:p>
          <a:p xmlns:a="http://schemas.openxmlformats.org/drawingml/2006/main">
            <a:r>
              <a:t>学生独立。“讨厌鬼”指“我”原先讨厌的蒋妍。两人因共同的恐惧开始交流，发现彼此有共同点；蒋妍也为之前的事道歉。“我”改变看法，不再讨厌她，还主动借书给她。“通宵”就是整夜。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常见误读：说讨厌鬼也指门外女生；说两人互相道歉；把不见了理解为搬走。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课本第18段旁注；教参2.2第18—19段</a:t>
            </a:r>
          </a:p>
          <a:p xmlns:a="http://schemas.openxmlformats.org/drawingml/2006/main">
            <a:r>
              <a:t>学生独立。门外女生是住在楼上的新同学，那天走错了宿舍。文章重点是两人通过交流改善关系；真相只是补充事情的完整性，所以简略交代。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常见误读：只说“不重要”而不联系主题；把门外人写成鬼。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课本第18段旁注；教参2.2第18—19段</a:t>
            </a:r>
          </a:p>
          <a:p xmlns:a="http://schemas.openxmlformats.org/drawingml/2006/main">
            <a:r>
              <a:t>学生独立。门外女生是住在楼上的新同学，那天走错了宿舍。文章重点是两人通过交流改善关系；真相只是补充事情的完整性，所以简略交代。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常见误读：只说“不重要”而不联系主题；把门外人写成鬼。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教参第18—19段；旧Q19整合</a:t>
            </a:r>
          </a:p>
          <a:p xmlns:a="http://schemas.openxmlformats.org/drawingml/2006/main">
            <a:r>
              <a:t>学生独立。“惊悚”指两人把走错宿舍的女生误当作鬼，感到害怕；“美丽”指这个误会促使两人交流，发现共同点、化解隔阂，关系改善。所以事情的过程吓人，带来的结果却美好。</a:t>
            </a:r>
          </a:p>
          <a:p xmlns:a="http://schemas.openxmlformats.org/drawingml/2006/main">
            <a:r>
              <a:t>建议3分：误会带来恐惧1分；促成交流与了解1分；关系改善这一美好结果1分。只写“很可怕又很好”没有具体意义。</a:t>
            </a:r>
          </a:p>
          <a:p xmlns:a="http://schemas.openxmlformats.org/drawingml/2006/main">
            <a:r>
              <a:t>常见误读：把美丽解释成女生漂亮；只解释一半；没有说明交流与关系改善。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教参第18—19段；旧Q19整合</a:t>
            </a:r>
          </a:p>
          <a:p xmlns:a="http://schemas.openxmlformats.org/drawingml/2006/main">
            <a:r>
              <a:t>学生独立。“惊悚”指两人把走错宿舍的女生误当作鬼，感到害怕；“美丽”指这个误会促使两人交流，发现共同点、化解隔阂，关系改善。所以事情的过程吓人，带来的结果却美好。</a:t>
            </a:r>
          </a:p>
          <a:p xmlns:a="http://schemas.openxmlformats.org/drawingml/2006/main">
            <a:r>
              <a:t>建议3分：误会带来恐惧1分；促成交流与了解1分；关系改善这一美好结果1分。只写“很可怕又很好”没有具体意义。</a:t>
            </a:r>
          </a:p>
          <a:p xmlns:a="http://schemas.openxmlformats.org/drawingml/2006/main">
            <a:r>
              <a:t>常见误读：把美丽解释成女生漂亮；只解释一半；没有说明交流与关系改善。</a:t>
            </a:r>
          </a:p>
          <a:p xmlns:a="http://schemas.openxmlformats.org/drawingml/2006/main">
            <a:r>
              <a:t>第二课第一项独立书面作答，不以关键词评分。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抒情句 expressing feelings；议论句 expressing a view。对照例：好漂亮的鸟蛋！与相处时应顾及别人的需要。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课本阅读放大镜三；整合旧Q3—5、Q22</a:t>
            </a:r>
          </a:p>
          <a:p xmlns:a="http://schemas.openxmlformats.org/drawingml/2006/main">
            <a:r>
              <a:t>师生共构。抒情句可选“多么惊悚而美丽的误会啊！”；议论句是“其实，人与人相处，总会出现这样那样的问题。很多时候，只要多点交流，就可以解决这些问题，人们之间的关系也会变得更和谐。”主题：人与人相处需要多交流，增进了解、化解隔阂，使关系更和谐。</a:t>
            </a:r>
          </a:p>
          <a:p xmlns:a="http://schemas.openxmlformats.org/drawingml/2006/main">
            <a:r>
              <a:t>建议4分：关键句各1分；主题1分；联系交流前后关系变化1分。句子选择范围不同但意义准确，可接受；第1段也有抒情表达，但选结尾句更便于结合主题。</a:t>
            </a:r>
          </a:p>
          <a:p xmlns:a="http://schemas.openxmlformats.org/drawingml/2006/main">
            <a:r>
              <a:t>常见误读：把“真有恐怖事件”当事实；只写朋友要互助而未提交流；把交流说成保证解决一切问题。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课本阅读放大镜三；整合旧Q3—5、Q22</a:t>
            </a:r>
          </a:p>
          <a:p xmlns:a="http://schemas.openxmlformats.org/drawingml/2006/main">
            <a:r>
              <a:t>师生共构。抒情句可选“多么惊悚而美丽的误会啊！”；议论句是“其实，人与人相处，总会出现这样那样的问题。很多时候，只要多点交流，就可以解决这些问题，人们之间的关系也会变得更和谐。”主题：人与人相处需要多交流，增进了解、化解隔阂，使关系更和谐。</a:t>
            </a:r>
          </a:p>
          <a:p xmlns:a="http://schemas.openxmlformats.org/drawingml/2006/main">
            <a:r>
              <a:t>建议4分：关键句各1分；主题1分；联系交流前后关系变化1分。句子选择范围不同但意义准确，可接受；第1段也有抒情表达，但选结尾句更便于结合主题。</a:t>
            </a:r>
          </a:p>
          <a:p xmlns:a="http://schemas.openxmlformats.org/drawingml/2006/main">
            <a:r>
              <a:t>常见误读：把“真有恐怖事件”当事实；只写朋友要互助而未提交流；把交流说成保证解决一切问题。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课本阅读放大镜三；整合旧Q3—5、Q22</a:t>
            </a:r>
          </a:p>
          <a:p xmlns:a="http://schemas.openxmlformats.org/drawingml/2006/main">
            <a:r>
              <a:t>师生共构。抒情句可选“多么惊悚而美丽的误会啊！”；议论句是“其实，人与人相处，总会出现这样那样的问题。很多时候，只要多点交流，就可以解决这些问题，人们之间的关系也会变得更和谐。”主题：人与人相处需要多交流，增进了解、化解隔阂，使关系更和谐。</a:t>
            </a:r>
          </a:p>
          <a:p xmlns:a="http://schemas.openxmlformats.org/drawingml/2006/main">
            <a:r>
              <a:t>建议4分：关键句各1分；主题1分；联系交流前后关系变化1分。句子选择范围不同但意义准确，可接受；第1段也有抒情表达，但选结尾句更便于结合主题。</a:t>
            </a:r>
          </a:p>
          <a:p xmlns:a="http://schemas.openxmlformats.org/drawingml/2006/main">
            <a:r>
              <a:t>常见误读：把“真有恐怖事件”当事实；只写朋友要互助而未提交流；把交流说成保证解决一切问题。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课本阅读放大镜三；整合旧Q3—5、Q22</a:t>
            </a:r>
          </a:p>
          <a:p xmlns:a="http://schemas.openxmlformats.org/drawingml/2006/main">
            <a:r>
              <a:t>师生共构。抒情句可选“多么惊悚而美丽的误会啊！”；议论句是“其实，人与人相处，总会出现这样那样的问题。很多时候，只要多点交流，就可以解决这些问题，人们之间的关系也会变得更和谐。”主题：人与人相处需要多交流，增进了解、化解隔阂，使关系更和谐。</a:t>
            </a:r>
          </a:p>
          <a:p xmlns:a="http://schemas.openxmlformats.org/drawingml/2006/main">
            <a:r>
              <a:t>建议4分：关键句各1分；主题1分；联系交流前后关系变化1分。句子选择范围不同但意义准确，可接受；第1段也有抒情表达，但选结尾句更便于结合主题。</a:t>
            </a:r>
          </a:p>
          <a:p xmlns:a="http://schemas.openxmlformats.org/drawingml/2006/main">
            <a:r>
              <a:t>常见误读：把“真有恐怖事件”当事实；只写朋友要互助而未提交流；把交流说成保证解决一切问题。</a:t>
            </a:r>
          </a:p>
          <a:p xmlns:a="http://schemas.openxmlformats.org/drawingml/2006/main">
            <a:r>
              <a:t>第二课第二项书写，师生共同整理。注意“很多时候”的范围。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课本阅读放大镜二；整合旧Q1、Q2</a:t>
            </a:r>
          </a:p>
          <a:p xmlns:a="http://schemas.openxmlformats.org/drawingml/2006/main">
            <a:r>
              <a:t>学生独立。蒋妍晚睡早起，影响室友休息，“我”讨厌她；提醒后她没有改变，“我”吼起来，两人成了冤家；发生“恐怖事件”后两人开始交流，发现共同点，蒋妍道歉；“我”借恐怖小说给她，不再讨厌她。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课本阅读放大镜二；整合旧Q1、Q2</a:t>
            </a:r>
          </a:p>
          <a:p xmlns:a="http://schemas.openxmlformats.org/drawingml/2006/main">
            <a:r>
              <a:t>学生独立。蒋妍晚睡早起，影响室友休息，“我”讨厌她；提醒后她没有改变，“我”吼起来，两人成了冤家；发生“恐怖事件”后两人开始交流，发现共同点，蒋妍道歉；“我”借恐怖小说给她，不再讨厌她。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课本阅读放大镜二；整合旧Q1、Q2</a:t>
            </a:r>
          </a:p>
          <a:p xmlns:a="http://schemas.openxmlformats.org/drawingml/2006/main">
            <a:r>
              <a:t>学生独立。蒋妍晚睡早起，影响室友休息，“我”讨厌她；提醒后她没有改变，“我”吼起来，两人成了冤家；发生“恐怖事件”后两人开始交流，发现共同点，蒋妍道歉；“我”借恐怖小说给她，不再讨厌她。</a:t>
            </a:r>
          </a:p>
          <a:p xmlns:a="http://schemas.openxmlformats.org/drawingml/2006/main">
            <a:r>
              <a:t>按意义理解核对，接受有依据的等义表达，不以关键词命中评分。</a:t>
            </a:r>
          </a:p>
          <a:p xmlns:a="http://schemas.openxmlformats.org/drawingml/2006/main">
            <a:r>
              <a:t>常见误读：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回顾课本三个例句：好漂亮的鸟蛋！惊喜；蒋妍，你真的很讨厌！愤怒；好可怕啊！恐惧。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课本阅读放大镜一三道原题</a:t>
            </a:r>
          </a:p>
          <a:p xmlns:a="http://schemas.openxmlformats.org/drawingml/2006/main">
            <a:r>
              <a:t>学生独立。1. 你这么做真过分！</a:t>
            </a:r>
          </a:p>
          <a:p xmlns:a="http://schemas.openxmlformats.org/drawingml/2006/main">
            <a:r>
              <a:t>2. 这店里的东西好便宜啊！</a:t>
            </a:r>
          </a:p>
          <a:p xmlns:a="http://schemas.openxmlformats.org/drawingml/2006/main">
            <a:r>
              <a:t>3. 这里的景色多么美丽啊！</a:t>
            </a:r>
          </a:p>
          <a:p xmlns:a="http://schemas.openxmlformats.org/drawingml/2006/main">
            <a:r>
              <a:t>每句建议1分，共3分。提示词、句意与感叹语气须相符。接受合理语气词变化，由教师核对。</a:t>
            </a:r>
          </a:p>
          <a:p xmlns:a="http://schemas.openxmlformats.org/drawingml/2006/main">
            <a:r>
              <a:t>常见误读：漏提示词；改掉原意；误把所有感叹句都理解为愤怒。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课本阅读放大镜一三道原题</a:t>
            </a:r>
          </a:p>
          <a:p xmlns:a="http://schemas.openxmlformats.org/drawingml/2006/main">
            <a:r>
              <a:t>学生独立。1. 你这么做真过分！</a:t>
            </a:r>
          </a:p>
          <a:p xmlns:a="http://schemas.openxmlformats.org/drawingml/2006/main">
            <a:r>
              <a:t>2. 这店里的东西好便宜啊！</a:t>
            </a:r>
          </a:p>
          <a:p xmlns:a="http://schemas.openxmlformats.org/drawingml/2006/main">
            <a:r>
              <a:t>3. 这里的景色多么美丽啊！</a:t>
            </a:r>
          </a:p>
          <a:p xmlns:a="http://schemas.openxmlformats.org/drawingml/2006/main">
            <a:r>
              <a:t>每句建议1分，共3分。提示词、句意与感叹语气须相符。接受合理语气词变化，由教师核对。</a:t>
            </a:r>
          </a:p>
          <a:p xmlns:a="http://schemas.openxmlformats.org/drawingml/2006/main">
            <a:r>
              <a:t>常见误读：漏提示词；改掉原意；误把所有感叹句都理解为愤怒。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课本第19段旁注、读后说；整合旧Q23、Q24</a:t>
            </a:r>
          </a:p>
          <a:p xmlns:a="http://schemas.openxmlformats.org/drawingml/2006/main">
            <a:r>
              <a:t>学生独立。以下为虚构示范，不是学生个人经历：我赞同交流常能改善关系。因为把想法和困难说清楚，双方才知道怎样配合。例如小组合作时，有同学没有按时交稿，我先询问，得知他不清楚分工。我们重新确认任务和时间，后来顺利完成。交流让我们找到了原因，并落实调整，所以减少了误会。</a:t>
            </a:r>
          </a:p>
          <a:p xmlns:a="http://schemas.openxmlformats.org/drawingml/2006/main">
            <a:r>
              <a:t>建议4分：立场1分；理由1分；具体问题与解决过程1分；解释例子与观点的联系1分。各点独立判断，不因立场不同扣分，不凭字数或关键词自动评分。</a:t>
            </a:r>
          </a:p>
          <a:p xmlns:a="http://schemas.openxmlformats.org/drawingml/2006/main">
            <a:r>
              <a:t>常见误读：只说“交流很好”；只讲故事不解释；把所有问题都归为误会；捏造个人经历照抄示范。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立场—理由—例子—回扣。生活题写自己的真实经历，不照抄虚构示范。也可部分赞同或不赞同，但要解释范围和条件。交流之外，双方还应愿意顾及对方并改变行动。</a:t>
            </a:r>
          </a:p>
          <a:p xmlns:a="http://schemas.openxmlformats.org/drawingml/2006/main">
            <a:r>
              <a:t>先独立作答，后看示范。不要求同意；按理由与例证判断。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以下为虚构示范，不是学生个人经历：我赞同交流常能改善关系。因为把想法和困难说清楚，双方才知道怎样配合。例如小组合作时，有同学没有按时交稿，我先询问，得知他不清楚分工。我们重新确认任务和时间，后来顺利完成。交流让我们找到了原因，并落实调整，所以减少了误会。</a:t>
            </a:r>
          </a:p>
          <a:p xmlns:a="http://schemas.openxmlformats.org/drawingml/2006/main">
            <a:r>
              <a:t>这是虚构示范，不是学生个人经历。不可照抄成自己的事。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建议4分：立场1分；理由1分；具体问题与解决过程1分；解释例子与观点的联系1分。各点独立判断，不因立场不同扣分，不凭字数或关键词自动评分。</a:t>
            </a:r>
          </a:p>
          <a:p xmlns:a="http://schemas.openxmlformats.org/drawingml/2006/main">
            <a:r>
              <a:t>可接受部分赞同：还需要愿意调整行动。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中二高级华文 单元四 核心课文《恐怖事件》。来源：用户提供的课文、阅读放大镜、预习、教参及五张漫画。</a:t>
            </a:r>
          </a:p>
          <a:p xmlns:a="http://schemas.openxmlformats.org/drawingml/2006/main">
            <a:r>
              <a:t>检查页填写姓名、班级、学号或组别；导出记录。没有速度分或个人榜。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b9867877d943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1306ffea1a45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cfdcbcc15c4b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b60a9713204c7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7197ac8bbd4d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ba27bb664c4c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099D54-9EFB-4A5B-98DF-F9503BB2C5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5588B00-762F-49E4-A616-191C09EE90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1F41D14-E535-452C-9633-F193E03CC0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494BCD-3B8F-400A-81C4-336E9CE60C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63803C5-C463-4291-B360-B5C8B6465F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986DF2A-F2DC-44A2-BDCB-BCF2397FB8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C5E8C9-05AC-450B-8E42-AD4ABE0B01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24AE314-1DE5-4A0B-9C3D-93F3049121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36A71C-B440-45E6-B979-6F486EC668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A72215-6BC7-43C6-BF2E-1194600646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7e836beede4446" /><Relationship Type="http://schemas.openxmlformats.org/officeDocument/2006/relationships/slideLayout" Target="/ppt/slideLayouts/slideLayout1.xml" Id="R6f7eddd174414f5b" /><Relationship Type="http://schemas.openxmlformats.org/officeDocument/2006/relationships/slideLayout" Target="/ppt/slideLayouts/slideLayout2.xml" Id="Re0a4778563d74918" /><Relationship Type="http://schemas.openxmlformats.org/officeDocument/2006/relationships/slideLayout" Target="/ppt/slideLayouts/slideLayout3.xml" Id="R40b985c92d824d18" /><Relationship Type="http://schemas.openxmlformats.org/officeDocument/2006/relationships/slideLayout" Target="/ppt/slideLayouts/slideLayout4.xml" Id="Ra34816cc1bde4df8" /><Relationship Type="http://schemas.openxmlformats.org/officeDocument/2006/relationships/slideLayout" Target="/ppt/slideLayouts/slideLayout5.xml" Id="R861b9e6fbad2467c" /><Relationship Type="http://schemas.openxmlformats.org/officeDocument/2006/relationships/slideLayout" Target="/ppt/slideLayouts/slideLayout6.xml" Id="R28fde966d75048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7eddd174414f5b"/>
    <p:sldLayoutId xmlns:r="http://schemas.openxmlformats.org/officeDocument/2006/relationships" id="2147483650" r:id="Re0a4778563d74918"/>
    <p:sldLayoutId xmlns:r="http://schemas.openxmlformats.org/officeDocument/2006/relationships" id="2147483651" r:id="R40b985c92d824d18"/>
    <p:sldLayoutId xmlns:r="http://schemas.openxmlformats.org/officeDocument/2006/relationships" id="2147483652" r:id="Ra34816cc1bde4df8"/>
    <p:sldLayoutId xmlns:r="http://schemas.openxmlformats.org/officeDocument/2006/relationships" id="2147483653" r:id="R861b9e6fbad2467c"/>
    <p:sldLayoutId xmlns:r="http://schemas.openxmlformats.org/officeDocument/2006/relationships" id="2147483654" r:id="R28fde966d75048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XGW WenKai TC"/>
        <a:ea typeface=""/>
        <a:cs typeface=""/>
      </a:majorFont>
      <a:minorFont>
        <a:latin typeface="LXGW WenKai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69e16bbc12428b" /><Relationship Type="http://schemas.openxmlformats.org/officeDocument/2006/relationships/image" Target="/ppt/media/image.png" Id="Rf5e969ddda984ff0" /><Relationship Type="http://schemas.openxmlformats.org/officeDocument/2006/relationships/notesSlide" Target="/ppt/notesSlides/notesSlide1.xml" Id="R0a4618780ddc4a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694cdf2e6d4478" /><Relationship Type="http://schemas.openxmlformats.org/officeDocument/2006/relationships/notesSlide" Target="/ppt/notesSlides/notesSlide2.xml" Id="Rbb55c1e6f9cc43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32ecad326244de" /><Relationship Type="http://schemas.openxmlformats.org/officeDocument/2006/relationships/notesSlide" Target="/ppt/notesSlides/notesSlide3.xml" Id="Rc72da59227ef49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e80c895f044bc4" /><Relationship Type="http://schemas.openxmlformats.org/officeDocument/2006/relationships/notesSlide" Target="/ppt/notesSlides/notesSlide4.xml" Id="R42f4dcfd557c42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12c39e6c1d4679" /><Relationship Type="http://schemas.openxmlformats.org/officeDocument/2006/relationships/notesSlide" Target="/ppt/notesSlides/notesSlide5.xml" Id="Rcc40ddcb20a64c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6a9956feca4975" /><Relationship Type="http://schemas.openxmlformats.org/officeDocument/2006/relationships/notesSlide" Target="/ppt/notesSlides/notesSlide6.xml" Id="R664098dea47b43c2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03c9a9948d54f66" /><Relationship Type="http://schemas.openxmlformats.org/officeDocument/2006/relationships/image" Target="../media/image.png" Id="R770a07f76302450b" /><Relationship Type="http://schemas.openxmlformats.org/officeDocument/2006/relationships/notesSlide" Target="/ppt/notesSlides/notesSlide7.xml" Id="R6844b1e2ee5d4b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a4e4745130450d" /><Relationship Type="http://schemas.openxmlformats.org/officeDocument/2006/relationships/notesSlide" Target="/ppt/notesSlides/notesSlide8.xml" Id="Rcbf90a3316e046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11241a9fda4e0e" /><Relationship Type="http://schemas.openxmlformats.org/officeDocument/2006/relationships/notesSlide" Target="/ppt/notesSlides/notesSlide9.xml" Id="Ra05889bf6a3444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082f296c8b4613" /><Relationship Type="http://schemas.openxmlformats.org/officeDocument/2006/relationships/notesSlide" Target="/ppt/notesSlides/notesSlide10.xml" Id="Rcfe45f09a20a49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133f8840ab4449" /><Relationship Type="http://schemas.openxmlformats.org/officeDocument/2006/relationships/notesSlide" Target="/ppt/notesSlides/notesSlide11.xml" Id="Rf1d56a59c28940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be69dfd5444b2e" /><Relationship Type="http://schemas.openxmlformats.org/officeDocument/2006/relationships/notesSlide" Target="/ppt/notesSlides/notesSlide12.xml" Id="Rc11988ed08764a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f90cb5649c4820" /><Relationship Type="http://schemas.openxmlformats.org/officeDocument/2006/relationships/notesSlide" Target="/ppt/notesSlides/notesSlide13.xml" Id="R2ef545a1199e4be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7e4c20be5f470a" /><Relationship Type="http://schemas.openxmlformats.org/officeDocument/2006/relationships/image" Target="/ppt/media/image3.png" Id="R42b92ba3081a4db0" /><Relationship Type="http://schemas.openxmlformats.org/officeDocument/2006/relationships/notesSlide" Target="/ppt/notesSlides/notesSlide14.xml" Id="R2c35d5c29bb0448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e914bd2ca148fa" /><Relationship Type="http://schemas.openxmlformats.org/officeDocument/2006/relationships/notesSlide" Target="/ppt/notesSlides/notesSlide15.xml" Id="R6bc77a272be7438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6fd4fcb97f4f77" /><Relationship Type="http://schemas.openxmlformats.org/officeDocument/2006/relationships/notesSlide" Target="/ppt/notesSlides/notesSlide16.xml" Id="R192e19dc0bf44d8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c1c2c31a194e3b" /><Relationship Type="http://schemas.openxmlformats.org/officeDocument/2006/relationships/notesSlide" Target="/ppt/notesSlides/notesSlide17.xml" Id="Ra2513ac23ade489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386865eee44c78" /><Relationship Type="http://schemas.openxmlformats.org/officeDocument/2006/relationships/notesSlide" Target="/ppt/notesSlides/notesSlide18.xml" Id="R42ad2294871d465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7416859c4940d2" /><Relationship Type="http://schemas.openxmlformats.org/officeDocument/2006/relationships/notesSlide" Target="/ppt/notesSlides/notesSlide19.xml" Id="R6c649343cec544d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04bf7cdcf04738" /><Relationship Type="http://schemas.openxmlformats.org/officeDocument/2006/relationships/notesSlide" Target="/ppt/notesSlides/notesSlide20.xml" Id="R614ae252cd0942e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e74b6b0642456b" /><Relationship Type="http://schemas.openxmlformats.org/officeDocument/2006/relationships/notesSlide" Target="/ppt/notesSlides/notesSlide21.xml" Id="R38750ac24a8e4d5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34fe958fa94547" /><Relationship Type="http://schemas.openxmlformats.org/officeDocument/2006/relationships/notesSlide" Target="/ppt/notesSlides/notesSlide22.xml" Id="Rd85f34793fc64a1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dbb6c5af364c65" /><Relationship Type="http://schemas.openxmlformats.org/officeDocument/2006/relationships/notesSlide" Target="/ppt/notesSlides/notesSlide23.xml" Id="R203af1f71a4343c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15d45b4dc848c1" /><Relationship Type="http://schemas.openxmlformats.org/officeDocument/2006/relationships/notesSlide" Target="/ppt/notesSlides/notesSlide24.xml" Id="Rc7586108b0c44cc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07fa983b9d4db6" /><Relationship Type="http://schemas.openxmlformats.org/officeDocument/2006/relationships/notesSlide" Target="/ppt/notesSlides/notesSlide25.xml" Id="R33049c3d7961439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c2bdd044de4e67" /><Relationship Type="http://schemas.openxmlformats.org/officeDocument/2006/relationships/notesSlide" Target="/ppt/notesSlides/notesSlide26.xml" Id="Rbdd37e029716455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e9efaa09854042" /><Relationship Type="http://schemas.openxmlformats.org/officeDocument/2006/relationships/notesSlide" Target="/ppt/notesSlides/notesSlide27.xml" Id="R5888c045229245d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5f9f108567482d" /><Relationship Type="http://schemas.openxmlformats.org/officeDocument/2006/relationships/notesSlide" Target="/ppt/notesSlides/notesSlide28.xml" Id="Rd0475e0015b24e7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d336b48922497e" /><Relationship Type="http://schemas.openxmlformats.org/officeDocument/2006/relationships/notesSlide" Target="/ppt/notesSlides/notesSlide29.xml" Id="Re576ad46c52c422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c389c559764a70" /><Relationship Type="http://schemas.openxmlformats.org/officeDocument/2006/relationships/notesSlide" Target="/ppt/notesSlides/notesSlide30.xml" Id="R9ca498f61683487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9dde6eb87e438c" /><Relationship Type="http://schemas.openxmlformats.org/officeDocument/2006/relationships/notesSlide" Target="/ppt/notesSlides/notesSlide31.xml" Id="R02a81027d95c45c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521dcd966f4173" /><Relationship Type="http://schemas.openxmlformats.org/officeDocument/2006/relationships/notesSlide" Target="/ppt/notesSlides/notesSlide32.xml" Id="R3b1718f21c0b461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64fd8402c54788" /><Relationship Type="http://schemas.openxmlformats.org/officeDocument/2006/relationships/notesSlide" Target="/ppt/notesSlides/notesSlide33.xml" Id="R42d885de198a48f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7c2bf1615f46fd" /><Relationship Type="http://schemas.openxmlformats.org/officeDocument/2006/relationships/notesSlide" Target="/ppt/notesSlides/notesSlide34.xml" Id="R8cd3e7487cb54cc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0cf89e77914c99" /><Relationship Type="http://schemas.openxmlformats.org/officeDocument/2006/relationships/notesSlide" Target="/ppt/notesSlides/notesSlide35.xml" Id="Rc32f54a305dc409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c0bd563f9e4618" /><Relationship Type="http://schemas.openxmlformats.org/officeDocument/2006/relationships/notesSlide" Target="/ppt/notesSlides/notesSlide36.xml" Id="R60a47a337c2d4ee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f087b21a314822" /><Relationship Type="http://schemas.openxmlformats.org/officeDocument/2006/relationships/notesSlide" Target="/ppt/notesSlides/notesSlide37.xml" Id="R9e0f9baf5add4e4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9282c6ea9a422d" /><Relationship Type="http://schemas.openxmlformats.org/officeDocument/2006/relationships/notesSlide" Target="/ppt/notesSlides/notesSlide38.xml" Id="R686ab734ef1547b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3a68d2b3d84144" /><Relationship Type="http://schemas.openxmlformats.org/officeDocument/2006/relationships/notesSlide" Target="/ppt/notesSlides/notesSlide39.xml" Id="R814c355d364b459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a2109b8748491e" /><Relationship Type="http://schemas.openxmlformats.org/officeDocument/2006/relationships/notesSlide" Target="/ppt/notesSlides/notesSlide40.xml" Id="R11b1987134a5463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0148e29c5647e2" /><Relationship Type="http://schemas.openxmlformats.org/officeDocument/2006/relationships/notesSlide" Target="/ppt/notesSlides/notesSlide41.xml" Id="Rbd65d29eecee4c7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6b7d4dbaa34288" /><Relationship Type="http://schemas.openxmlformats.org/officeDocument/2006/relationships/notesSlide" Target="/ppt/notesSlides/notesSlide42.xml" Id="Rbff969ae33b148f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17e5f2940d4f5a" /><Relationship Type="http://schemas.openxmlformats.org/officeDocument/2006/relationships/notesSlide" Target="/ppt/notesSlides/notesSlide43.xml" Id="R784a7e25289e47b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8fef2c98c9407d" /><Relationship Type="http://schemas.openxmlformats.org/officeDocument/2006/relationships/notesSlide" Target="/ppt/notesSlides/notesSlide44.xml" Id="Rb72cf6df30f2457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1d9fe30c6c4161" /><Relationship Type="http://schemas.openxmlformats.org/officeDocument/2006/relationships/notesSlide" Target="/ppt/notesSlides/notesSlide45.xml" Id="R364ea7d96e9a416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e0765b4fa9486c" /><Relationship Type="http://schemas.openxmlformats.org/officeDocument/2006/relationships/notesSlide" Target="/ppt/notesSlides/notesSlide46.xml" Id="Rcad9467a729245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73E7D-6A07-4F0D-8F40-375539AD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恐怖事件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130D1-29C8-457B-933B-536E1557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C4311-610D-4A5E-A533-560815EF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中二高级华文 · 单元四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78B06-9DFD-4E48-9DA9-1BAD16E3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6286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450" b="0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450" b="0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450" b="0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450" b="0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450" b="0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450" b="0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450" b="0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450" b="0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450" b="0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一次误会，</a:t>
            </a:r>
          </a:p>
          <a:p xmlns:a="http://schemas.openxmlformats.org/drawingml/2006/main">
            <a:pPr>
              <a:defRPr sz="3450" b="0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450" b="0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怎样改变了两人的关系？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FA33A-C9AB-45AF-8606-62000C7EE4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969ddda984ff0"/>
          <a:srcRect xmlns:a="http://schemas.openxmlformats.org/drawingml/2006/main" l="781" t="4883" r="50488" b="74023"/>
          <a:stretch xmlns:a="http://schemas.openxmlformats.org/drawingml/2006/main"/>
        </p:blipFill>
        <p:spPr>
          <a:xfrm xmlns:a="http://schemas.openxmlformats.org/drawingml/2006/main">
            <a:off x="7429500" y="1809750"/>
            <a:ext cx="4095750" cy="265936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3953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988DB-C50B-41CA-9493-524751A7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第一、二段：为什么讨厌蒋妍？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105F0-89FB-498F-8147-70DF43DA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8A970-DB67-4906-84CA-745286CF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“我”为什么讨厌蒋妍？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F3E53-0A82-447D-913B-8788EF6F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为什么“坏习惯”要加上引号？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9943E-6E91-4A6C-B920-7E509704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找出晚间、清晨的两种影响。</a:t>
            </a:r>
          </a:p>
        </p:txBody>
      </p:sp>
    </p:spTree>
    <p:extLst>
      <p:ext uri="{BB962C8B-B14F-4D97-AF65-F5344CB8AC3E}">
        <p14:creationId xmlns:p14="http://schemas.microsoft.com/office/powerpoint/2010/main" val="13682378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4941B-EC54-4CEF-B8E2-4258775E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教师示范：行为与影响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C8F1E-E073-460B-B77B-84C22945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1278D-0B01-4913-8870-C1D7F73D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读到十二点，灯光使室友无法入睡。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D5E8D-0477-4841-8C27-949C3489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清晨闹钟又把室友吵醒。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1C9DF-62F3-45F9-97B6-78D353FA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勤奋本身未必是坏习惯；影响室友，才有这种称呼。</a:t>
            </a:r>
          </a:p>
        </p:txBody>
      </p:sp>
    </p:spTree>
    <p:extLst>
      <p:ext uri="{BB962C8B-B14F-4D97-AF65-F5344CB8AC3E}">
        <p14:creationId xmlns:p14="http://schemas.microsoft.com/office/powerpoint/2010/main" val="2569162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5C6B2-FDFD-40FB-BAD9-F20E5A14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第三段：“我”为什么终于发怒？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0A1C1-2FE3-4B68-8FE5-71B3FEC9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1A12B-2A49-44F5-BBE8-3B9B7B01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我们怎样提醒她？“委婉”是什么意思？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7A387-E8D6-4594-A88B-33E9163C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提醒以后，她有没有改变？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6ADFA-313A-4464-8DBF-0C01CBA8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“再次”“忍无可忍”说明了什么？</a:t>
            </a:r>
          </a:p>
        </p:txBody>
      </p:sp>
    </p:spTree>
    <p:extLst>
      <p:ext uri="{BB962C8B-B14F-4D97-AF65-F5344CB8AC3E}">
        <p14:creationId xmlns:p14="http://schemas.microsoft.com/office/powerpoint/2010/main" val="19113956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6EAAF-4553-4093-82CA-48C50807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愤怒逐渐累积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B4341-377F-48B8-8E9C-BAE682BD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0F0B3-59A9-44BF-A18B-B941C93F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委婉：温和含蓄，不生硬责备。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3AC4C-6D04-43C4-8DED-B4116E2A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已经提醒，她却没有改变。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D4670-58C5-4DC6-85E1-76F6BEB2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美梦再次被吵醒，“我”再也忍不住。</a:t>
            </a:r>
          </a:p>
        </p:txBody>
      </p:sp>
    </p:spTree>
    <p:extLst>
      <p:ext uri="{BB962C8B-B14F-4D97-AF65-F5344CB8AC3E}">
        <p14:creationId xmlns:p14="http://schemas.microsoft.com/office/powerpoint/2010/main" val="10902549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14C65-1F77-41DB-9A2B-E7143636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第四段：不敢反驳等于服气吗？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9B1E3-CCCC-4E57-83E0-DD6C890A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0AD97-3F2F-4EF2-9E76-D813D4DD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“我——”蒋妍看着我怒气冲冲的样子，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3EA6B-746C-40EA-9CD2-5C2B4D7D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一句话也不敢反驳。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937AA-0B70-4030-A44F-B1D38E3D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这能确定她已经服气了吗？</a:t>
            </a:r>
          </a:p>
        </p:txBody>
      </p:sp>
    </p:spTree>
    <p:extLst>
      <p:ext uri="{BB962C8B-B14F-4D97-AF65-F5344CB8AC3E}">
        <p14:creationId xmlns:p14="http://schemas.microsoft.com/office/powerpoint/2010/main" val="1058760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BD5F6-8383-4D76-AE8D-4AEB8533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确定的反应与未确定的内心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1C8CF-06F6-46F8-8724-5522570A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8821F-7205-4410-B934-7C1CC424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000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确定：她不敢反驳，</a:t>
            </a:r>
          </a:p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没有把话说完。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不能据此确定已服气，</a:t>
            </a:r>
          </a:p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也不能断定她心里委屈。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CE9F3-BC16-4913-B875-EB181062EE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a07f76302450b"/>
          <a:srcRect xmlns:a="http://schemas.openxmlformats.org/drawingml/2006/main" l="50586" t="72917" r="684" b="391"/>
          <a:stretch xmlns:a="http://schemas.openxmlformats.org/drawingml/2006/main"/>
        </p:blipFill>
        <p:spPr>
          <a:xfrm xmlns:a="http://schemas.openxmlformats.org/drawingml/2006/main">
            <a:off x="7429500" y="1809750"/>
            <a:ext cx="4095750" cy="336524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62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0A994-0A7F-4F2C-AE79-7CB6BE89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第五段：两人关系怎样变化？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13FAC-7526-4E8E-9A04-FE5D7584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EE425-3599-4A7C-BE46-5BF0F028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从哪里可以看出两人成了“冤家”？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328DA-9EF0-4383-9516-77766AA1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“抬头不见低头见”是什么意思？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A4D1D-2A6B-4262-989B-0783809E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经常见面，却不搭理对方，感觉怎样？</a:t>
            </a:r>
          </a:p>
        </p:txBody>
      </p:sp>
    </p:spTree>
    <p:extLst>
      <p:ext uri="{BB962C8B-B14F-4D97-AF65-F5344CB8AC3E}">
        <p14:creationId xmlns:p14="http://schemas.microsoft.com/office/powerpoint/2010/main" val="19248977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EAC2E-06F3-41F5-9A1C-4DD50CA1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有相处机会，却缺少交流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57E1B-BC2A-4CBD-984D-A731CCB9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D03F0-0163-44C7-8C2D-13D7C2A1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原本没有什么交流。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233F5-E501-48D0-8CF3-0C8B60C6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后来谁也不搭理谁，各走各的路。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C9C45-9FD7-4379-A7B8-4301445D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经常见面却互不理睬，相处十分尴尬。</a:t>
            </a:r>
          </a:p>
        </p:txBody>
      </p:sp>
    </p:spTree>
    <p:extLst>
      <p:ext uri="{BB962C8B-B14F-4D97-AF65-F5344CB8AC3E}">
        <p14:creationId xmlns:p14="http://schemas.microsoft.com/office/powerpoint/2010/main" val="8978397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2EA37-554F-49E9-A90A-B3B0328F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第六段：先理解夸张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9F2C7-DEAB-446B-BF98-EF6DD626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08827-408A-44E3-910B-61B772AB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夸张：有意把程度说得特别强烈。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D30C0-F7E5-43DE-B89C-A5D35733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“等了半天”有时夸大等待之久。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C5194-D638-4DAE-A18B-12CEF23E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判断写法要看语境，不能只认一个词。</a:t>
            </a:r>
          </a:p>
        </p:txBody>
      </p:sp>
    </p:spTree>
    <p:extLst>
      <p:ext uri="{BB962C8B-B14F-4D97-AF65-F5344CB8AC3E}">
        <p14:creationId xmlns:p14="http://schemas.microsoft.com/office/powerpoint/2010/main" val="550286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455F2-4F2C-4EF5-9CFC-3FAA71D0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第六段：第3句有什么作用？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11938-AEF9-416D-88E0-98FD0B77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D1D44-4E6D-4B9F-A64A-6162DE68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“宿舍中的空气仿佛凝固起来，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5EFD1-870C-4D46-B2D7-4DE70826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房间里安静得可以听到彼此心跳的声音。”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8FF81-D14A-4876-AC8B-D5E2A90E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用了什么修辞手法？有什么作用？</a:t>
            </a:r>
          </a:p>
        </p:txBody>
      </p:sp>
    </p:spTree>
    <p:extLst>
      <p:ext uri="{BB962C8B-B14F-4D97-AF65-F5344CB8AC3E}">
        <p14:creationId xmlns:p14="http://schemas.microsoft.com/office/powerpoint/2010/main" val="14987089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CF733-E164-42FB-9CFF-60D5D933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写法、气氛与关系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7487F-B2A7-44BD-A5D0-36621A06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8DBD3-273D-425F-B460-25277F7C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夸张：凝固的空气，可听见的心跳。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B282F-9F39-45E2-AE21-180C3E8F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突出宿舍气氛凝重、房间十分安静。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A4F8F-6BCD-4926-99C2-2D157506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烘托两人互不搭理造成的尴尬。</a:t>
            </a:r>
          </a:p>
        </p:txBody>
      </p:sp>
    </p:spTree>
    <p:extLst>
      <p:ext uri="{BB962C8B-B14F-4D97-AF65-F5344CB8AC3E}">
        <p14:creationId xmlns:p14="http://schemas.microsoft.com/office/powerpoint/2010/main" val="5461834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82B76-0907-42E3-A373-47F47516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第六段：能否改成“打开”？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2484F-39B2-497C-9F5C-38E8249B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A65BC-5C9B-4B6C-9CAD-77938089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原句：“门缓缓裂开一条缝……”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9530E-93F4-41C7-9140-A5A36DDC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改句：“门打开……”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2C584-8C48-4B5D-BF7C-AD8932A8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哪一种让你看清开门的过程？为什么？</a:t>
            </a:r>
          </a:p>
        </p:txBody>
      </p:sp>
    </p:spTree>
    <p:extLst>
      <p:ext uri="{BB962C8B-B14F-4D97-AF65-F5344CB8AC3E}">
        <p14:creationId xmlns:p14="http://schemas.microsoft.com/office/powerpoint/2010/main" val="21408775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63500-8A5F-4FF9-9F67-82DBC54E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窄缝慢慢出现，紧张感加强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BA740-4E32-49B2-9306-12C4A7FA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C8DCC-5E0B-49C2-9B9A-353EBF37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0007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“缓缓”“一条缝”</a:t>
            </a:r>
          </a:p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呈现慢慢开门的过程。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动作更具体，</a:t>
            </a:r>
          </a:p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画面更紧张。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7AA11-596C-4CBB-A5D5-2DF2344A78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92ba3081a4db0"/>
          <a:srcRect xmlns:a="http://schemas.openxmlformats.org/drawingml/2006/main" l="781" t="72917" r="50488" b="391"/>
          <a:stretch xmlns:a="http://schemas.openxmlformats.org/drawingml/2006/main"/>
        </p:blipFill>
        <p:spPr>
          <a:xfrm xmlns:a="http://schemas.openxmlformats.org/drawingml/2006/main">
            <a:off x="7429500" y="1809750"/>
            <a:ext cx="4095750" cy="336524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6851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E1005-6B18-4D81-BD71-8A628392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第九段：从眼神找证据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673CE-458B-4151-B91D-899229F6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9AF64-3C80-40DF-A2E9-538EA3F8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从哪里可以看出“我”和蒋妍很恐惧？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CE456-CDEF-4520-BDF3-30EDF435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先只找第9段。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8E464-48AC-48F5-A70B-E739FB60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第8段的古怪笑容，能证明来者是鬼吗？</a:t>
            </a:r>
          </a:p>
        </p:txBody>
      </p:sp>
    </p:spTree>
    <p:extLst>
      <p:ext uri="{BB962C8B-B14F-4D97-AF65-F5344CB8AC3E}">
        <p14:creationId xmlns:p14="http://schemas.microsoft.com/office/powerpoint/2010/main" val="1357020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55B7C-EFD8-46A7-A706-C6E946A0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两人都流露恐惧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0C596-5DF5-4B65-B674-0BC13220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72AE8-3A08-49B6-AB43-77D89951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“在彼此的眼睛里都看到了恐惧。”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9E9F3-335A-4541-9A04-37790E55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“彼此”“都”：两人同样害怕。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D2C88-0B93-48A7-879C-69C0EB17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古怪是当时的感受，来者身份尚未揭明。</a:t>
            </a:r>
          </a:p>
        </p:txBody>
      </p:sp>
    </p:spTree>
    <p:extLst>
      <p:ext uri="{BB962C8B-B14F-4D97-AF65-F5344CB8AC3E}">
        <p14:creationId xmlns:p14="http://schemas.microsoft.com/office/powerpoint/2010/main" val="13696165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46DAB-6836-4A44-8BBF-A5DB5BB9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第十段：动作怎样表现恐惧？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71FB2-A367-4049-AD61-9E498DAB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CD0A1-8295-4DBD-A5B1-401CB3C7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继续找原句：怎样开门、查看、回床？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D2697-2275-4845-9695-6EFD1E80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可连续加入查看和回床的两句证据。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C81D7-37A2-4275-BB39-EA09821D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“熄灯”是什么意思？</a:t>
            </a:r>
          </a:p>
        </p:txBody>
      </p:sp>
    </p:spTree>
    <p:extLst>
      <p:ext uri="{BB962C8B-B14F-4D97-AF65-F5344CB8AC3E}">
        <p14:creationId xmlns:p14="http://schemas.microsoft.com/office/powerpoint/2010/main" val="9777401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0660E-682E-4C8C-A60E-4A9C7F37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敢查看，仍然会害怕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3938F-0BE3-4111-9ACC-B10C70BC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DA481-5001-470F-B7DB-A10035E3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“鼓起勇气”“小心”：勉强克服害怕。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403E7-F357-4C7C-8AFF-E6F39C1C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“锁上门”“赶紧熄灯上床”：急切回避。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6503A-F973-4E5A-9A84-678F6D7C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熄灯：把灯关掉，使灯不亮。</a:t>
            </a:r>
          </a:p>
        </p:txBody>
      </p:sp>
    </p:spTree>
    <p:extLst>
      <p:ext uri="{BB962C8B-B14F-4D97-AF65-F5344CB8AC3E}">
        <p14:creationId xmlns:p14="http://schemas.microsoft.com/office/powerpoint/2010/main" val="133659168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C84D4-4F22-4BE7-A735-0C0A14A2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第二课：第十一、十二段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814DF-6F98-452B-A43B-62221623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7998B-8229-45CC-BA83-FE646B34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蒋妍主动问：“你看见了吗？”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C4C5C-FFFD-4487-BEAA-03941A7B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“我”怎样回答？声音有什么变化？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38153-8716-478A-B89C-1F5B24CA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“好可怕啊！”表达什么情感？</a:t>
            </a:r>
          </a:p>
        </p:txBody>
      </p:sp>
    </p:spTree>
    <p:extLst>
      <p:ext uri="{BB962C8B-B14F-4D97-AF65-F5344CB8AC3E}">
        <p14:creationId xmlns:p14="http://schemas.microsoft.com/office/powerpoint/2010/main" val="15470836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67E6C-FB42-457E-87A1-3D96E1A8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感叹句与声音一起表现恐惧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38FB2-683C-403B-849F-0F7E58D4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A30D0-1A0C-4A56-803B-04B8B189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感叹句表达较强烈的情感。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F49B2-ABE8-44B2-B9E6-70AD64B8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“好可怕啊！”直接说出害怕。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C0C25-20ED-40CF-A119-27639C22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“我的声音有些颤抖”使恐惧更具体。</a:t>
            </a:r>
          </a:p>
        </p:txBody>
      </p:sp>
    </p:spTree>
    <p:extLst>
      <p:ext uri="{BB962C8B-B14F-4D97-AF65-F5344CB8AC3E}">
        <p14:creationId xmlns:p14="http://schemas.microsoft.com/office/powerpoint/2010/main" val="92819053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B5815-8E04-4274-957E-44B5279D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第十三段：怎样看出蒋妍害怕？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6ED72-A5CE-4623-A91E-6671BBC4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0EF7A-D201-40B3-8A5F-D1F1ECE1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找被子里蒋妍的具体反应。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C0E8A-8050-4E99-903E-E2A02239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“蜷缩”“瑟瑟发抖”写出了什么？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A913C-265A-4998-9ED4-9E38EBCE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“奇异；奇特”对应文中哪个词？</a:t>
            </a:r>
          </a:p>
        </p:txBody>
      </p:sp>
    </p:spTree>
    <p:extLst>
      <p:ext uri="{BB962C8B-B14F-4D97-AF65-F5344CB8AC3E}">
        <p14:creationId xmlns:p14="http://schemas.microsoft.com/office/powerpoint/2010/main" val="17645616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36367-9FDF-4070-93FF-3A008A65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动作让害怕看得见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48AC4-C1CF-43CE-8281-9280AC8B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D2133-3841-448D-973C-6CB998E7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“蜷缩在被子里瑟瑟发抖”。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79F9A-2295-4F00-BC95-1C6C146C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结合刚才的经历，反映她心中恐惧。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FF260-7EB4-4B66-B0AE-BAA0FB0F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“诡异”：奇异、奇特，让人感到不寻常。</a:t>
            </a:r>
          </a:p>
        </p:txBody>
      </p:sp>
    </p:spTree>
    <p:extLst>
      <p:ext uri="{BB962C8B-B14F-4D97-AF65-F5344CB8AC3E}">
        <p14:creationId xmlns:p14="http://schemas.microsoft.com/office/powerpoint/2010/main" val="116364856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EC30F-29BD-4E7D-A44E-56C35EC0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第十四至十六段：“也”告诉我们什么？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122AB-6ABD-4B6D-BA58-849E0CB0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8651F-5F13-4332-A895-15F0D3B8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蒋妍说自己喜欢看鬼故事。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D7E7E-B074-4BB5-81CD-0572BBA2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“我”问：“你也喜欢读鬼故事？”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EEC35-3B44-4E7D-9231-2B25A92A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这个“也”多说明了谁的爱好？</a:t>
            </a:r>
          </a:p>
        </p:txBody>
      </p:sp>
    </p:spTree>
    <p:extLst>
      <p:ext uri="{BB962C8B-B14F-4D97-AF65-F5344CB8AC3E}">
        <p14:creationId xmlns:p14="http://schemas.microsoft.com/office/powerpoint/2010/main" val="54629916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E569F-C6FB-42B3-BA5C-2ECCD642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共同话题使交流继续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C22C5-24BF-4D2E-AB55-E7BE1648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46F48-945C-4BC3-91F1-3B3B729B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“我”也喜欢读鬼故事。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2E67F-348F-4FEE-BC86-8D49D1BD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两人发现共同爱好，逐渐有话可说。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37605-F717-4CC8-83DA-44D97BE1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“恐怖”：令人害怕。此时还没有查明真相。</a:t>
            </a:r>
          </a:p>
        </p:txBody>
      </p:sp>
    </p:spTree>
    <p:extLst>
      <p:ext uri="{BB962C8B-B14F-4D97-AF65-F5344CB8AC3E}">
        <p14:creationId xmlns:p14="http://schemas.microsoft.com/office/powerpoint/2010/main" val="129709192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9C692-436A-4C5E-993F-AA98ECFA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第十七段：“讨厌鬼”为什么不见了？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38C99-67A0-48ED-A5FA-3E58F396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1466E-A986-434C-9DEA-B13328F3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“我”心中的“讨厌鬼”是谁？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B89F5-B01B-4C06-85AA-C1506041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为什么这个“讨厌鬼”最后不见了？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26CA2-9F16-4A8B-9212-1B19D129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“通宵”是什么意思？</a:t>
            </a:r>
          </a:p>
        </p:txBody>
      </p:sp>
    </p:spTree>
    <p:extLst>
      <p:ext uri="{BB962C8B-B14F-4D97-AF65-F5344CB8AC3E}">
        <p14:creationId xmlns:p14="http://schemas.microsoft.com/office/powerpoint/2010/main" val="66327771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D0CF6-32C8-4E7E-84F6-D931C202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交流改变了“我”的看法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3D27B-9E7A-4734-AC56-895D76BD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85209-0263-4917-B37F-09731973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“讨厌鬼”指原先令“我”讨厌的蒋妍。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EF0A5-010F-4A88-BE40-B8C2216A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聊了一夜，发现共同点；蒋妍也道了歉。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8D2B0-63FB-4544-9776-CC053A2F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“我”不再讨厌她，并主动把小说借给她。</a:t>
            </a:r>
          </a:p>
        </p:txBody>
      </p:sp>
    </p:spTree>
    <p:extLst>
      <p:ext uri="{BB962C8B-B14F-4D97-AF65-F5344CB8AC3E}">
        <p14:creationId xmlns:p14="http://schemas.microsoft.com/office/powerpoint/2010/main" val="180728217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31C1C-6857-44CD-834A-C8C43EAB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第十八段：真相为什么写得简略？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D1F74-17AF-4161-8849-EB7806DC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38299-A46B-46ED-8E51-B7F598F5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闹鬼的真相是什么？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EDAD2-B0E1-4B04-914B-507CBB0E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为什么这个部分写得很简略？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DE0AC-F137-4A99-B641-E54DBCBA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作者把较多篇幅留给了什么变化？</a:t>
            </a:r>
          </a:p>
        </p:txBody>
      </p:sp>
    </p:spTree>
    <p:extLst>
      <p:ext uri="{BB962C8B-B14F-4D97-AF65-F5344CB8AC3E}">
        <p14:creationId xmlns:p14="http://schemas.microsoft.com/office/powerpoint/2010/main" val="146338283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4FD97-2427-404A-945D-FEB91D5A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补全误会，把重点留给关系变化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F888D-6BEB-4D5D-B038-97CEBACE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BE68F-DD93-4CDD-AE59-B705C15B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来者是楼上的新同学，走错了宿舍。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8CA96-C8EF-47EA-8822-CB935970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真相补充事情的完整性。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0E21D-30E0-48E5-BA64-8F19BA58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文章重点在交流怎样改善关系，因此略写。</a:t>
            </a:r>
          </a:p>
        </p:txBody>
      </p:sp>
    </p:spTree>
    <p:extLst>
      <p:ext uri="{BB962C8B-B14F-4D97-AF65-F5344CB8AC3E}">
        <p14:creationId xmlns:p14="http://schemas.microsoft.com/office/powerpoint/2010/main" val="9225176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7371F-54E5-4E3C-B8AE-4DDBB000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第十八段：“惊悚而美丽”怎样理解？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B609A-A536-4F3A-B859-1017B889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D59E9-3453-47AC-9535-80C11ECB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作者为什么说新同学走错宿舍是一个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2ABF0-3DE4-4007-875B-25413A4B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“惊悚而美丽的误会”？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46DCC-58A2-49E7-A75B-EB46B4A4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225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分别解释两个词指什么，再联系起来。</a:t>
            </a:r>
          </a:p>
        </p:txBody>
      </p:sp>
    </p:spTree>
    <p:extLst>
      <p:ext uri="{BB962C8B-B14F-4D97-AF65-F5344CB8AC3E}">
        <p14:creationId xmlns:p14="http://schemas.microsoft.com/office/powerpoint/2010/main" val="65704753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30313-5664-42AE-A8BF-74973696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过程吓人，结果美好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76C51-78E5-4502-99D6-53C3A208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2E651-8551-42C5-8F29-6855DB1E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惊悚：误把女生当鬼，两人感到恐惧。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78142-1C5F-4449-A48F-5FAC3DD8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美丽：误会促成交流，消除隔阂。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924A6-E502-459D-9655-371936AB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两人的关系改善，所以结果令人欣喜。</a:t>
            </a:r>
          </a:p>
        </p:txBody>
      </p:sp>
    </p:spTree>
    <p:extLst>
      <p:ext uri="{BB962C8B-B14F-4D97-AF65-F5344CB8AC3E}">
        <p14:creationId xmlns:p14="http://schemas.microsoft.com/office/powerpoint/2010/main" val="85630390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C0EDA-6C36-4A1E-8B47-B586FAA6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第十九段：抒情句与议论句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D3EDC-502C-4F71-A7E0-9A3A0147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9B932-2D7F-4935-ACB4-45CF0E77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抒情句：直接表达对人或事的情感。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45EE8-D68E-4CEC-AFAE-1611CAA9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议论句：对事情提出看法或道理。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5FF08-003B-4DF8-992C-4C7D4596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感叹号可作线索，仍要判断句子的内容。</a:t>
            </a:r>
          </a:p>
        </p:txBody>
      </p:sp>
    </p:spTree>
    <p:extLst>
      <p:ext uri="{BB962C8B-B14F-4D97-AF65-F5344CB8AC3E}">
        <p14:creationId xmlns:p14="http://schemas.microsoft.com/office/powerpoint/2010/main" val="127265555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683F6-26F1-4E4C-839E-4E995AB5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关键句怎样帮助理解主题？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11100-5471-43AC-ABE3-40DFF1B4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19116-0BB8-4C28-A655-E4A2E9BD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找出抒情句与议论句。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C98C2-A3E2-4723-A0F4-AA346B6C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议论句可连续加入两句，保留完整意思。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7972D-F816-4881-9864-8A34B45F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结合“我”和蒋妍的关系变化，概括主题。</a:t>
            </a:r>
          </a:p>
        </p:txBody>
      </p:sp>
    </p:spTree>
    <p:extLst>
      <p:ext uri="{BB962C8B-B14F-4D97-AF65-F5344CB8AC3E}">
        <p14:creationId xmlns:p14="http://schemas.microsoft.com/office/powerpoint/2010/main" val="209893479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25683-9CE3-46AB-B63D-C40BEE78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抒情句：对误会的感慨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BD260-816C-4060-8C07-8EDB2FBB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4BCE7-AE37-4459-8A57-52598D5F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“多么惊悚而美丽的误会啊！”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F9C9E-3F3E-4914-AE94-6D02EBC2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两人虽然受惊，却因此增进了解。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0583B-1BB5-469E-A2ED-926EB49D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这份欣喜，与关系变好的结果相连。</a:t>
            </a:r>
          </a:p>
        </p:txBody>
      </p:sp>
    </p:spTree>
    <p:extLst>
      <p:ext uri="{BB962C8B-B14F-4D97-AF65-F5344CB8AC3E}">
        <p14:creationId xmlns:p14="http://schemas.microsoft.com/office/powerpoint/2010/main" val="88212480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B26BF-CDF5-49EE-8428-4260A3D0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议论句：由故事说出道理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7DFBA-9CF4-4B9F-8075-BBD03123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7275A-30D2-495B-8DD2-135EAFC5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“其实，人与人相处，总会出现这样那样的问题。”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6B261-D7EE-4850-9AFB-87B8B671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“很多时候，只要多点交流，就可以解决这些问题，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8721C-5A40-427C-A10C-7B8FFC5D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人们之间的关系也会变得更和谐。”</a:t>
            </a:r>
          </a:p>
        </p:txBody>
      </p:sp>
    </p:spTree>
    <p:extLst>
      <p:ext uri="{BB962C8B-B14F-4D97-AF65-F5344CB8AC3E}">
        <p14:creationId xmlns:p14="http://schemas.microsoft.com/office/powerpoint/2010/main" val="17178074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81B61-4DF2-4EA9-9034-2660FF1B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主题须和故事内容相连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E3ED1-B8A3-48CA-B3BF-D978B56F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73B0A-2415-4A11-94A5-EEF329CF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人与人相处需要多交流，增进了解。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F2241-EEC5-449D-B94A-FCB82929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文中两人原本互不搭理，交流后关系改善。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26F24-C631-4969-A2F9-AEDFBD0E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75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故事说明：交流有助于化解隔阂，使相处和谐。</a:t>
            </a:r>
          </a:p>
        </p:txBody>
      </p:sp>
    </p:spTree>
    <p:extLst>
      <p:ext uri="{BB962C8B-B14F-4D97-AF65-F5344CB8AC3E}">
        <p14:creationId xmlns:p14="http://schemas.microsoft.com/office/powerpoint/2010/main" val="5389273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33A92-C743-42DC-A700-9F5C9A1D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第三课：内容与关系的变化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7B7DD-3B22-4ABB-AD22-0DE4C86C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BD1DD-4C50-42D4-A2F7-F5E05C11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先按课本表格回想四个阶段。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68B56-367F-4D2B-AB78-93384144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每个阶段发生什么？两人的关系怎样？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4CB74-3341-4BFD-BB84-7DFD65E3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完整读完后，再把全篇联系起来。</a:t>
            </a:r>
          </a:p>
        </p:txBody>
      </p:sp>
    </p:spTree>
    <p:extLst>
      <p:ext uri="{BB962C8B-B14F-4D97-AF65-F5344CB8AC3E}">
        <p14:creationId xmlns:p14="http://schemas.microsoft.com/office/powerpoint/2010/main" val="2146024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2420F-D10E-40FD-9A83-7D023BE4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先有作息冲突，后来互不搭理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BF132-D5A2-4701-B729-F51E662A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62689-7467-4E25-B59F-B16474831741}"/>
              </a:ext>
            </a:extLst>
          </p:cNvPr>
          <p:cNvGraphicFramePr/>
          <p:nvPr/>
        </p:nvGraphicFramePr>
        <p:xfrm>
          <a:off xmlns:a="http://schemas.openxmlformats.org/drawingml/2006/main" x="685800" y="1666875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15125"/>
                <a:gridCol w="4105275"/>
              </a:tblGrid>
              <a:tr h="1301750"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245E51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主要内容</a:t>
                      </a:r>
                    </a:p>
                  </a:txBody>
                  <a:tcPr marL="190500" marR="152400" marT="152400" marB="152400" anchor="ctr">
                    <a:lnL w="9525">
                      <a:solidFill>
                        <a:srgbClr val="D5DDD8"/>
                      </a:solidFill>
                      <a:prstDash val="solid"/>
                    </a:lnL>
                    <a:lnR w="9525">
                      <a:solidFill>
                        <a:srgbClr val="D5DDD8"/>
                      </a:solidFill>
                      <a:prstDash val="solid"/>
                    </a:lnR>
                    <a:lnT w="9525">
                      <a:solidFill>
                        <a:srgbClr val="D5DDD8"/>
                      </a:solidFill>
                      <a:prstDash val="solid"/>
                    </a:lnT>
                    <a:lnB w="9525">
                      <a:solidFill>
                        <a:srgbClr val="D5DDD8"/>
                      </a:solidFill>
                      <a:prstDash val="solid"/>
                    </a:lnB>
                    <a:solidFill>
                      <a:srgbClr val="E6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245E51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关系变化</a:t>
                      </a:r>
                    </a:p>
                  </a:txBody>
                  <a:tcPr marL="190500" marR="152400" marT="152400" marB="152400" anchor="ctr">
                    <a:lnR w="9525">
                      <a:solidFill>
                        <a:srgbClr val="D5DDD8"/>
                      </a:solidFill>
                      <a:prstDash val="solid"/>
                    </a:lnR>
                    <a:lnT w="9525">
                      <a:solidFill>
                        <a:srgbClr val="D5DDD8"/>
                      </a:solidFill>
                      <a:prstDash val="solid"/>
                    </a:lnT>
                    <a:lnB w="9525">
                      <a:solidFill>
                        <a:srgbClr val="D5DDD8"/>
                      </a:solidFill>
                      <a:prstDash val="solid"/>
                    </a:lnB>
                    <a:solidFill>
                      <a:srgbClr val="E6EEE8"/>
                    </a:solidFill>
                  </a:tcPr>
                </a:tc>
              </a:tr>
              <a:tr h="13017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43D37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晚睡早起，影响室友休息</a:t>
                      </a:r>
                    </a:p>
                  </a:txBody>
                  <a:tcPr marL="190500" marR="152400" marT="152400" marB="152400" anchor="ctr">
                    <a:lnL w="9525">
                      <a:solidFill>
                        <a:srgbClr val="D5DDD8"/>
                      </a:solidFill>
                      <a:prstDash val="solid"/>
                    </a:lnL>
                    <a:lnR w="9525">
                      <a:solidFill>
                        <a:srgbClr val="D5DDD8"/>
                      </a:solidFill>
                      <a:prstDash val="solid"/>
                    </a:lnR>
                    <a:lnB w="9525">
                      <a:solidFill>
                        <a:srgbClr val="D5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43D37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“我”讨厌蒋妍</a:t>
                      </a:r>
                    </a:p>
                  </a:txBody>
                  <a:tcPr marL="190500" marR="152400" marT="152400" marB="152400" anchor="ctr">
                    <a:lnR w="9525">
                      <a:solidFill>
                        <a:srgbClr val="D5DDD8"/>
                      </a:solidFill>
                      <a:prstDash val="solid"/>
                    </a:lnR>
                    <a:lnB w="9525">
                      <a:solidFill>
                        <a:srgbClr val="D5DDD8"/>
                      </a:solidFill>
                      <a:prstDash val="solid"/>
                    </a:lnB>
                  </a:tcPr>
                </a:tc>
              </a:tr>
              <a:tr h="13017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43D37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提醒无效，“我”忍不住吼起来</a:t>
                      </a:r>
                    </a:p>
                  </a:txBody>
                  <a:tcPr marL="190500" marR="152400" marT="152400" marB="152400" anchor="ctr">
                    <a:lnL w="9525">
                      <a:solidFill>
                        <a:srgbClr val="D5DDD8"/>
                      </a:solidFill>
                      <a:prstDash val="solid"/>
                    </a:lnL>
                    <a:lnR w="9525">
                      <a:solidFill>
                        <a:srgbClr val="D5DDD8"/>
                      </a:solidFill>
                      <a:prstDash val="solid"/>
                    </a:lnR>
                    <a:lnB w="9525">
                      <a:solidFill>
                        <a:srgbClr val="D5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43D37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两人成了“冤家”</a:t>
                      </a:r>
                    </a:p>
                  </a:txBody>
                  <a:tcPr marL="190500" marR="152400" marT="152400" marB="152400" anchor="ctr">
                    <a:lnR w="9525">
                      <a:solidFill>
                        <a:srgbClr val="D5DDD8"/>
                      </a:solidFill>
                      <a:prstDash val="solid"/>
                    </a:lnR>
                    <a:lnB w="9525">
                      <a:solidFill>
                        <a:srgbClr val="D5DDD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72286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B23FC-35B8-4BBE-BB84-6D059C79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交流带来了解，关系逐渐改善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20E59-C747-4EAC-8CCE-D7155ED9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46125-A02C-4B4B-B442-E71E154A988D}"/>
              </a:ext>
            </a:extLst>
          </p:cNvPr>
          <p:cNvGraphicFramePr/>
          <p:nvPr/>
        </p:nvGraphicFramePr>
        <p:xfrm>
          <a:off xmlns:a="http://schemas.openxmlformats.org/drawingml/2006/main" x="685800" y="1666875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15125"/>
                <a:gridCol w="4105275"/>
              </a:tblGrid>
              <a:tr h="1301750"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245E51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主要内容</a:t>
                      </a:r>
                    </a:p>
                  </a:txBody>
                  <a:tcPr marL="190500" marR="152400" marT="152400" marB="152400" anchor="ctr">
                    <a:lnL w="9525">
                      <a:solidFill>
                        <a:srgbClr val="D5DDD8"/>
                      </a:solidFill>
                      <a:prstDash val="solid"/>
                    </a:lnL>
                    <a:lnR w="9525">
                      <a:solidFill>
                        <a:srgbClr val="D5DDD8"/>
                      </a:solidFill>
                      <a:prstDash val="solid"/>
                    </a:lnR>
                    <a:lnT w="9525">
                      <a:solidFill>
                        <a:srgbClr val="D5DDD8"/>
                      </a:solidFill>
                      <a:prstDash val="solid"/>
                    </a:lnT>
                    <a:lnB w="9525">
                      <a:solidFill>
                        <a:srgbClr val="D5DDD8"/>
                      </a:solidFill>
                      <a:prstDash val="solid"/>
                    </a:lnB>
                    <a:solidFill>
                      <a:srgbClr val="E6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245E51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关系变化</a:t>
                      </a:r>
                    </a:p>
                  </a:txBody>
                  <a:tcPr marL="190500" marR="152400" marT="152400" marB="152400" anchor="ctr">
                    <a:lnR w="9525">
                      <a:solidFill>
                        <a:srgbClr val="D5DDD8"/>
                      </a:solidFill>
                      <a:prstDash val="solid"/>
                    </a:lnR>
                    <a:lnT w="9525">
                      <a:solidFill>
                        <a:srgbClr val="D5DDD8"/>
                      </a:solidFill>
                      <a:prstDash val="solid"/>
                    </a:lnT>
                    <a:lnB w="9525">
                      <a:solidFill>
                        <a:srgbClr val="D5DDD8"/>
                      </a:solidFill>
                      <a:prstDash val="solid"/>
                    </a:lnB>
                    <a:solidFill>
                      <a:srgbClr val="E6EEE8"/>
                    </a:solidFill>
                  </a:tcPr>
                </a:tc>
              </a:tr>
              <a:tr h="13017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43D37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发生误会，两人聊了一夜</a:t>
                      </a:r>
                    </a:p>
                  </a:txBody>
                  <a:tcPr marL="190500" marR="152400" marT="152400" marB="152400" anchor="ctr">
                    <a:lnL w="9525">
                      <a:solidFill>
                        <a:srgbClr val="D5DDD8"/>
                      </a:solidFill>
                      <a:prstDash val="solid"/>
                    </a:lnL>
                    <a:lnR w="9525">
                      <a:solidFill>
                        <a:srgbClr val="D5DDD8"/>
                      </a:solidFill>
                      <a:prstDash val="solid"/>
                    </a:lnR>
                    <a:lnB w="9525">
                      <a:solidFill>
                        <a:srgbClr val="D5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43D37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发现共同点，蒋妍道歉</a:t>
                      </a:r>
                    </a:p>
                  </a:txBody>
                  <a:tcPr marL="190500" marR="152400" marT="152400" marB="152400" anchor="ctr">
                    <a:lnR w="9525">
                      <a:solidFill>
                        <a:srgbClr val="D5DDD8"/>
                      </a:solidFill>
                      <a:prstDash val="solid"/>
                    </a:lnR>
                    <a:lnB w="9525">
                      <a:solidFill>
                        <a:srgbClr val="D5DDD8"/>
                      </a:solidFill>
                      <a:prstDash val="solid"/>
                    </a:lnB>
                  </a:tcPr>
                </a:tc>
              </a:tr>
              <a:tr h="13017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43D37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“我”把恐怖小说借给蒋妍</a:t>
                      </a:r>
                    </a:p>
                  </a:txBody>
                  <a:tcPr marL="190500" marR="152400" marT="152400" marB="152400" anchor="ctr">
                    <a:lnL w="9525">
                      <a:solidFill>
                        <a:srgbClr val="D5DDD8"/>
                      </a:solidFill>
                      <a:prstDash val="solid"/>
                    </a:lnL>
                    <a:lnR w="9525">
                      <a:solidFill>
                        <a:srgbClr val="D5DDD8"/>
                      </a:solidFill>
                      <a:prstDash val="solid"/>
                    </a:lnR>
                    <a:lnB w="9525">
                      <a:solidFill>
                        <a:srgbClr val="D5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43D37"/>
                          </a:solidFill>
                          <a:latin typeface="LXGW WenKai TC"/>
                          <a:ea typeface="LXGW WenKai TC"/>
                          <a:cs typeface="LXGW WenKai TC"/>
                        </a:rPr>
                        <a:t>不再讨厌她，成为朋友</a:t>
                      </a:r>
                    </a:p>
                  </a:txBody>
                  <a:tcPr marL="190500" marR="152400" marT="152400" marB="152400" anchor="ctr">
                    <a:lnR w="9525">
                      <a:solidFill>
                        <a:srgbClr val="D5DDD8"/>
                      </a:solidFill>
                      <a:prstDash val="solid"/>
                    </a:lnR>
                    <a:lnB w="9525">
                      <a:solidFill>
                        <a:srgbClr val="D5DDD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845349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8CAB8-F316-46EA-BC8B-1F0C8200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感叹句：先比较语气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B948B-E88B-482D-8A5C-7CC1C3C4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CE4DD-A9AF-43F8-9F66-01B79DA6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“这里的景色很美丽。”平实陈述。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02CEB-E4ED-40A5-B54E-F40D3373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“这里的景色多么美丽啊！”强烈赞叹。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F1458-4339-4788-B762-DEEDD58E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15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感叹句也可表达愤怒、恐惧等情感。</a:t>
            </a:r>
          </a:p>
        </p:txBody>
      </p:sp>
    </p:spTree>
    <p:extLst>
      <p:ext uri="{BB962C8B-B14F-4D97-AF65-F5344CB8AC3E}">
        <p14:creationId xmlns:p14="http://schemas.microsoft.com/office/powerpoint/2010/main" val="149316806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7A273-84A0-49B5-BF26-A266B63B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按提示改写成感叹句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57E5B-E1A3-463F-AAC5-DE7C206F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E3876-874C-4409-8DF1-5618AD17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1. 你这么做很过分。（真）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181D2-1742-429E-80DC-005B7A62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2. 这店里的东西很便宜。（好）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71720-A0F7-42E0-AD0C-7DCE209E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3. 这里的景色很美丽。（多么）</a:t>
            </a:r>
          </a:p>
        </p:txBody>
      </p:sp>
    </p:spTree>
    <p:extLst>
      <p:ext uri="{BB962C8B-B14F-4D97-AF65-F5344CB8AC3E}">
        <p14:creationId xmlns:p14="http://schemas.microsoft.com/office/powerpoint/2010/main" val="7716048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933B8-FB26-4866-9C41-8270580A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感叹句参考答案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AD290-72D3-4F54-8EA3-DBE1B14E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DA068-EAA5-4124-B821-177924A9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1. 你这么做真过分！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434E2-1038-44C3-B207-14683725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2. 这店里的东西好便宜啊！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7522B8-24D4-40F5-855F-216E9532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3. 这里的景色多么美丽啊！</a:t>
            </a:r>
          </a:p>
        </p:txBody>
      </p:sp>
    </p:spTree>
    <p:extLst>
      <p:ext uri="{BB962C8B-B14F-4D97-AF65-F5344CB8AC3E}">
        <p14:creationId xmlns:p14="http://schemas.microsoft.com/office/powerpoint/2010/main" val="11923909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C96A4-3633-4F2D-AB79-61B75D34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AE3F37"/>
                </a:solidFill>
                <a:latin typeface="LXGW WenKai TC"/>
                <a:ea typeface="LXGW WenKai TC"/>
                <a:cs typeface="LXGW WenKai TC"/>
              </a:rPr>
              <a:t>必做开放题：交流为什么有用？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3E3B8-B2A1-4EDE-B899-7F961E9B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D53EF-0837-40C2-863E-278E2C48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“很多时候，只要多点交流，就可以解决这些问题，人们之间的关系也会变得更和谐。”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80449-57C5-4515-B5B9-691FA231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你是否赞同这个看法？为什么？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4F667-6566-4D54-8F6C-F097A648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说一说你和同学相处时曾遇到的问题，以及你是如何解决这个问题的。</a:t>
            </a:r>
          </a:p>
        </p:txBody>
      </p:sp>
    </p:spTree>
    <p:extLst>
      <p:ext uri="{BB962C8B-B14F-4D97-AF65-F5344CB8AC3E}">
        <p14:creationId xmlns:p14="http://schemas.microsoft.com/office/powerpoint/2010/main" val="58468998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166B7-F8AE-4BFE-9A27-1204EA0A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立场、理由、例子与回扣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12017-5915-412B-974B-FE65D57E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DE87D-1F1A-4F99-B409-F0EA7450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立场：我怎么看？理由：为什么？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AEC4F-0107-4B8C-AB4E-547325F9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例子：真实的问题、做法和后来变化。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DF185-913F-48D4-A793-F6E3A5D5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回扣：交流改变了什么？怎样支持看法？</a:t>
            </a:r>
          </a:p>
        </p:txBody>
      </p:sp>
    </p:spTree>
    <p:extLst>
      <p:ext uri="{BB962C8B-B14F-4D97-AF65-F5344CB8AC3E}">
        <p14:creationId xmlns:p14="http://schemas.microsoft.com/office/powerpoint/2010/main" val="91664003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9E132-69FC-4CC4-924B-0507ECB9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虚构示范：说清分工后改变行动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EE34B-4EFE-4C57-BC9B-97BA156D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A92BF-0B86-4C6D-A7B4-65DCA18C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我赞同交流常能改善关系。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19DE3-56B6-4E60-9FC4-385D79A9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小组有人没有交稿，询问后才知道他不清楚分工。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43751-C46D-44AC-A908-1A2B2558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我们重新确认任务和时间，后来顺利完成。</a:t>
            </a:r>
          </a:p>
        </p:txBody>
      </p:sp>
    </p:spTree>
    <p:extLst>
      <p:ext uri="{BB962C8B-B14F-4D97-AF65-F5344CB8AC3E}">
        <p14:creationId xmlns:p14="http://schemas.microsoft.com/office/powerpoint/2010/main" val="87828870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02EDB-A873-47ED-8F7E-DFD0F2E8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例子为什么支持观点？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6C940-48F4-42BB-BD26-4BA724AB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3754D-53E8-4B66-A5CB-E1250769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交流让双方找到问题的原因。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A0B3B-8753-4E4A-941D-2B36AF66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重新分工把了解落实为行动。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ABA5E-95F1-4F88-A2C0-1B9FD3CB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所以减少误会、改善合作，而不只是聊了几句。</a:t>
            </a:r>
          </a:p>
        </p:txBody>
      </p:sp>
    </p:spTree>
    <p:extLst>
      <p:ext uri="{BB962C8B-B14F-4D97-AF65-F5344CB8AC3E}">
        <p14:creationId xmlns:p14="http://schemas.microsoft.com/office/powerpoint/2010/main" val="75257020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336C3-0B33-4F5E-8100-45A74121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75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当堂检查与订正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CCCC7-EFA4-4FA5-936B-91038874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960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2850" b="0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CA1CD-48B2-49FA-9FFA-DF01CC48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我的答案有没有回答“为什么”？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3D8D2-4FEB-4C73-BB8B-74405600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原句支持了什么？哪些只是我的推测？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3A4AD-657D-4501-A702-9C5E483C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76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3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保存订正，整理自己的词语本。</a:t>
            </a:r>
          </a:p>
        </p:txBody>
      </p:sp>
    </p:spTree>
    <p:extLst>
      <p:ext uri="{BB962C8B-B14F-4D97-AF65-F5344CB8AC3E}">
        <p14:creationId xmlns:p14="http://schemas.microsoft.com/office/powerpoint/2010/main" val="5856003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LXGW WenKai TC"/>
        <a:ea typeface=""/>
        <a:cs typeface=""/>
      </a:majorFont>
      <a:minorFont>
        <a:latin typeface="LXGW WenKai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2026-10-20T06:27:08.5290000Z</dcterms:created>
  <dcterms:modified xsi:type="dcterms:W3CDTF">2026-10-20T06:27:08.5290000Z</dcterms:modified>
</coreProperties>
</file>