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e0de17de14f84479"/><Relationship Type="http://schemas.openxmlformats.org/officeDocument/2006/relationships/extended-properties" Target="/docProps/app.xml" Id="Rc5610b5a16404858"/><Relationship Type="http://schemas.openxmlformats.org/officeDocument/2006/relationships/officeDocument" Target="/ppt/presentation.xml" Id="R40a4fce40ff14d18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0e90ef1f94b89"/>
  </p:sldMasterIdLst>
  <p:notesMasterIdLst>
    <p:notesMasterId xmlns:r="http://schemas.openxmlformats.org/officeDocument/2006/relationships" r:id="Rc5ac37bdee9445c4"/>
  </p:notesMasterIdLst>
  <p:sldIdLst>
    <p:sldId xmlns:r="http://schemas.openxmlformats.org/officeDocument/2006/relationships" id="256" r:id="R7305ac959ecf48fa"/>
    <p:sldId xmlns:r="http://schemas.openxmlformats.org/officeDocument/2006/relationships" id="257" r:id="Rd92ba586e6474629"/>
    <p:sldId xmlns:r="http://schemas.openxmlformats.org/officeDocument/2006/relationships" id="258" r:id="Rbf630f36deef47f9"/>
    <p:sldId xmlns:r="http://schemas.openxmlformats.org/officeDocument/2006/relationships" id="259" r:id="Rbacfde5158d944e3"/>
    <p:sldId xmlns:r="http://schemas.openxmlformats.org/officeDocument/2006/relationships" id="260" r:id="R915055b008f04e3c"/>
    <p:sldId xmlns:r="http://schemas.openxmlformats.org/officeDocument/2006/relationships" id="261" r:id="Re534a2d9d0c0430c"/>
    <p:sldId xmlns:r="http://schemas.openxmlformats.org/officeDocument/2006/relationships" id="262" r:id="R090426e1304f4087"/>
    <p:sldId xmlns:r="http://schemas.openxmlformats.org/officeDocument/2006/relationships" id="263" r:id="Re09631168ca848bb"/>
    <p:sldId xmlns:r="http://schemas.openxmlformats.org/officeDocument/2006/relationships" id="264" r:id="Rcc8e412e62794c58"/>
    <p:sldId xmlns:r="http://schemas.openxmlformats.org/officeDocument/2006/relationships" id="265" r:id="Ra1b63334a5194a13"/>
    <p:sldId xmlns:r="http://schemas.openxmlformats.org/officeDocument/2006/relationships" id="266" r:id="R7ddbc2b168494277"/>
    <p:sldId xmlns:r="http://schemas.openxmlformats.org/officeDocument/2006/relationships" id="267" r:id="Rf737ee1ecb8e4380"/>
    <p:sldId xmlns:r="http://schemas.openxmlformats.org/officeDocument/2006/relationships" id="268" r:id="Ra628a6a47e1f4ae3"/>
    <p:sldId xmlns:r="http://schemas.openxmlformats.org/officeDocument/2006/relationships" id="269" r:id="R9c0125462f8942b1"/>
    <p:sldId xmlns:r="http://schemas.openxmlformats.org/officeDocument/2006/relationships" id="270" r:id="Rf8748af9e7e64dbf"/>
    <p:sldId xmlns:r="http://schemas.openxmlformats.org/officeDocument/2006/relationships" id="271" r:id="Rb73ffa5db7064f4a"/>
    <p:sldId xmlns:r="http://schemas.openxmlformats.org/officeDocument/2006/relationships" id="272" r:id="Rfaa6fc06b2a949e7"/>
    <p:sldId xmlns:r="http://schemas.openxmlformats.org/officeDocument/2006/relationships" id="273" r:id="R3ff751e41a494202"/>
    <p:sldId xmlns:r="http://schemas.openxmlformats.org/officeDocument/2006/relationships" id="274" r:id="Re5bb1d23707046da"/>
    <p:sldId xmlns:r="http://schemas.openxmlformats.org/officeDocument/2006/relationships" id="275" r:id="Rc7af43ee03d844bc"/>
    <p:sldId xmlns:r="http://schemas.openxmlformats.org/officeDocument/2006/relationships" id="276" r:id="R7850fcadfbf54660"/>
    <p:sldId xmlns:r="http://schemas.openxmlformats.org/officeDocument/2006/relationships" id="277" r:id="R0cda9c0d84f349e2"/>
    <p:sldId xmlns:r="http://schemas.openxmlformats.org/officeDocument/2006/relationships" id="278" r:id="R92567200505d44bc"/>
    <p:sldId xmlns:r="http://schemas.openxmlformats.org/officeDocument/2006/relationships" id="279" r:id="Rfc1c19f9fd7e432d"/>
    <p:sldId xmlns:r="http://schemas.openxmlformats.org/officeDocument/2006/relationships" id="280" r:id="R708a3d3da6d145d6"/>
    <p:sldId xmlns:r="http://schemas.openxmlformats.org/officeDocument/2006/relationships" id="281" r:id="R43905aad23fd4395"/>
    <p:sldId xmlns:r="http://schemas.openxmlformats.org/officeDocument/2006/relationships" id="282" r:id="R81c9502092d04ed8"/>
    <p:sldId xmlns:r="http://schemas.openxmlformats.org/officeDocument/2006/relationships" id="283" r:id="Raa1d18c3e48349d0"/>
    <p:sldId xmlns:r="http://schemas.openxmlformats.org/officeDocument/2006/relationships" id="284" r:id="R6f24249989ff4016"/>
    <p:sldId xmlns:r="http://schemas.openxmlformats.org/officeDocument/2006/relationships" id="285" r:id="R845d40392b23491e"/>
    <p:sldId xmlns:r="http://schemas.openxmlformats.org/officeDocument/2006/relationships" id="286" r:id="R26fdf81dcd9b43ad"/>
    <p:sldId xmlns:r="http://schemas.openxmlformats.org/officeDocument/2006/relationships" id="287" r:id="R5841e67b2d494f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c726417fc2f1447f"/><Relationship Type="http://schemas.openxmlformats.org/officeDocument/2006/relationships/slideMaster" Target="/ppt/slideMasters/slideMaster1.xml" Id="R7700e90ef1f94b89"/><Relationship Type="http://schemas.openxmlformats.org/officeDocument/2006/relationships/notesMaster" Target="/ppt/notesMasters/notesMaster1.xml" Id="Rc5ac37bdee9445c4"/><Relationship Type="http://schemas.openxmlformats.org/officeDocument/2006/relationships/presProps" Target="/ppt/presProps.xml" Id="R18fcd224c9e741d2"/><Relationship Type="http://schemas.openxmlformats.org/officeDocument/2006/relationships/tableStyles" Target="/ppt/tableStyles.xml" Id="R754d120c1e474a75"/><Relationship Type="http://schemas.openxmlformats.org/officeDocument/2006/relationships/slide" Target="/ppt/slides/slide1.xml" Id="R7305ac959ecf48fa"/><Relationship Type="http://schemas.openxmlformats.org/officeDocument/2006/relationships/slide" Target="/ppt/slides/slide2.xml" Id="Rd92ba586e6474629"/><Relationship Type="http://schemas.openxmlformats.org/officeDocument/2006/relationships/slide" Target="/ppt/slides/slide3.xml" Id="Rbf630f36deef47f9"/><Relationship Type="http://schemas.openxmlformats.org/officeDocument/2006/relationships/slide" Target="/ppt/slides/slide4.xml" Id="Rbacfde5158d944e3"/><Relationship Type="http://schemas.openxmlformats.org/officeDocument/2006/relationships/slide" Target="/ppt/slides/slide5.xml" Id="R915055b008f04e3c"/><Relationship Type="http://schemas.openxmlformats.org/officeDocument/2006/relationships/slide" Target="/ppt/slides/slide6.xml" Id="Re534a2d9d0c0430c"/><Relationship Type="http://schemas.openxmlformats.org/officeDocument/2006/relationships/slide" Target="/ppt/slides/slide7.xml" Id="R090426e1304f4087"/><Relationship Type="http://schemas.openxmlformats.org/officeDocument/2006/relationships/slide" Target="/ppt/slides/slide8.xml" Id="Re09631168ca848bb"/><Relationship Type="http://schemas.openxmlformats.org/officeDocument/2006/relationships/slide" Target="/ppt/slides/slide9.xml" Id="Rcc8e412e62794c58"/><Relationship Type="http://schemas.openxmlformats.org/officeDocument/2006/relationships/slide" Target="/ppt/slides/slide10.xml" Id="Ra1b63334a5194a13"/><Relationship Type="http://schemas.openxmlformats.org/officeDocument/2006/relationships/slide" Target="/ppt/slides/slide11.xml" Id="R7ddbc2b168494277"/><Relationship Type="http://schemas.openxmlformats.org/officeDocument/2006/relationships/slide" Target="/ppt/slides/slide12.xml" Id="Rf737ee1ecb8e4380"/><Relationship Type="http://schemas.openxmlformats.org/officeDocument/2006/relationships/slide" Target="/ppt/slides/slide13.xml" Id="Ra628a6a47e1f4ae3"/><Relationship Type="http://schemas.openxmlformats.org/officeDocument/2006/relationships/slide" Target="/ppt/slides/slide14.xml" Id="R9c0125462f8942b1"/><Relationship Type="http://schemas.openxmlformats.org/officeDocument/2006/relationships/slide" Target="/ppt/slides/slide15.xml" Id="Rf8748af9e7e64dbf"/><Relationship Type="http://schemas.openxmlformats.org/officeDocument/2006/relationships/slide" Target="/ppt/slides/slide16.xml" Id="Rb73ffa5db7064f4a"/><Relationship Type="http://schemas.openxmlformats.org/officeDocument/2006/relationships/slide" Target="/ppt/slides/slide17.xml" Id="Rfaa6fc06b2a949e7"/><Relationship Type="http://schemas.openxmlformats.org/officeDocument/2006/relationships/slide" Target="/ppt/slides/slide18.xml" Id="R3ff751e41a494202"/><Relationship Type="http://schemas.openxmlformats.org/officeDocument/2006/relationships/slide" Target="/ppt/slides/slide19.xml" Id="Re5bb1d23707046da"/><Relationship Type="http://schemas.openxmlformats.org/officeDocument/2006/relationships/slide" Target="/ppt/slides/slide20.xml" Id="Rc7af43ee03d844bc"/><Relationship Type="http://schemas.openxmlformats.org/officeDocument/2006/relationships/slide" Target="/ppt/slides/slide21.xml" Id="R7850fcadfbf54660"/><Relationship Type="http://schemas.openxmlformats.org/officeDocument/2006/relationships/slide" Target="/ppt/slides/slide22.xml" Id="R0cda9c0d84f349e2"/><Relationship Type="http://schemas.openxmlformats.org/officeDocument/2006/relationships/slide" Target="/ppt/slides/slide23.xml" Id="R92567200505d44bc"/><Relationship Type="http://schemas.openxmlformats.org/officeDocument/2006/relationships/slide" Target="/ppt/slides/slide24.xml" Id="Rfc1c19f9fd7e432d"/><Relationship Type="http://schemas.openxmlformats.org/officeDocument/2006/relationships/slide" Target="/ppt/slides/slide25.xml" Id="R708a3d3da6d145d6"/><Relationship Type="http://schemas.openxmlformats.org/officeDocument/2006/relationships/slide" Target="/ppt/slides/slide26.xml" Id="R43905aad23fd4395"/><Relationship Type="http://schemas.openxmlformats.org/officeDocument/2006/relationships/slide" Target="/ppt/slides/slide27.xml" Id="R81c9502092d04ed8"/><Relationship Type="http://schemas.openxmlformats.org/officeDocument/2006/relationships/slide" Target="/ppt/slides/slide28.xml" Id="Raa1d18c3e48349d0"/><Relationship Type="http://schemas.openxmlformats.org/officeDocument/2006/relationships/slide" Target="/ppt/slides/slide29.xml" Id="R6f24249989ff4016"/><Relationship Type="http://schemas.openxmlformats.org/officeDocument/2006/relationships/slide" Target="/ppt/slides/slide30.xml" Id="R845d40392b23491e"/><Relationship Type="http://schemas.openxmlformats.org/officeDocument/2006/relationships/slide" Target="/ppt/slides/slide31.xml" Id="R26fdf81dcd9b43ad"/><Relationship Type="http://schemas.openxmlformats.org/officeDocument/2006/relationships/slide" Target="/ppt/slides/slide32.xml" Id="R5841e67b2d494f47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d4c92e973dd64d36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80b3de962dc94b93"/><Relationship Type="http://schemas.openxmlformats.org/officeDocument/2006/relationships/notesMaster" Target="/ppt/notesMasters/notesMaster1.xml" Id="Rd130f97928e245e1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f6f8cd36a1b04953"/><Relationship Type="http://schemas.openxmlformats.org/officeDocument/2006/relationships/notesMaster" Target="/ppt/notesMasters/notesMaster1.xml" Id="R9381a69cc63d4723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4ca10ec4605444fa"/><Relationship Type="http://schemas.openxmlformats.org/officeDocument/2006/relationships/notesMaster" Target="/ppt/notesMasters/notesMaster1.xml" Id="R829845173dd44c8b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f76978f6f7c942c7"/><Relationship Type="http://schemas.openxmlformats.org/officeDocument/2006/relationships/notesMaster" Target="/ppt/notesMasters/notesMaster1.xml" Id="R11496a5236ee4dc3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64c36384c91e4615"/><Relationship Type="http://schemas.openxmlformats.org/officeDocument/2006/relationships/notesMaster" Target="/ppt/notesMasters/notesMaster1.xml" Id="R23f9f7512f3f467d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a2a13e9e756d4e06"/><Relationship Type="http://schemas.openxmlformats.org/officeDocument/2006/relationships/notesMaster" Target="/ppt/notesMasters/notesMaster1.xml" Id="R8afdd0207b42417a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e98e95918db4451a"/><Relationship Type="http://schemas.openxmlformats.org/officeDocument/2006/relationships/notesMaster" Target="/ppt/notesMasters/notesMaster1.xml" Id="R1b8f52a167b044dc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2ae68d1e973a411f"/><Relationship Type="http://schemas.openxmlformats.org/officeDocument/2006/relationships/notesMaster" Target="/ppt/notesMasters/notesMaster1.xml" Id="Ra8820df1108f4a56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e51ae430cb414401"/><Relationship Type="http://schemas.openxmlformats.org/officeDocument/2006/relationships/notesMaster" Target="/ppt/notesMasters/notesMaster1.xml" Id="R23ab4debd33548c5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bd8c576729cc461d"/><Relationship Type="http://schemas.openxmlformats.org/officeDocument/2006/relationships/notesMaster" Target="/ppt/notesMasters/notesMaster1.xml" Id="Ra5c9da91cda44a0a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d23610af40ac4ed4"/><Relationship Type="http://schemas.openxmlformats.org/officeDocument/2006/relationships/notesMaster" Target="/ppt/notesMasters/notesMaster1.xml" Id="R922513353fc147f1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f135945d956f48f2"/><Relationship Type="http://schemas.openxmlformats.org/officeDocument/2006/relationships/notesMaster" Target="/ppt/notesMasters/notesMaster1.xml" Id="Reee8b8125941433e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01fad487ce8f4318"/><Relationship Type="http://schemas.openxmlformats.org/officeDocument/2006/relationships/notesMaster" Target="/ppt/notesMasters/notesMaster1.xml" Id="R0dd8374b4c9e4e55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5a2dfa83af334761"/><Relationship Type="http://schemas.openxmlformats.org/officeDocument/2006/relationships/notesMaster" Target="/ppt/notesMasters/notesMaster1.xml" Id="Rb833d224f573439f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cd3fa343e14d4f21"/><Relationship Type="http://schemas.openxmlformats.org/officeDocument/2006/relationships/notesMaster" Target="/ppt/notesMasters/notesMaster1.xml" Id="Rb7d4278bb66d4f00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43bcca2ffc624bdb"/><Relationship Type="http://schemas.openxmlformats.org/officeDocument/2006/relationships/notesMaster" Target="/ppt/notesMasters/notesMaster1.xml" Id="Rd5e05c4620274eb9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b670c59836dd4d52"/><Relationship Type="http://schemas.openxmlformats.org/officeDocument/2006/relationships/notesMaster" Target="/ppt/notesMasters/notesMaster1.xml" Id="R14e0e23ae9834561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31079d194a6b4654"/><Relationship Type="http://schemas.openxmlformats.org/officeDocument/2006/relationships/notesMaster" Target="/ppt/notesMasters/notesMaster1.xml" Id="R2dc7078a0b574755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9c138c8cef014305"/><Relationship Type="http://schemas.openxmlformats.org/officeDocument/2006/relationships/notesMaster" Target="/ppt/notesMasters/notesMaster1.xml" Id="Rcd4220696cf845ef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2ecae3b2661e4d92"/><Relationship Type="http://schemas.openxmlformats.org/officeDocument/2006/relationships/notesMaster" Target="/ppt/notesMasters/notesMaster1.xml" Id="R792751de31e54e20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04d227cbdf4c4fd0"/><Relationship Type="http://schemas.openxmlformats.org/officeDocument/2006/relationships/notesMaster" Target="/ppt/notesMasters/notesMaster1.xml" Id="R65e4d4dc028a4c1e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d188d615ee524064"/><Relationship Type="http://schemas.openxmlformats.org/officeDocument/2006/relationships/notesMaster" Target="/ppt/notesMasters/notesMaster1.xml" Id="Ra2e563985a5e4119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dba35fff626c43dd"/><Relationship Type="http://schemas.openxmlformats.org/officeDocument/2006/relationships/notesMaster" Target="/ppt/notesMasters/notesMaster1.xml" Id="R618ed15955d54642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395add99ed684f3c"/><Relationship Type="http://schemas.openxmlformats.org/officeDocument/2006/relationships/notesMaster" Target="/ppt/notesMasters/notesMaster1.xml" Id="R4bb1ac5ff4b74f5f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d7fabd79f0934afd"/><Relationship Type="http://schemas.openxmlformats.org/officeDocument/2006/relationships/notesMaster" Target="/ppt/notesMasters/notesMaster1.xml" Id="Rc90963beb3594ad9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5cb132fcd714467f"/><Relationship Type="http://schemas.openxmlformats.org/officeDocument/2006/relationships/notesMaster" Target="/ppt/notesMasters/notesMaster1.xml" Id="R04c4d888bfa04de3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19764d862cf44a80"/><Relationship Type="http://schemas.openxmlformats.org/officeDocument/2006/relationships/notesMaster" Target="/ppt/notesMasters/notesMaster1.xml" Id="R86b2ecbacc77411c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c83d8ab2d84f47ef"/><Relationship Type="http://schemas.openxmlformats.org/officeDocument/2006/relationships/notesMaster" Target="/ppt/notesMasters/notesMaster1.xml" Id="R4e6d7008233c4d90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20f7b0f5134c41f5"/><Relationship Type="http://schemas.openxmlformats.org/officeDocument/2006/relationships/notesMaster" Target="/ppt/notesMasters/notesMaster1.xml" Id="R049b12d52bb447d9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f0a0013b745c4abc"/><Relationship Type="http://schemas.openxmlformats.org/officeDocument/2006/relationships/notesMaster" Target="/ppt/notesMasters/notesMaster1.xml" Id="R1997c42bb47d4243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51fda8746e6d4978"/><Relationship Type="http://schemas.openxmlformats.org/officeDocument/2006/relationships/notesMaster" Target="/ppt/notesMasters/notesMaster1.xml" Id="R72cf836d53384619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5c3b4430e01f475a"/><Relationship Type="http://schemas.openxmlformats.org/officeDocument/2006/relationships/notesMaster" Target="/ppt/notesMasters/notesMaster1.xml" Id="Rb4026791fc4f4522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一课时按50分钟：导入3，助养信息12，四种动物18，公益分享12，检查5。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口头导入，不扩展成额外书写任务。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 原问。学生独立。</a:t>
            </a:r>
          </a:p>
          <a:p xmlns:a="http://schemas.openxmlformats.org/drawingml/2006/main">
            <a:r>
              <a:t>参考：参加新加坡动物园的野生动物助养计划，通过捐款献爱心。</a:t>
            </a:r>
          </a:p>
          <a:p xmlns:a="http://schemas.openxmlformats.org/drawingml/2006/main">
            <a:r>
              <a:t>易错：把参观、购买食品或亲自照料当成文中助养方式。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 原问。学生独立。</a:t>
            </a:r>
          </a:p>
          <a:p xmlns:a="http://schemas.openxmlformats.org/drawingml/2006/main">
            <a:r>
              <a:t>参考：参加新加坡动物园的野生动物助养计划，通过捐款献爱心。</a:t>
            </a:r>
          </a:p>
          <a:p xmlns:a="http://schemas.openxmlformats.org/drawingml/2006/main">
            <a:r>
              <a:t>易错：把参观、购买食品或亲自照料当成文中助养方式。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 原问。学生独立。</a:t>
            </a:r>
          </a:p>
          <a:p xmlns:a="http://schemas.openxmlformats.org/drawingml/2006/main">
            <a:r>
              <a:t>参考：参加新加坡动物园的野生动物助养计划，通过捐款献爱心。</a:t>
            </a:r>
          </a:p>
          <a:p xmlns:a="http://schemas.openxmlformats.org/drawingml/2006/main">
            <a:r>
              <a:t>易错：把参观、购买食品或亲自照料当成文中助养方式。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五项用途分两页完整展示，仍属于第二段。</a:t>
            </a:r>
          </a:p>
          <a:p xmlns:a="http://schemas.openxmlformats.org/drawingml/2006/main">
            <a:r>
              <a:t>教参 2.1；课本《阅读放大镜》一（1）。学生独立。</a:t>
            </a:r>
          </a:p>
          <a:p xmlns:a="http://schemas.openxmlformats.org/drawingml/2006/main">
            <a:r>
              <a:t>参考：捐款可用于拯救野生动物、购买医疗设备提供护理、购买食物改善饮食、设计活动丰富生活，以及支持调查研究和保育计划。词语：拯救。</a:t>
            </a:r>
          </a:p>
          <a:p xmlns:a="http://schemas.openxmlformats.org/drawingml/2006/main">
            <a:r>
              <a:t>易错：漏掉非医疗用途；把给助养者的门票当成动物获得的帮助。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2.1；课本《阅读放大镜》一（1）。学生独立。</a:t>
            </a:r>
          </a:p>
          <a:p xmlns:a="http://schemas.openxmlformats.org/drawingml/2006/main">
            <a:r>
              <a:t>参考：捐款可用于拯救野生动物、购买医疗设备提供护理、购买食物改善饮食、设计活动丰富生活，以及支持调查研究和保育计划。词语：拯救。</a:t>
            </a:r>
          </a:p>
          <a:p xmlns:a="http://schemas.openxmlformats.org/drawingml/2006/main">
            <a:r>
              <a:t>易错：漏掉非医疗用途；把给助养者的门票当成动物获得的帮助。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2.1；课本《阅读放大镜》一（1）。学生独立。</a:t>
            </a:r>
          </a:p>
          <a:p xmlns:a="http://schemas.openxmlformats.org/drawingml/2006/main">
            <a:r>
              <a:t>参考：捐款可用于拯救野生动物、购买医疗设备提供护理、购买食物改善饮食、设计活动丰富生活，以及支持调查研究和保育计划。词语：拯救。</a:t>
            </a:r>
          </a:p>
          <a:p xmlns:a="http://schemas.openxmlformats.org/drawingml/2006/main">
            <a:r>
              <a:t>易错：漏掉非医疗用途；把给助养者的门票当成动物获得的帮助。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逐一点明五项，不把“医疗护理和饮食”合成不清楚的一项。</a:t>
            </a:r>
          </a:p>
          <a:p xmlns:a="http://schemas.openxmlformats.org/drawingml/2006/main">
            <a:r>
              <a:t>教参 2.1；课本《阅读放大镜》一（1）。学生独立。</a:t>
            </a:r>
          </a:p>
          <a:p xmlns:a="http://schemas.openxmlformats.org/drawingml/2006/main">
            <a:r>
              <a:t>参考：捐款可用于拯救野生动物、购买医疗设备提供护理、购买食物改善饮食、设计活动丰富生活，以及支持调查研究和保育计划。词语：拯救。</a:t>
            </a:r>
          </a:p>
          <a:p xmlns:a="http://schemas.openxmlformats.org/drawingml/2006/main">
            <a:r>
              <a:t>易错：漏掉非医疗用途；把给助养者的门票当成动物获得的帮助。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 原问。学生独立。</a:t>
            </a:r>
          </a:p>
          <a:p xmlns:a="http://schemas.openxmlformats.org/drawingml/2006/main">
            <a:r>
              <a:t>参考：期限为一年。助养者可获得证书、动物园门票、购物折扣券等。</a:t>
            </a:r>
          </a:p>
          <a:p xmlns:a="http://schemas.openxmlformats.org/drawingml/2006/main">
            <a:r>
              <a:t>易错：把动物获得的护理、食物与活动当作助养者优惠。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 原问。学生独立。</a:t>
            </a:r>
          </a:p>
          <a:p xmlns:a="http://schemas.openxmlformats.org/drawingml/2006/main">
            <a:r>
              <a:t>参考：期限为一年。助养者可获得证书、动物园门票、购物折扣券等。</a:t>
            </a:r>
          </a:p>
          <a:p xmlns:a="http://schemas.openxmlformats.org/drawingml/2006/main">
            <a:r>
              <a:t>易错：把动物获得的护理、食物与活动当作助养者优惠。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教参 2.1 原问。学生独立。</a:t>
            </a:r>
          </a:p>
          <a:p xmlns:a="http://schemas.openxmlformats.org/drawingml/2006/main">
            <a:r>
              <a:t>参考：期限为一年。助养者可获得证书、动物园门票、购物折扣券等。</a:t>
            </a:r>
          </a:p>
          <a:p xmlns:a="http://schemas.openxmlformats.org/drawingml/2006/main">
            <a:r>
              <a:t>易错：把动物获得的护理、食物与活动当作助养者优惠。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概念先解释。下一段由教师示范，再逐渐交给学生口头概括。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课本《阅读放大镜》一（2）（3）、二（1）；教参 2.2。教师示范后师生共构。</a:t>
            </a:r>
          </a:p>
          <a:p xmlns:a="http://schemas.openxmlformats.org/drawingml/2006/main">
            <a:r>
              <a:t>参考：词语：敏捷、穿梭。阿明四肢长而有力，动作敏捷，能在树林中穿梭自如，性情亲切友善。</a:t>
            </a:r>
          </a:p>
          <a:p xmlns:a="http://schemas.openxmlformats.org/drawingml/2006/main">
            <a:r>
              <a:t>易错：只写亲善大使，漏掉特点；只凭漫画外形补写课文没有的特征。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课本《阅读放大镜》一（2）（3）、二（1）；教参 2.2。教师示范后师生共构。</a:t>
            </a:r>
          </a:p>
          <a:p xmlns:a="http://schemas.openxmlformats.org/drawingml/2006/main">
            <a:r>
              <a:t>参考：词语：敏捷、穿梭。阿明四肢长而有力，动作敏捷，能在树林中穿梭自如，性情亲切友善。</a:t>
            </a:r>
          </a:p>
          <a:p xmlns:a="http://schemas.openxmlformats.org/drawingml/2006/main">
            <a:r>
              <a:t>易错：只写亲善大使，漏掉特点；只凭漫画外形补写课文没有的特征。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我做：圈“四肢、动作、性情”，删重复“阿明”，合成短句。亲善大使是身份，不代替特点。</a:t>
            </a:r>
          </a:p>
          <a:p xmlns:a="http://schemas.openxmlformats.org/drawingml/2006/main">
            <a:r>
              <a:t>课本《阅读放大镜》一（2）（3）、二（1）；教参 2.2。教师示范后师生共构。</a:t>
            </a:r>
          </a:p>
          <a:p xmlns:a="http://schemas.openxmlformats.org/drawingml/2006/main">
            <a:r>
              <a:t>参考：词语：敏捷、穿梭。阿明四肢长而有力，动作敏捷，能在树林中穿梭自如，性情亲切友善。</a:t>
            </a:r>
          </a:p>
          <a:p xmlns:a="http://schemas.openxmlformats.org/drawingml/2006/main">
            <a:r>
              <a:t>易错：只写亲善大使，漏掉特点；只凭漫画外形补写课文没有的特征。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课本《阅读放大镜》二（2）；教参 2.2。学生独立。</a:t>
            </a:r>
          </a:p>
          <a:p xmlns:a="http://schemas.openxmlformats.org/drawingml/2006/main">
            <a:r>
              <a:t>参考：班杰和贝拉喜欢大摇大摆地探索新事物，羽毛斑纹独一无二，可凭胸前斑纹辨识它们。</a:t>
            </a:r>
          </a:p>
          <a:p xmlns:a="http://schemas.openxmlformats.org/drawingml/2006/main">
            <a:r>
              <a:t>易错：把两只企鹅斑纹说成相同；以漫画中斑点数量代替课文依据。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课本《阅读放大镜》二（2）；教参 2.2。学生独立。</a:t>
            </a:r>
          </a:p>
          <a:p xmlns:a="http://schemas.openxmlformats.org/drawingml/2006/main">
            <a:r>
              <a:t>参考：班杰和贝拉喜欢大摇大摆地探索新事物，羽毛斑纹独一无二，可凭胸前斑纹辨识它们。</a:t>
            </a:r>
          </a:p>
          <a:p xmlns:a="http://schemas.openxmlformats.org/drawingml/2006/main">
            <a:r>
              <a:t>易错：把两只企鹅斑纹说成相同；以漫画中斑点数量代替课文依据。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原图中斑纹仅为示意。课文没有提供每只企鹅的斑点数量，不能把漫画画法当成事实。</a:t>
            </a:r>
          </a:p>
          <a:p xmlns:a="http://schemas.openxmlformats.org/drawingml/2006/main">
            <a:r>
              <a:t>课本《阅读放大镜》二（2）；教参 2.2。学生独立。</a:t>
            </a:r>
          </a:p>
          <a:p xmlns:a="http://schemas.openxmlformats.org/drawingml/2006/main">
            <a:r>
              <a:t>参考：班杰和贝拉喜欢大摇大摆地探索新事物，羽毛斑纹独一无二，可凭胸前斑纹辨识它们。</a:t>
            </a:r>
          </a:p>
          <a:p xmlns:a="http://schemas.openxmlformats.org/drawingml/2006/main">
            <a:r>
              <a:t>易错：把两只企鹅斑纹说成相同；以漫画中斑点数量代替课文依据。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课本《阅读放大镜》一（4）、二（3）；教参 2.2。学生独立。</a:t>
            </a:r>
          </a:p>
          <a:p xmlns:a="http://schemas.openxmlformats.org/drawingml/2006/main">
            <a:r>
              <a:t>参考：词语：馋。可可有点儿害羞，喜欢在阴凉处休息，嘴馋；虽然重120公斤，见到食物时动作却很快。</a:t>
            </a:r>
          </a:p>
          <a:p xmlns:a="http://schemas.openxmlformats.org/drawingml/2006/main">
            <a:r>
              <a:t>易错：写成“体重120斤”；只写笨重迟缓；把“见食物时很快”扩大为任何时候都很快。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先解释转折，再让学生概括可可。不要把可可概括成笨重迟缓。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课本《阅读放大镜》一（4）、二（3）；教参 2.2。学生独立。</a:t>
            </a:r>
          </a:p>
          <a:p xmlns:a="http://schemas.openxmlformats.org/drawingml/2006/main">
            <a:r>
              <a:t>参考：词语：馋。可可有点儿害羞，喜欢在阴凉处休息，嘴馋；虽然重120公斤，见到食物时动作却很快。</a:t>
            </a:r>
          </a:p>
          <a:p xmlns:a="http://schemas.openxmlformats.org/drawingml/2006/main">
            <a:r>
              <a:t>易错：写成“体重120斤”；只写笨重迟缓；把“见食物时很快”扩大为任何时候都很快。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课本《阅读放大镜》一（4）、二（3）；教参 2.2。学生独立。</a:t>
            </a:r>
          </a:p>
          <a:p xmlns:a="http://schemas.openxmlformats.org/drawingml/2006/main">
            <a:r>
              <a:t>参考：词语：馋。可可有点儿害羞，喜欢在阴凉处休息，嘴馋；虽然重120公斤，见到食物时动作却很快。</a:t>
            </a:r>
          </a:p>
          <a:p xmlns:a="http://schemas.openxmlformats.org/drawingml/2006/main">
            <a:r>
              <a:t>易错：写成“体重120斤”；只写笨重迟缓；把“见食物时很快”扩大为任何时候都很快。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课本《阅读放大镜》一（5）、二（4）；教参 2.2。学生独立。</a:t>
            </a:r>
          </a:p>
          <a:p xmlns:a="http://schemas.openxmlformats.org/drawingml/2006/main">
            <a:r>
              <a:t>参考：词语：摔跤。小哈非常调皮，常和同伴玩摔跤，最爱甜食；个头虽小却很凶猛。给它葡萄时，它会乐意配合工作人员。</a:t>
            </a:r>
          </a:p>
          <a:p xmlns:a="http://schemas.openxmlformats.org/drawingml/2006/main">
            <a:r>
              <a:t>易错：把小哈概括成温顺；把园内工作人员的照料误当成公众可以随意喂野生动物。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教师版保留教材第五个词义题完整句。此页口头读题，注意“却”。</a:t>
            </a:r>
          </a:p>
          <a:p xmlns:a="http://schemas.openxmlformats.org/drawingml/2006/main">
            <a:r>
              <a:t>课本《阅读放大镜》一（5）、二（4）；教参 2.2。学生独立。</a:t>
            </a:r>
          </a:p>
          <a:p xmlns:a="http://schemas.openxmlformats.org/drawingml/2006/main">
            <a:r>
              <a:t>参考：词语：摔跤。小哈非常调皮，常和同伴玩摔跤，最爱甜食；个头虽小却很凶猛。给它葡萄时，它会乐意配合工作人员。</a:t>
            </a:r>
          </a:p>
          <a:p xmlns:a="http://schemas.openxmlformats.org/drawingml/2006/main">
            <a:r>
              <a:t>易错：把小哈概括成温顺；把园内工作人员的照料误当成公众可以随意喂野生动物。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课本《阅读放大镜》一（5）、二（4）；教参 2.2。学生独立。</a:t>
            </a:r>
          </a:p>
          <a:p xmlns:a="http://schemas.openxmlformats.org/drawingml/2006/main">
            <a:r>
              <a:t>参考：词语：摔跤。小哈非常调皮，常和同伴玩摔跤，最爱甜食；个头虽小却很凶猛。给它葡萄时，它会乐意配合工作人员。</a:t>
            </a:r>
          </a:p>
          <a:p xmlns:a="http://schemas.openxmlformats.org/drawingml/2006/main">
            <a:r>
              <a:t>易错：把小哈概括成温顺；把园内工作人员的照料误当成公众可以随意喂野生动物。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按教参2.2口头完成表格，随后核对。网页保存原句依据；口头概括不计入自动正确率。教师资料提供完整参考表。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>原题完整保留。可选NParks海报第3页 Wildlife and Us，或学生自行找到的真实公益广告。官方入口：https://www.nparks.gov.sg/learn/resources/responsible-human-wildlife-encounters</a:t>
            </a:r>
          </a:p>
          <a:p xmlns:a="http://schemas.openxmlformats.org/drawingml/2006/main">
            <a:r>
              <a:t>课本《阅读放大镜》三；“为什么”与书面回应为教师补充。学生独立。</a:t>
            </a:r>
          </a:p>
          <a:p xmlns:a="http://schemas.openxmlformats.org/drawingml/2006/main">
            <a:r>
              <a:t>参考：示例：我愿意实践“不喂食野生动物”的建议，因为随意喂食可能损害动物健康。例如，NParks的公益海报提醒我们，人的食物可能使野生动物生病。在公园遇见野生动物时，我会收好食物并保持距离。这样既关爱动物，也减少干扰。</a:t>
            </a:r>
          </a:p>
          <a:p xmlns:a="http://schemas.openxmlformats.org/drawingml/2006/main">
            <a:r>
              <a:t>易错：只写口号；把未发生的个人经历编成事实；只贴网址却不说明为什么。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第1课。先让学生回答，下一页再揭示。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课本《阅读放大镜》三；“为什么”与书面回应为教师补充。学生独立。</a:t>
            </a:r>
          </a:p>
          <a:p xmlns:a="http://schemas.openxmlformats.org/drawingml/2006/main">
            <a:r>
              <a:t>参考：示例：我愿意实践“不喂食野生动物”的建议，因为随意喂食可能损害动物健康。例如，NParks的公益海报提醒我们，人的食物可能使野生动物生病。在公园遇见野生动物时，我会收好食物并保持距离。这样既关爱动物，也减少干扰。</a:t>
            </a:r>
          </a:p>
          <a:p xmlns:a="http://schemas.openxmlformats.org/drawingml/2006/main">
            <a:r>
              <a:t>易错：只写口号；把未发生的个人经历编成事实；只贴网址却不说明为什么。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课本《阅读放大镜》三；“为什么”与书面回应为教师补充。学生独立。</a:t>
            </a:r>
          </a:p>
          <a:p xmlns:a="http://schemas.openxmlformats.org/drawingml/2006/main">
            <a:r>
              <a:t>参考：示例：我愿意实践“不喂食野生动物”的建议，因为随意喂食可能损害动物健康。例如，NParks的公益海报提醒我们，人的食物可能使野生动物生病。在公园遇见野生动物时，我会收好食物并保持距离。这样既关爱动物，也减少干扰。</a:t>
            </a:r>
          </a:p>
          <a:p xmlns:a="http://schemas.openxmlformats.org/drawingml/2006/main">
            <a:r>
              <a:t>易错：只写口号；把未发生的个人经历编成事实；只贴网址却不说明为什么。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学生先答，之后展示。示例依据NParks公益海报 Wildlife and Us：“Do not feed wildlife.”及相关健康提示。示例中的公园情境是假设，不宣称个人真实经历。不同合理建议均可。</a:t>
            </a:r>
          </a:p>
          <a:p xmlns:a="http://schemas.openxmlformats.org/drawingml/2006/main">
            <a:r>
              <a:t>课本《阅读放大镜》三；“为什么”与书面回应为教师补充。学生独立。</a:t>
            </a:r>
          </a:p>
          <a:p xmlns:a="http://schemas.openxmlformats.org/drawingml/2006/main">
            <a:r>
              <a:t>参考：示例：我愿意实践“不喂食野生动物”的建议，因为随意喂食可能损害动物健康。例如，NParks的公益海报提醒我们，人的食物可能使野生动物生病。在公园遇见野生动物时，我会收好食物并保持距离。这样既关爱动物，也减少干扰。</a:t>
            </a:r>
          </a:p>
          <a:p xmlns:a="http://schemas.openxmlformats.org/drawingml/2006/main">
            <a:r>
              <a:t>易错：只写口号；把未发生的个人经历编成事实；只贴网址却不说明为什么。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第1课。</a:t>
            </a:r>
          </a:p>
          <a:p xmlns:a="http://schemas.openxmlformats.org/drawingml/2006/main">
            <a:r>
              <a:t>5分钟内对照、订正、导出。没有课后一周小测或额外新短文。</a:t>
            </a:r>
          </a:p>
          <a:p xmlns:a="http://schemas.openxmlformats.org/drawingml/2006/main">
            <a:r>
              <a:t>来源：用户上传课文及教参截图（2026-10-20）。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45889b6c9744f92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96e3cd79ac1442b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04069e8944b48d7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40af342c1914a1e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b9cf9ec28c54fbb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8f8210aab2e4d0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8B3A62-3C45-4E8C-9B9A-0918374A5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B9279D-F11F-4BEE-88AF-4C26BA31CD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C65ED8-4701-4906-94B3-235BC08C7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1597C9-7612-4FE9-8746-B20A7E815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039DDC-FAC6-4357-A22E-58864BAA13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4A538E-DD9F-4B24-8100-E2333A0C0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21CC6-23EF-42B5-8DB2-685325E0A4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4BD451D-E4F1-461A-918F-52A99590EA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2FA728-A61B-48A4-86EE-D2EF2C2FC5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5FE37E-F729-4CAF-A22D-E23D89D687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05e4287531254e34"/><Relationship Type="http://schemas.openxmlformats.org/officeDocument/2006/relationships/slideLayout" Target="/ppt/slideLayouts/slideLayout1.xml" Id="R1b9567d34beb49f5"/><Relationship Type="http://schemas.openxmlformats.org/officeDocument/2006/relationships/slideLayout" Target="/ppt/slideLayouts/slideLayout2.xml" Id="R11eb8c36c9964b8b"/><Relationship Type="http://schemas.openxmlformats.org/officeDocument/2006/relationships/slideLayout" Target="/ppt/slideLayouts/slideLayout3.xml" Id="Re0952e8da00845f9"/><Relationship Type="http://schemas.openxmlformats.org/officeDocument/2006/relationships/slideLayout" Target="/ppt/slideLayouts/slideLayout4.xml" Id="Raafc0d725a704d57"/><Relationship Type="http://schemas.openxmlformats.org/officeDocument/2006/relationships/slideLayout" Target="/ppt/slideLayouts/slideLayout5.xml" Id="Rcf3f797d354f48a4"/><Relationship Type="http://schemas.openxmlformats.org/officeDocument/2006/relationships/slideLayout" Target="/ppt/slideLayouts/slideLayout6.xml" Id="R9831f27c22e74e9c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567d34beb49f5"/>
    <p:sldLayoutId xmlns:r="http://schemas.openxmlformats.org/officeDocument/2006/relationships" id="2147483650" r:id="R11eb8c36c9964b8b"/>
    <p:sldLayoutId xmlns:r="http://schemas.openxmlformats.org/officeDocument/2006/relationships" id="2147483651" r:id="Re0952e8da00845f9"/>
    <p:sldLayoutId xmlns:r="http://schemas.openxmlformats.org/officeDocument/2006/relationships" id="2147483652" r:id="Raafc0d725a704d57"/>
    <p:sldLayoutId xmlns:r="http://schemas.openxmlformats.org/officeDocument/2006/relationships" id="2147483653" r:id="Rcf3f797d354f48a4"/>
    <p:sldLayoutId xmlns:r="http://schemas.openxmlformats.org/officeDocument/2006/relationships" id="2147483654" r:id="R9831f27c22e74e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ad3955ae53141a6"/><Relationship Type="http://schemas.openxmlformats.org/officeDocument/2006/relationships/image" Target="/ppt/media/image.png" Id="Rcd9b9f88fb1d4f1b"/><Relationship Type="http://schemas.openxmlformats.org/officeDocument/2006/relationships/notesSlide" Target="/ppt/notesSlides/notesSlide1.xml" Id="R52e69acae558475a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3633aebeeb497a"/><Relationship Type="http://schemas.openxmlformats.org/officeDocument/2006/relationships/image" Target="/ppt/media/image2.png" Id="R74bbd86bfd90455b"/><Relationship Type="http://schemas.openxmlformats.org/officeDocument/2006/relationships/notesSlide" Target="/ppt/notesSlides/notesSlide2.xml" Id="R618456fa07dd448b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0809dcfba14412"/><Relationship Type="http://schemas.openxmlformats.org/officeDocument/2006/relationships/notesSlide" Target="/ppt/notesSlides/notesSlide3.xml" Id="Rff44ea8e9243402f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8d00eab138c4357"/><Relationship Type="http://schemas.openxmlformats.org/officeDocument/2006/relationships/notesSlide" Target="/ppt/notesSlides/notesSlide4.xml" Id="Rba7027c2ce3b446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36afa651d7440e"/><Relationship Type="http://schemas.openxmlformats.org/officeDocument/2006/relationships/image" Target="../media/image.png" Id="Rc8dd23cc9e98467c"/><Relationship Type="http://schemas.openxmlformats.org/officeDocument/2006/relationships/notesSlide" Target="/ppt/notesSlides/notesSlide5.xml" Id="Rd11cf8cf0bdb4b2c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b4f7c4074a4ed8"/><Relationship Type="http://schemas.openxmlformats.org/officeDocument/2006/relationships/notesSlide" Target="/ppt/notesSlides/notesSlide6.xml" Id="Rf934cf81a870423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079c473da7546ae"/><Relationship Type="http://schemas.openxmlformats.org/officeDocument/2006/relationships/notesSlide" Target="/ppt/notesSlides/notesSlide7.xml" Id="Raa386a7e51fd4a3e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038866bebb4dfc"/><Relationship Type="http://schemas.openxmlformats.org/officeDocument/2006/relationships/notesSlide" Target="/ppt/notesSlides/notesSlide8.xml" Id="R2184fef02fb5499b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813758700284a73"/><Relationship Type="http://schemas.openxmlformats.org/officeDocument/2006/relationships/notesSlide" Target="/ppt/notesSlides/notesSlide9.xml" Id="Re25142e4b9c747dd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807bae685d4e39"/><Relationship Type="http://schemas.openxmlformats.org/officeDocument/2006/relationships/notesSlide" Target="/ppt/notesSlides/notesSlide10.xml" Id="R525864d560ff40f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97c6acf6ed4bfc"/><Relationship Type="http://schemas.openxmlformats.org/officeDocument/2006/relationships/notesSlide" Target="/ppt/notesSlides/notesSlide11.xml" Id="R8857418edb2241d0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88be6c48d9541fd"/><Relationship Type="http://schemas.openxmlformats.org/officeDocument/2006/relationships/image" Target="../media/image.png" Id="Rdf0a9b4e53dd4c07"/><Relationship Type="http://schemas.openxmlformats.org/officeDocument/2006/relationships/notesSlide" Target="/ppt/notesSlides/notesSlide12.xml" Id="R3b7b64d772de46ff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a048727bf642e1"/><Relationship Type="http://schemas.openxmlformats.org/officeDocument/2006/relationships/notesSlide" Target="/ppt/notesSlides/notesSlide13.xml" Id="Re3488a51b17940f5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daa31ac3ad42b0"/><Relationship Type="http://schemas.openxmlformats.org/officeDocument/2006/relationships/notesSlide" Target="/ppt/notesSlides/notesSlide14.xml" Id="Rf1400e2f6ab547cf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a7de4506ff4bb6"/><Relationship Type="http://schemas.openxmlformats.org/officeDocument/2006/relationships/notesSlide" Target="/ppt/notesSlides/notesSlide15.xml" Id="Rc4000ee012b44273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b68df478da0408d"/><Relationship Type="http://schemas.openxmlformats.org/officeDocument/2006/relationships/image" Target="/ppt/media/image5.png" Id="Rd31dfa809e2c46d4"/><Relationship Type="http://schemas.openxmlformats.org/officeDocument/2006/relationships/notesSlide" Target="/ppt/notesSlides/notesSlide16.xml" Id="R21f107f4663a4e6e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bb5d40c949a4775"/><Relationship Type="http://schemas.openxmlformats.org/officeDocument/2006/relationships/notesSlide" Target="/ppt/notesSlides/notesSlide17.xml" Id="Rffd37e61c8ef4d31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c5f6b6a398b49a1"/><Relationship Type="http://schemas.openxmlformats.org/officeDocument/2006/relationships/notesSlide" Target="/ppt/notesSlides/notesSlide18.xml" Id="Rdb6ef54391c9431b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53b26ef78264c45"/><Relationship Type="http://schemas.openxmlformats.org/officeDocument/2006/relationships/image" Target="../media/image5.png" Id="Rfd8c848807fc493b"/><Relationship Type="http://schemas.openxmlformats.org/officeDocument/2006/relationships/notesSlide" Target="/ppt/notesSlides/notesSlide19.xml" Id="Rf5e4b10f352e4cc5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5fa6900188e4b79"/><Relationship Type="http://schemas.openxmlformats.org/officeDocument/2006/relationships/notesSlide" Target="/ppt/notesSlides/notesSlide20.xml" Id="R1b27f2eef70a450c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dace45ae074b78"/><Relationship Type="http://schemas.openxmlformats.org/officeDocument/2006/relationships/notesSlide" Target="/ppt/notesSlides/notesSlide21.xml" Id="Rf580ad33323140cb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8e9a68e23b8496d"/><Relationship Type="http://schemas.openxmlformats.org/officeDocument/2006/relationships/notesSlide" Target="/ppt/notesSlides/notesSlide22.xml" Id="R74c5c139a9a840d8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3f9f84a4a48412a"/><Relationship Type="http://schemas.openxmlformats.org/officeDocument/2006/relationships/image" Target="../media/image2.png" Id="Rb6acb0c5d5c445f4"/><Relationship Type="http://schemas.openxmlformats.org/officeDocument/2006/relationships/notesSlide" Target="/ppt/notesSlides/notesSlide23.xml" Id="R33876f79fd11488b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ea07ac2455e4fa8"/><Relationship Type="http://schemas.openxmlformats.org/officeDocument/2006/relationships/notesSlide" Target="/ppt/notesSlides/notesSlide24.xml" Id="Rbc411de851b14a0f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2d8e5920794c90"/><Relationship Type="http://schemas.openxmlformats.org/officeDocument/2006/relationships/notesSlide" Target="/ppt/notesSlides/notesSlide25.xml" Id="Rc274a17523e7437f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f92b76d909644b5"/><Relationship Type="http://schemas.openxmlformats.org/officeDocument/2006/relationships/image" Target="../media/image2.png" Id="R5aecda89cf6d4ea2"/><Relationship Type="http://schemas.openxmlformats.org/officeDocument/2006/relationships/notesSlide" Target="/ppt/notesSlides/notesSlide26.xml" Id="Rfe528f7da56c48cf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396e40de894d71"/><Relationship Type="http://schemas.openxmlformats.org/officeDocument/2006/relationships/notesSlide" Target="/ppt/notesSlides/notesSlide27.xml" Id="R5bdee7ee8c574b84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8b46adc818432d"/><Relationship Type="http://schemas.openxmlformats.org/officeDocument/2006/relationships/notesSlide" Target="/ppt/notesSlides/notesSlide28.xml" Id="R0f75b16c1fe041ac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b01821929a54dde"/><Relationship Type="http://schemas.openxmlformats.org/officeDocument/2006/relationships/notesSlide" Target="/ppt/notesSlides/notesSlide29.xml" Id="Rb154a52f31554ad6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ea38c9b4a84384"/><Relationship Type="http://schemas.openxmlformats.org/officeDocument/2006/relationships/notesSlide" Target="/ppt/notesSlides/notesSlide30.xml" Id="R2cbc66d395874ab9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4b2afa3b174e11"/><Relationship Type="http://schemas.openxmlformats.org/officeDocument/2006/relationships/notesSlide" Target="/ppt/notesSlides/notesSlide31.xml" Id="Rb3b85c6336e149db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1e2d1416f494d5b"/><Relationship Type="http://schemas.openxmlformats.org/officeDocument/2006/relationships/notesSlide" Target="/ppt/notesSlides/notesSlide32.xml" Id="Re6c7e2e0d7b9452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EAFFFCE-BA9C-40CD-8104-A046698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51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助养野生动物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DF764C0-1F04-4878-B2AB-99D173AB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中二高级华文　单元二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2063DD0-F067-46D0-B388-42EE379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生活空间　1课时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F754C-1077-4EA4-A479-7F3589484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b9f88fb1d4f1b"/>
          <a:srcRect xmlns:a="http://schemas.openxmlformats.org/drawingml/2006/main" l="781" t="6445" r="50391" b="69596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50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08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557415-25D1-4EB6-A10A-208E6D4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你会怎样关爱动物？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5E28175-A688-4AA0-97CF-25047144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先说一种做法。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CE86629-7C81-4B82-A3A1-A6D1429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今天读懂助养计划。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C928528F-000A-429F-9E93-A0745B4E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再认识四种动物。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80AFF-5336-4925-891E-12D13487D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bd86bfd90455b"/>
          <a:srcRect xmlns:a="http://schemas.openxmlformats.org/drawingml/2006/main" l="50391" t="70247" r="684" b="1107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41826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54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D0735F-706D-4BF9-A9B3-A5936CAF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第一段：助养方式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5D93A03-8683-4BF8-BF6C-396805C9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你想为保护野生动物尽一份力吗？你可以参加新加坡动物园推出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的野生动物助养计划，通过捐款，献出你的爱心。</a:t>
            </a:r>
          </a:p>
        </p:txBody>
      </p:sp>
    </p:spTree>
    <p:extLst>
      <p:ext uri="{BB962C8B-B14F-4D97-AF65-F5344CB8AC3E}">
        <p14:creationId xmlns:p14="http://schemas.microsoft.com/office/powerpoint/2010/main" val="242164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6AA7FD-5CFC-42E8-B20A-CAF2232E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怎样参与助养？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6B7E156-8E2A-40A2-9166-FB106132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你可以通过什么方式助养野生动物？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12F558B-172A-403D-BD2E-9104199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找出说明“怎样参加”的原句。</a:t>
            </a:r>
          </a:p>
        </p:txBody>
      </p:sp>
    </p:spTree>
    <p:extLst>
      <p:ext uri="{BB962C8B-B14F-4D97-AF65-F5344CB8AC3E}">
        <p14:creationId xmlns:p14="http://schemas.microsoft.com/office/powerpoint/2010/main" val="374183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6DC6B1-15B4-4EF5-A063-9631D07C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助养方式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E34E8FC-21FD-4940-9D07-35C68587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参加助养计划。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E56CB56-6D03-439B-AB49-69737088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通过捐款献出爱心。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6BF72-3FAC-461D-BCDE-D1230945B5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d23cc9e98467c"/>
          <a:srcRect xmlns:a="http://schemas.openxmlformats.org/drawingml/2006/main" l="50391" t="6445" r="684" b="69596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4982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31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91E0BA-F328-4BE4-96C1-597977C6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第二段：捐款用途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56EE9D3-2DC2-40FE-9705-A2D24D49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拯救野生动物。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5DDB465-EDCE-4F28-9792-0DD6184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购买医疗设备，为动物提供更好的护理。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230FB66-9F54-4F16-8AB4-40A663B6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购买食物，为动物提供高品质的饮食。</a:t>
            </a:r>
          </a:p>
        </p:txBody>
      </p:sp>
    </p:spTree>
    <p:extLst>
      <p:ext uri="{BB962C8B-B14F-4D97-AF65-F5344CB8AC3E}">
        <p14:creationId xmlns:p14="http://schemas.microsoft.com/office/powerpoint/2010/main" val="930559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8FE45B-056B-445C-801D-07BA60D8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第二段：捐款用途（续）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1ACFF2B-5959-40AB-941E-ABF9D459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作为活动经费，为动物设计活动，丰富它们的生活。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F1E3697-5E6E-4F95-8869-004F446B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支持实地调查研究，开展野生动物保育计划。</a:t>
            </a:r>
          </a:p>
        </p:txBody>
      </p:sp>
    </p:spTree>
    <p:extLst>
      <p:ext uri="{BB962C8B-B14F-4D97-AF65-F5344CB8AC3E}">
        <p14:creationId xmlns:p14="http://schemas.microsoft.com/office/powerpoint/2010/main" val="876204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23C98D-D8AE-4E1A-A27C-9E197C52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捐款用在哪里？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A5B78A9-C4F2-4DD6-AAC2-3758C212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捐款的用途有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哪些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7E6D85C-DA6A-4717-A973-3302AE8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找词语：提供救助，帮助脱离危险。</a:t>
            </a:r>
          </a:p>
        </p:txBody>
      </p:sp>
    </p:spTree>
    <p:extLst>
      <p:ext uri="{BB962C8B-B14F-4D97-AF65-F5344CB8AC3E}">
        <p14:creationId xmlns:p14="http://schemas.microsoft.com/office/powerpoint/2010/main" val="696368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6072C3-EF57-453C-9216-7A9EF399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五项用途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247DA1B-6006-4D5B-852B-5DC25CB0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拯救、医疗护理、饮食。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B79DDD1-0DA1-4649-9D5B-27F6240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活动、调查研究与保育。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5E9CF99-BE8B-4578-8720-2F126EE1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课本词语：拯救。</a:t>
            </a:r>
          </a:p>
        </p:txBody>
      </p:sp>
    </p:spTree>
    <p:extLst>
      <p:ext uri="{BB962C8B-B14F-4D97-AF65-F5344CB8AC3E}">
        <p14:creationId xmlns:p14="http://schemas.microsoft.com/office/powerpoint/2010/main" val="13399088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B80266-E9AF-4924-A226-34C6C639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第三段：期限与优惠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80E3B70C-13EB-4ABC-AC79-8DEA69F9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助养期限及提供的优惠：为期一年。助养者可获得证书、动物园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门票、购物折扣券等。</a:t>
            </a:r>
          </a:p>
        </p:txBody>
      </p:sp>
    </p:spTree>
    <p:extLst>
      <p:ext uri="{BB962C8B-B14F-4D97-AF65-F5344CB8AC3E}">
        <p14:creationId xmlns:p14="http://schemas.microsoft.com/office/powerpoint/2010/main" val="1807929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7DE302-0C9B-4AC2-B051-DA362ED9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时间与助养者所得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E41E737B-F15D-4164-829D-F4B98F67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助养期限多久？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F208595-321C-49EF-9FF5-847AAB1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参与助养的公众能获得什么优惠？</a:t>
            </a:r>
          </a:p>
        </p:txBody>
      </p:sp>
    </p:spTree>
    <p:extLst>
      <p:ext uri="{BB962C8B-B14F-4D97-AF65-F5344CB8AC3E}">
        <p14:creationId xmlns:p14="http://schemas.microsoft.com/office/powerpoint/2010/main" val="4238580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E724A23-BC32-4C14-A136-B9A937B2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一年及三类优惠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395A9A8-6B1C-490B-9259-70D653AD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期限：一年。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012DC9C-2027-42A3-8AD8-44F96376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证书、动物园门票。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6DA0A36-5D28-47B0-9939-F1473766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购物折扣券等。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A07D2-5FC5-43A5-A77D-1D28C53526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a9b4e53dd4c07"/>
          <a:srcRect xmlns:a="http://schemas.openxmlformats.org/drawingml/2006/main" l="50391" t="73893" r="684" b="781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6978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14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6ABB0D-894E-4BD3-8D3B-AA46F53D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怎样概括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729F1C2A-8FDA-47A9-A328-31E7B83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概括（summarise）：选主要信息，删重复说法。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203FC6B-4857-4AEF-9B8E-7C611B7A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身体怎样？动作怎样？性情怎样？</a:t>
            </a:r>
          </a:p>
        </p:txBody>
      </p:sp>
    </p:spTree>
    <p:extLst>
      <p:ext uri="{BB962C8B-B14F-4D97-AF65-F5344CB8AC3E}">
        <p14:creationId xmlns:p14="http://schemas.microsoft.com/office/powerpoint/2010/main" val="9832557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955FAC-37EC-4619-AE43-91828183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第四段：阿明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B050D6C-9899-416E-B401-D711167D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阿明有着长而有力的四肢，它动作敏捷，在树林中穿梭自如。阿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明亲切友善，还担任了新加坡动物园的亲善大使。</a:t>
            </a:r>
          </a:p>
        </p:txBody>
      </p:sp>
    </p:spTree>
    <p:extLst>
      <p:ext uri="{BB962C8B-B14F-4D97-AF65-F5344CB8AC3E}">
        <p14:creationId xmlns:p14="http://schemas.microsoft.com/office/powerpoint/2010/main" val="1953635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76DCE4-D14F-4677-A611-E5A90A0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阿明有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哪些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主要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0F3DF1E6-D68C-4A5D-804D-1AE2A7E8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概括红毛猩猩的主要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E98D142-49F8-4905-9443-789B676B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找词语：迅速而灵敏；来回活动。</a:t>
            </a:r>
          </a:p>
        </p:txBody>
      </p:sp>
    </p:spTree>
    <p:extLst>
      <p:ext uri="{BB962C8B-B14F-4D97-AF65-F5344CB8AC3E}">
        <p14:creationId xmlns:p14="http://schemas.microsoft.com/office/powerpoint/2010/main" val="21041224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3F73D30-5D2D-472A-AE45-9DBCA50E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阿明的主要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3B6533E-038E-4880-8FC1-9F491437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四肢长而有力。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64B8C46-A678-4DF0-95F4-066365CD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动作敏捷，穿梭自如。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3C549DB-01B2-4B49-B069-ED991C9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亲切友善。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8A83088-B973-4F41-859D-FE625EFD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词语：敏捷、穿梭。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90BDE-2432-4A0A-8467-D065BC7CC5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dfa809e2c46d4"/>
          <a:srcRect xmlns:a="http://schemas.openxmlformats.org/drawingml/2006/main" l="781" t="30599" r="50391" b="46354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371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195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3A4EC8-98AD-449E-88E4-8DA32ED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第五段：班杰和贝拉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213A5C5-D6D8-4B7C-BFA2-4BAA6F10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班杰和贝拉喜欢大摇大摆地四处探索新事物。非洲企鹅身上的羽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毛斑纹都是独一无二的。我们可以通过它们胸前的斑纹来辨识班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杰和贝拉。</a:t>
            </a:r>
          </a:p>
        </p:txBody>
      </p:sp>
    </p:spTree>
    <p:extLst>
      <p:ext uri="{BB962C8B-B14F-4D97-AF65-F5344CB8AC3E}">
        <p14:creationId xmlns:p14="http://schemas.microsoft.com/office/powerpoint/2010/main" val="1494744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79F35C-0C95-411E-9517-0A23DFA2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非洲企鹅有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哪些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主要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4691163-8982-479F-BB8A-50D3B652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概括非洲企鹅的主要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837EBF3-9A39-408A-BF89-1182434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课文给出的辨识依据是什么？</a:t>
            </a:r>
          </a:p>
        </p:txBody>
      </p:sp>
    </p:spTree>
    <p:extLst>
      <p:ext uri="{BB962C8B-B14F-4D97-AF65-F5344CB8AC3E}">
        <p14:creationId xmlns:p14="http://schemas.microsoft.com/office/powerpoint/2010/main" val="7203171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E5569B8-7BBB-4261-92AB-B0717242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行为与斑纹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634E9836-7C60-4DF0-81FC-BE811BA1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喜欢大摇大摆地探索新事物。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1D43FA6-5A14-43E8-8D7D-62BF5F31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羽毛斑纹独一无二。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D4AFBF7-FF2B-44DF-819C-B0491FD8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可凭胸前斑纹辨识它们。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B9334-CCB8-4CCE-BDA4-600CA7083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c848807fc493b"/>
          <a:srcRect xmlns:a="http://schemas.openxmlformats.org/drawingml/2006/main" l="50391" t="53906" r="684" b="26497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8613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841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C9B378-0C80-43AC-A8DA-F61D8DCF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第六段：可可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F034BE7-B879-46AC-A299-96D5D30B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可可有点儿害羞，喜欢躲在阴凉处休息。它嘴很馋，虽然重120公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斤，但一见到食物，动作还是挺快的。</a:t>
            </a:r>
          </a:p>
        </p:txBody>
      </p:sp>
    </p:spTree>
    <p:extLst>
      <p:ext uri="{BB962C8B-B14F-4D97-AF65-F5344CB8AC3E}">
        <p14:creationId xmlns:p14="http://schemas.microsoft.com/office/powerpoint/2010/main" val="17257656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02FD32-0175-4894-AC6D-F855C26A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转折后的信息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71CB07D-B469-48E5-A252-883A0CD4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“虽然……但……”和“却”常提示转折。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1345048-90D3-48A3-8FEB-0B8E6EF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概括时，前后两面的关系都要保留。</a:t>
            </a:r>
          </a:p>
        </p:txBody>
      </p:sp>
    </p:spTree>
    <p:extLst>
      <p:ext uri="{BB962C8B-B14F-4D97-AF65-F5344CB8AC3E}">
        <p14:creationId xmlns:p14="http://schemas.microsoft.com/office/powerpoint/2010/main" val="1602325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E761D1-049A-49A8-9304-7228DF0F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可可有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哪些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主要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89187DD-FA91-4F37-A981-EB461F41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概括亚达伯拉象龟的主要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4167ECB-5339-46A0-B4D2-6DC4E57B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找词语：看见好吃的食物就想吃。</a:t>
            </a:r>
          </a:p>
        </p:txBody>
      </p:sp>
    </p:spTree>
    <p:extLst>
      <p:ext uri="{BB962C8B-B14F-4D97-AF65-F5344CB8AC3E}">
        <p14:creationId xmlns:p14="http://schemas.microsoft.com/office/powerpoint/2010/main" val="14102071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174DD4F-256D-4009-B710-26B331CA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可可的主要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D5615A64-E541-4E48-9F23-346CE482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害羞，喜欢在阴凉处休息。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6FE80A9-3319-4CB6-8C9E-72EF5AC8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嘴馋，重120公斤。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DD47F2D-15DD-45D6-9EC6-7F5B2937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见到食物，动作还是挺快的。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327DE40-BF88-4F42-BBCC-E57009EF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课本词语：馋。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6C7AE-DF03-48AB-A059-3DFC181A2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cb0c5d5c445f4"/>
          <a:srcRect xmlns:a="http://schemas.openxmlformats.org/drawingml/2006/main" l="781" t="28190" r="50391" b="51628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295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63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0F17B-0CF3-4FE4-BE80-53C9D313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第七段：小哈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510E66C2-D80B-4831-8283-B4536267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小哈非常调皮，经常和同伴玩摔跤。它最爱吃甜的东西，只要给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它一串葡萄，它就会乐意和工作人员配合。它个头不大，却非常</a:t>
            </a:r>
          </a:p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凶猛，千万别小看它。</a:t>
            </a:r>
          </a:p>
        </p:txBody>
      </p:sp>
    </p:spTree>
    <p:extLst>
      <p:ext uri="{BB962C8B-B14F-4D97-AF65-F5344CB8AC3E}">
        <p14:creationId xmlns:p14="http://schemas.microsoft.com/office/powerpoint/2010/main" val="4518629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2A8B8D-7948-43FC-AEA4-608C749D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小哈有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哪些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主要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A3C37C9F-586A-4F7C-A33E-657764EA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概括马来熊的主要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5245A776-5FBF-4D3C-B459-03529DE8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找词语：双方相抱，运用力气和技巧，使对方倒下的体育运动。</a:t>
            </a:r>
          </a:p>
        </p:txBody>
      </p:sp>
    </p:spTree>
    <p:extLst>
      <p:ext uri="{BB962C8B-B14F-4D97-AF65-F5344CB8AC3E}">
        <p14:creationId xmlns:p14="http://schemas.microsoft.com/office/powerpoint/2010/main" val="13543965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F10177C-E1B7-4518-8E98-92119D7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小哈的主要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8861EF2-31CD-4392-895E-B3D22952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调皮，常和同伴玩摔跤。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A0CC36E-222E-4ECC-AC75-93413005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最爱甜食，给葡萄时乐意配合。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E868EE2-429A-47F6-80A8-6450D12A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个头不大，却很凶猛。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26CA1900-41DC-4662-84C9-F51677C9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905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课本词语：摔跤。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BEB9C-FD5A-471E-8902-A913D855BE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cda89cf6d4ea2"/>
          <a:srcRect xmlns:a="http://schemas.openxmlformats.org/drawingml/2006/main" l="781" t="48763" r="50391" b="30013"/>
          <a:stretch xmlns:a="http://schemas.openxmlformats.org/drawingml/2006/main"/>
        </p:blipFill>
        <p:spPr>
          <a:xfrm xmlns:a="http://schemas.openxmlformats.org/drawingml/2006/main">
            <a:off x="6819900" y="2190750"/>
            <a:ext cx="4762500" cy="3105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79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4BBEDA7-387F-4464-903F-3A73A4DE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课本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表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91059E1-7192-4061-AA3E-A23C40A7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红毛猩猩：用自己的话概括。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425C831-8A2F-437A-9C86-EBEA603B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非洲企鹅：用自己的话概括。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3198104-DA8C-491A-8F5D-94E3BAB7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亚达伯拉象龟：用自己的话概括。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16E7AB2-9515-45FE-968F-5F7B947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马来熊：用自己的话概括。</a:t>
            </a:r>
          </a:p>
        </p:txBody>
      </p:sp>
    </p:spTree>
    <p:extLst>
      <p:ext uri="{BB962C8B-B14F-4D97-AF65-F5344CB8AC3E}">
        <p14:creationId xmlns:p14="http://schemas.microsoft.com/office/powerpoint/2010/main" val="16703553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A7BFDF-AAF4-4165-AB3D-97871CB3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公益广告分享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C87A71B6-65A4-48EC-874A-0BC4C8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上网搜一搜，找一个关爱动物的公益广告，和同学分享。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84FD25B-3536-412A-92EC-0D6962B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分享时交代发布者和主要建议。</a:t>
            </a:r>
          </a:p>
        </p:txBody>
      </p:sp>
    </p:spTree>
    <p:extLst>
      <p:ext uri="{BB962C8B-B14F-4D97-AF65-F5344CB8AC3E}">
        <p14:creationId xmlns:p14="http://schemas.microsoft.com/office/powerpoint/2010/main" val="21463245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5745832-0A08-47EF-BFC4-949D82C5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你的建议与</a:t>
            </a:r>
            <a:r>
              <a:rPr sz="36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理由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B4C085AE-A706-4FC5-8C7A-A43C808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你愿意实践哪个建议？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A63EB9B9-C0A3-424D-8A40-6D1A0509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结合广告内容或具体情境说明。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BBA89136-615B-4D92-BD1E-67450D4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用3—4句话写下来。</a:t>
            </a:r>
          </a:p>
        </p:txBody>
      </p:sp>
    </p:spTree>
    <p:extLst>
      <p:ext uri="{BB962C8B-B14F-4D97-AF65-F5344CB8AC3E}">
        <p14:creationId xmlns:p14="http://schemas.microsoft.com/office/powerpoint/2010/main" val="2900487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97354D-666C-42C6-980A-D48CB64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开放回应的顺序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F2F7CFCE-F922-4903-B16C-63E83913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建议：我愿意做什么？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75562F5-9A18-44BE-89FF-A3979C50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理由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：</a:t>
            </a:r>
            <a:r>
              <a:rPr sz="3000" b="1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为什么</a:t>
            </a: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337802CB-CEE6-433E-B09B-A21BF18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例子：哪项内容或情境能说明？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437EA035-6DA3-4E2D-A550-97B84454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回扣：这怎样帮助动物？</a:t>
            </a:r>
          </a:p>
        </p:txBody>
      </p:sp>
    </p:spTree>
    <p:extLst>
      <p:ext uri="{BB962C8B-B14F-4D97-AF65-F5344CB8AC3E}">
        <p14:creationId xmlns:p14="http://schemas.microsoft.com/office/powerpoint/2010/main" val="20148267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CF9A660-E4A8-48F8-880F-293C0C05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回应示例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2CFA54A8-5B8C-4A42-8AF1-7AEA3299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A33E35"/>
                </a:solidFill>
                <a:latin typeface="Noto Serif CJK SC"/>
                <a:ea typeface="Noto Serif CJK SC"/>
                <a:cs typeface="Noto Serif CJK SC"/>
              </a:rPr>
              <a:t>我愿意实践不喂食野生动物的建议。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0E367ED-F8D2-4E7C-ACEC-728A3160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人的食物可能使野生动物生病。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B50BBF2-DFC4-494D-9010-533560E9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在公园遇见它们，我会收好食物。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A93E29CB-91FC-4BEF-820B-478578C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243D37"/>
                </a:solidFill>
                <a:latin typeface="Noto Serif CJK SC"/>
                <a:ea typeface="Noto Serif CJK SC"/>
                <a:cs typeface="Noto Serif CJK SC"/>
              </a:rPr>
              <a:t>这样能减少伤害和干扰。</a:t>
            </a:r>
          </a:p>
        </p:txBody>
      </p:sp>
    </p:spTree>
    <p:extLst>
      <p:ext uri="{BB962C8B-B14F-4D97-AF65-F5344CB8AC3E}">
        <p14:creationId xmlns:p14="http://schemas.microsoft.com/office/powerpoint/2010/main" val="17930168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C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5A10888-886D-49BD-8335-C89F688C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defRPr>
            </a:pPr>
            <a:r>
              <a:rPr sz="3600" b="1">
                <a:solidFill>
                  <a:srgbClr val="245E51"/>
                </a:solidFill>
                <a:latin typeface="LXGW WenKai TC"/>
                <a:ea typeface="LXGW WenKai TC"/>
                <a:cs typeface="LXGW WenKai TC"/>
              </a:rPr>
              <a:t>当堂检查</a:t>
            </a:r>
          </a:p>
        </p:txBody>
      </p:sp>
      <p:sp>
        <p:nvSpPr>
          <p:cNvPr id="2" name="body-0">
            <a:extLst xmlns:a="http://schemas.openxmlformats.org/drawingml/2006/main">
              <a:ext uri="{FF2B5EF4-FFF2-40B4-BE49-F238E27FC236}">
                <a16:creationId xmlns:a16="http://schemas.microsoft.com/office/drawing/2014/main" id="{16B6E12A-6C4F-4EDF-922F-5110A940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助养信息：有没有混淆对象？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2538C94-6D6F-4DA2-A057-DB9AC4A5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动物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特点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：有没有漏掉转折？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87F3B28-D693-4A88-BBCB-E218F8BB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开放回应：有没有解释</a:t>
            </a:r>
            <a:r>
              <a:rPr sz="3000" b="1">
                <a:solidFill>
                  <a:srgbClr val="A33E35"/>
                </a:solidFill>
                <a:latin typeface="LXGW WenKai TC"/>
                <a:ea typeface="LXGW WenKai TC"/>
                <a:cs typeface="LXGW WenKai TC"/>
              </a:rPr>
              <a:t>为什么</a:t>
            </a: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？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A42ED66-851E-485E-B26B-6C5E78B0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defPPr>
            <a:lvl1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1pPr>
            <a:lvl2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2pPr>
            <a:lvl3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3pPr>
            <a:lvl4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4pPr>
            <a:lvl5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5pPr>
            <a:lvl6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6pPr>
            <a:lvl7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7pPr>
            <a:lvl8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8pPr>
            <a:lvl9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243D37"/>
                </a:solidFill>
                <a:latin typeface="LXGW WenKai TC"/>
                <a:ea typeface="LXGW WenKai TC"/>
                <a:cs typeface="LXGW WenKai TC"/>
              </a:rPr>
              <a:t>订正后，把需要复习的词加入词语本。</a:t>
            </a:r>
          </a:p>
        </p:txBody>
      </p:sp>
    </p:spTree>
    <p:extLst>
      <p:ext uri="{BB962C8B-B14F-4D97-AF65-F5344CB8AC3E}">
        <p14:creationId xmlns:p14="http://schemas.microsoft.com/office/powerpoint/2010/main" val="149116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2026-10-20T01:45:58.1930000Z</dcterms:created>
  <dcterms:modified xsi:type="dcterms:W3CDTF">2026-10-20T01:45:58.1930000Z</dcterms:modified>
</coreProperties>
</file>