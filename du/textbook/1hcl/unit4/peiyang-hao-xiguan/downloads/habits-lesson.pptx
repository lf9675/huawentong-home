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63f8b4e7024f42" /><Relationship Type="http://schemas.openxmlformats.org/officeDocument/2006/relationships/extended-properties" Target="/docProps/app.xml" Id="R49e6618b3ea44cd4" /><Relationship Type="http://schemas.openxmlformats.org/officeDocument/2006/relationships/officeDocument" Target="/ppt/presentation.xml" Id="R8169e0682b85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d33867ad8b4880"/>
  </p:sldMasterIdLst>
  <p:notesMasterIdLst>
    <p:notesMasterId xmlns:r="http://schemas.openxmlformats.org/officeDocument/2006/relationships" r:id="R2af164b0e0bc4156"/>
  </p:notesMasterIdLst>
  <p:sldIdLst>
    <p:sldId xmlns:r="http://schemas.openxmlformats.org/officeDocument/2006/relationships" id="256" r:id="R534d8c7d967c4295"/>
    <p:sldId xmlns:r="http://schemas.openxmlformats.org/officeDocument/2006/relationships" id="257" r:id="R7a4f78f462df4c66"/>
    <p:sldId xmlns:r="http://schemas.openxmlformats.org/officeDocument/2006/relationships" id="258" r:id="Reaf7d5ee85494cb8"/>
    <p:sldId xmlns:r="http://schemas.openxmlformats.org/officeDocument/2006/relationships" id="259" r:id="R31175525cde2465f"/>
    <p:sldId xmlns:r="http://schemas.openxmlformats.org/officeDocument/2006/relationships" id="260" r:id="R3a581a0d2a094d90"/>
    <p:sldId xmlns:r="http://schemas.openxmlformats.org/officeDocument/2006/relationships" id="261" r:id="Rd685d50c970d47c8"/>
    <p:sldId xmlns:r="http://schemas.openxmlformats.org/officeDocument/2006/relationships" id="262" r:id="R4e4e4bd7c2c94d1a"/>
    <p:sldId xmlns:r="http://schemas.openxmlformats.org/officeDocument/2006/relationships" id="263" r:id="Rc55895d4d31c436b"/>
    <p:sldId xmlns:r="http://schemas.openxmlformats.org/officeDocument/2006/relationships" id="264" r:id="R0b665230a9574c7e"/>
    <p:sldId xmlns:r="http://schemas.openxmlformats.org/officeDocument/2006/relationships" id="265" r:id="Rf87bab76447043e7"/>
    <p:sldId xmlns:r="http://schemas.openxmlformats.org/officeDocument/2006/relationships" id="266" r:id="R22fe4dca447b4ab6"/>
    <p:sldId xmlns:r="http://schemas.openxmlformats.org/officeDocument/2006/relationships" id="267" r:id="R560dbfd5f3da4b5c"/>
    <p:sldId xmlns:r="http://schemas.openxmlformats.org/officeDocument/2006/relationships" id="268" r:id="Rbb6cea45958c45f7"/>
    <p:sldId xmlns:r="http://schemas.openxmlformats.org/officeDocument/2006/relationships" id="269" r:id="Ra08c1f33fcae41f5"/>
    <p:sldId xmlns:r="http://schemas.openxmlformats.org/officeDocument/2006/relationships" id="270" r:id="Rcb1684c4bde24365"/>
    <p:sldId xmlns:r="http://schemas.openxmlformats.org/officeDocument/2006/relationships" id="271" r:id="Rf2cb923ed25249a5"/>
    <p:sldId xmlns:r="http://schemas.openxmlformats.org/officeDocument/2006/relationships" id="272" r:id="Rb84377b31b924636"/>
    <p:sldId xmlns:r="http://schemas.openxmlformats.org/officeDocument/2006/relationships" id="273" r:id="R7816ce9b370144d0"/>
    <p:sldId xmlns:r="http://schemas.openxmlformats.org/officeDocument/2006/relationships" id="274" r:id="Re549387287b243eb"/>
    <p:sldId xmlns:r="http://schemas.openxmlformats.org/officeDocument/2006/relationships" id="275" r:id="R44bda939a2cb466e"/>
    <p:sldId xmlns:r="http://schemas.openxmlformats.org/officeDocument/2006/relationships" id="276" r:id="Rf9b88301e5e34af9"/>
    <p:sldId xmlns:r="http://schemas.openxmlformats.org/officeDocument/2006/relationships" id="277" r:id="Re4b7e35ecc924efa"/>
    <p:sldId xmlns:r="http://schemas.openxmlformats.org/officeDocument/2006/relationships" id="278" r:id="R20892f004c5d409e"/>
    <p:sldId xmlns:r="http://schemas.openxmlformats.org/officeDocument/2006/relationships" id="279" r:id="R3415a08b21464067"/>
    <p:sldId xmlns:r="http://schemas.openxmlformats.org/officeDocument/2006/relationships" id="280" r:id="Re11294fea60643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25c8ef16624d70" /><Relationship Type="http://schemas.openxmlformats.org/officeDocument/2006/relationships/slideMaster" Target="/ppt/slideMasters/slideMaster1.xml" Id="Ra2d33867ad8b4880" /><Relationship Type="http://schemas.openxmlformats.org/officeDocument/2006/relationships/notesMaster" Target="/ppt/notesMasters/notesMaster1.xml" Id="R2af164b0e0bc4156" /><Relationship Type="http://schemas.openxmlformats.org/officeDocument/2006/relationships/presProps" Target="/ppt/presProps.xml" Id="R8f40438a056745f3" /><Relationship Type="http://schemas.openxmlformats.org/officeDocument/2006/relationships/tableStyles" Target="/ppt/tableStyles.xml" Id="R06f0ef564ecd471d" /><Relationship Type="http://schemas.openxmlformats.org/officeDocument/2006/relationships/slide" Target="/ppt/slides/slide1.xml" Id="R534d8c7d967c4295" /><Relationship Type="http://schemas.openxmlformats.org/officeDocument/2006/relationships/slide" Target="/ppt/slides/slide2.xml" Id="R7a4f78f462df4c66" /><Relationship Type="http://schemas.openxmlformats.org/officeDocument/2006/relationships/slide" Target="/ppt/slides/slide3.xml" Id="Reaf7d5ee85494cb8" /><Relationship Type="http://schemas.openxmlformats.org/officeDocument/2006/relationships/slide" Target="/ppt/slides/slide4.xml" Id="R31175525cde2465f" /><Relationship Type="http://schemas.openxmlformats.org/officeDocument/2006/relationships/slide" Target="/ppt/slides/slide5.xml" Id="R3a581a0d2a094d90" /><Relationship Type="http://schemas.openxmlformats.org/officeDocument/2006/relationships/slide" Target="/ppt/slides/slide6.xml" Id="Rd685d50c970d47c8" /><Relationship Type="http://schemas.openxmlformats.org/officeDocument/2006/relationships/slide" Target="/ppt/slides/slide7.xml" Id="R4e4e4bd7c2c94d1a" /><Relationship Type="http://schemas.openxmlformats.org/officeDocument/2006/relationships/slide" Target="/ppt/slides/slide8.xml" Id="Rc55895d4d31c436b" /><Relationship Type="http://schemas.openxmlformats.org/officeDocument/2006/relationships/slide" Target="/ppt/slides/slide9.xml" Id="R0b665230a9574c7e" /><Relationship Type="http://schemas.openxmlformats.org/officeDocument/2006/relationships/slide" Target="/ppt/slides/slide10.xml" Id="Rf87bab76447043e7" /><Relationship Type="http://schemas.openxmlformats.org/officeDocument/2006/relationships/slide" Target="/ppt/slides/slide11.xml" Id="R22fe4dca447b4ab6" /><Relationship Type="http://schemas.openxmlformats.org/officeDocument/2006/relationships/slide" Target="/ppt/slides/slide12.xml" Id="R560dbfd5f3da4b5c" /><Relationship Type="http://schemas.openxmlformats.org/officeDocument/2006/relationships/slide" Target="/ppt/slides/slide13.xml" Id="Rbb6cea45958c45f7" /><Relationship Type="http://schemas.openxmlformats.org/officeDocument/2006/relationships/slide" Target="/ppt/slides/slide14.xml" Id="Ra08c1f33fcae41f5" /><Relationship Type="http://schemas.openxmlformats.org/officeDocument/2006/relationships/slide" Target="/ppt/slides/slide15.xml" Id="Rcb1684c4bde24365" /><Relationship Type="http://schemas.openxmlformats.org/officeDocument/2006/relationships/slide" Target="/ppt/slides/slide16.xml" Id="Rf2cb923ed25249a5" /><Relationship Type="http://schemas.openxmlformats.org/officeDocument/2006/relationships/slide" Target="/ppt/slides/slide17.xml" Id="Rb84377b31b924636" /><Relationship Type="http://schemas.openxmlformats.org/officeDocument/2006/relationships/slide" Target="/ppt/slides/slide18.xml" Id="R7816ce9b370144d0" /><Relationship Type="http://schemas.openxmlformats.org/officeDocument/2006/relationships/slide" Target="/ppt/slides/slide19.xml" Id="Re549387287b243eb" /><Relationship Type="http://schemas.openxmlformats.org/officeDocument/2006/relationships/slide" Target="/ppt/slides/slide20.xml" Id="R44bda939a2cb466e" /><Relationship Type="http://schemas.openxmlformats.org/officeDocument/2006/relationships/slide" Target="/ppt/slides/slide21.xml" Id="Rf9b88301e5e34af9" /><Relationship Type="http://schemas.openxmlformats.org/officeDocument/2006/relationships/slide" Target="/ppt/slides/slide22.xml" Id="Re4b7e35ecc924efa" /><Relationship Type="http://schemas.openxmlformats.org/officeDocument/2006/relationships/slide" Target="/ppt/slides/slide23.xml" Id="R20892f004c5d409e" /><Relationship Type="http://schemas.openxmlformats.org/officeDocument/2006/relationships/slide" Target="/ppt/slides/slide24.xml" Id="R3415a08b21464067" /><Relationship Type="http://schemas.openxmlformats.org/officeDocument/2006/relationships/slide" Target="/ppt/slides/slide25.xml" Id="Re11294fea60643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a9a432cf247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73d2c6da604554" /><Relationship Type="http://schemas.openxmlformats.org/officeDocument/2006/relationships/notesMaster" Target="/ppt/notesMasters/notesMaster1.xml" Id="Ref351900155045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37136fa6fa4acf" /><Relationship Type="http://schemas.openxmlformats.org/officeDocument/2006/relationships/notesMaster" Target="/ppt/notesMasters/notesMaster1.xml" Id="R8cdc6641455e49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a0adea4626440d" /><Relationship Type="http://schemas.openxmlformats.org/officeDocument/2006/relationships/notesMaster" Target="/ppt/notesMasters/notesMaster1.xml" Id="Rc792450cb7fc41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3529e50a744e33" /><Relationship Type="http://schemas.openxmlformats.org/officeDocument/2006/relationships/notesMaster" Target="/ppt/notesMasters/notesMaster1.xml" Id="Re586ecfd551944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66c5f66d0449cd" /><Relationship Type="http://schemas.openxmlformats.org/officeDocument/2006/relationships/notesMaster" Target="/ppt/notesMasters/notesMaster1.xml" Id="Rbd83e228b54b49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2034a426244264" /><Relationship Type="http://schemas.openxmlformats.org/officeDocument/2006/relationships/notesMaster" Target="/ppt/notesMasters/notesMaster1.xml" Id="R9471ecd8b2cd4f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9ffa25791643a6" /><Relationship Type="http://schemas.openxmlformats.org/officeDocument/2006/relationships/notesMaster" Target="/ppt/notesMasters/notesMaster1.xml" Id="R3b1e426e24d849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084be8afed4398" /><Relationship Type="http://schemas.openxmlformats.org/officeDocument/2006/relationships/notesMaster" Target="/ppt/notesMasters/notesMaster1.xml" Id="Reeac6937340144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7fe125d82c44c7" /><Relationship Type="http://schemas.openxmlformats.org/officeDocument/2006/relationships/notesMaster" Target="/ppt/notesMasters/notesMaster1.xml" Id="Rd7fab1345f7e4d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93748bbcd845b8" /><Relationship Type="http://schemas.openxmlformats.org/officeDocument/2006/relationships/notesMaster" Target="/ppt/notesMasters/notesMaster1.xml" Id="R5e46570a052248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4c0bc13dc34b8b" /><Relationship Type="http://schemas.openxmlformats.org/officeDocument/2006/relationships/notesMaster" Target="/ppt/notesMasters/notesMaster1.xml" Id="R2f8ce0fdc33f43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579b33e8c643f4" /><Relationship Type="http://schemas.openxmlformats.org/officeDocument/2006/relationships/notesMaster" Target="/ppt/notesMasters/notesMaster1.xml" Id="R6af2a3af5e9f49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9ff69620d64a25" /><Relationship Type="http://schemas.openxmlformats.org/officeDocument/2006/relationships/notesMaster" Target="/ppt/notesMasters/notesMaster1.xml" Id="R01d62ca5ba984e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48a50b102c4f51" /><Relationship Type="http://schemas.openxmlformats.org/officeDocument/2006/relationships/notesMaster" Target="/ppt/notesMasters/notesMaster1.xml" Id="R6451d5bd39ce47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c73b7c14a34d84" /><Relationship Type="http://schemas.openxmlformats.org/officeDocument/2006/relationships/notesMaster" Target="/ppt/notesMasters/notesMaster1.xml" Id="R49defb8984164b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e92a02d9a44299" /><Relationship Type="http://schemas.openxmlformats.org/officeDocument/2006/relationships/notesMaster" Target="/ppt/notesMasters/notesMaster1.xml" Id="R14a9d6226b9342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797ac48bdd478c" /><Relationship Type="http://schemas.openxmlformats.org/officeDocument/2006/relationships/notesMaster" Target="/ppt/notesMasters/notesMaster1.xml" Id="R910d44ee4e1143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fd4e88ee324e39" /><Relationship Type="http://schemas.openxmlformats.org/officeDocument/2006/relationships/notesMaster" Target="/ppt/notesMasters/notesMaster1.xml" Id="R8ee210bbd9df49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e17af0e64549b2" /><Relationship Type="http://schemas.openxmlformats.org/officeDocument/2006/relationships/notesMaster" Target="/ppt/notesMasters/notesMaster1.xml" Id="R7b4b6f1c737343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8a298c03a78404f" /><Relationship Type="http://schemas.openxmlformats.org/officeDocument/2006/relationships/notesMaster" Target="/ppt/notesMasters/notesMaster1.xml" Id="Rfd5f3fa794c7483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be99c7947d14f2d" /><Relationship Type="http://schemas.openxmlformats.org/officeDocument/2006/relationships/notesMaster" Target="/ppt/notesMasters/notesMaster1.xml" Id="R28871bd6d6ac4bd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171fc7f89f44e91" /><Relationship Type="http://schemas.openxmlformats.org/officeDocument/2006/relationships/notesMaster" Target="/ppt/notesMasters/notesMaster1.xml" Id="R3b177f7c62a3487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d41ce3423ac492c" /><Relationship Type="http://schemas.openxmlformats.org/officeDocument/2006/relationships/notesMaster" Target="/ppt/notesMasters/notesMaster1.xml" Id="Rc00564e174804b6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21664a9084c4887" /><Relationship Type="http://schemas.openxmlformats.org/officeDocument/2006/relationships/notesMaster" Target="/ppt/notesMasters/notesMaster1.xml" Id="Rdb7ec66a9517460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d213c66c818458f" /><Relationship Type="http://schemas.openxmlformats.org/officeDocument/2006/relationships/notesMaster" Target="/ppt/notesMasters/notesMaster1.xml" Id="Rc3fec0b9b2a84e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50分钟。两次书面作答：工作坊目的、维护友情的真实经验。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导入3分钟。请学生找出海报标题“青年节特备活动”。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图文自读10分钟，依次看八种习惯。四个课本词义题穿插口头解释。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课本第一题第2小题。师生口头共构。</a:t>
            </a:r>
          </a:p>
          <a:p xmlns:a="http://schemas.openxmlformats.org/drawingml/2006/main">
            <a:r>
              <a:t>用自己的话解释下列词语。</a:t>
            </a:r>
          </a:p>
          <a:p xmlns:a="http://schemas.openxmlformats.org/drawingml/2006/main">
            <a:r>
              <a:t>开卷有益</a:t>
            </a:r>
          </a:p>
          <a:p xmlns:a="http://schemas.openxmlformats.org/drawingml/2006/main">
            <a:r>
              <a:t>参考：读书有好处。</a:t>
            </a:r>
          </a:p>
          <a:p xmlns:a="http://schemas.openxmlformats.org/drawingml/2006/main">
            <a:r>
              <a:t>解释：“卷”在这里指书。“有益”是有好处，不是必须读完某一整本书才算有益。</a:t>
            </a:r>
          </a:p>
          <a:p xmlns:a="http://schemas.openxmlformats.org/drawingml/2006/main">
            <a:r>
              <a:t>课堂口头核对，不自动评分。教师补充核心意思，不要求抄写。</a:t>
            </a:r>
          </a:p>
          <a:p xmlns:a="http://schemas.openxmlformats.org/drawingml/2006/main">
            <a:r>
              <a:t>常见误区：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课本第一题第2小题。师生口头共构。</a:t>
            </a:r>
          </a:p>
          <a:p xmlns:a="http://schemas.openxmlformats.org/drawingml/2006/main">
            <a:r>
              <a:t>用自己的话解释下列词语。</a:t>
            </a:r>
          </a:p>
          <a:p xmlns:a="http://schemas.openxmlformats.org/drawingml/2006/main">
            <a:r>
              <a:t>开卷有益</a:t>
            </a:r>
          </a:p>
          <a:p xmlns:a="http://schemas.openxmlformats.org/drawingml/2006/main">
            <a:r>
              <a:t>参考：读书有好处。</a:t>
            </a:r>
          </a:p>
          <a:p xmlns:a="http://schemas.openxmlformats.org/drawingml/2006/main">
            <a:r>
              <a:t>解释：“卷”在这里指书。“有益”是有好处，不是必须读完某一整本书才算有益。</a:t>
            </a:r>
          </a:p>
          <a:p xmlns:a="http://schemas.openxmlformats.org/drawingml/2006/main">
            <a:r>
              <a:t>课堂口头核对，不自动评分。教师补充核心意思，不要求抄写。</a:t>
            </a:r>
          </a:p>
          <a:p xmlns:a="http://schemas.openxmlformats.org/drawingml/2006/main">
            <a:r>
              <a:t>常见误区：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课本第一题第1小题。师生口头共构。</a:t>
            </a:r>
          </a:p>
          <a:p xmlns:a="http://schemas.openxmlformats.org/drawingml/2006/main">
            <a:r>
              <a:t>用自己的话解释下列词语。</a:t>
            </a:r>
          </a:p>
          <a:p xmlns:a="http://schemas.openxmlformats.org/drawingml/2006/main">
            <a:r>
              <a:t>坚持不懈</a:t>
            </a:r>
          </a:p>
          <a:p xmlns:a="http://schemas.openxmlformats.org/drawingml/2006/main">
            <a:r>
              <a:t>参考：坚持下去，不松懈、不轻易放弃。</a:t>
            </a:r>
          </a:p>
          <a:p xmlns:a="http://schemas.openxmlformats.org/drawingml/2006/main">
            <a:r>
              <a:t>解释：“滴水穿石”说明积累与坚持；不能只答“做得很快”。</a:t>
            </a:r>
          </a:p>
          <a:p xmlns:a="http://schemas.openxmlformats.org/drawingml/2006/main">
            <a:r>
              <a:t>课堂口头核对，不自动评分。教师补充核心意思，不要求抄写。</a:t>
            </a:r>
          </a:p>
          <a:p xmlns:a="http://schemas.openxmlformats.org/drawingml/2006/main">
            <a:r>
              <a:t>常见误区：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课本第一题第1小题。师生口头共构。</a:t>
            </a:r>
          </a:p>
          <a:p xmlns:a="http://schemas.openxmlformats.org/drawingml/2006/main">
            <a:r>
              <a:t>用自己的话解释下列词语。</a:t>
            </a:r>
          </a:p>
          <a:p xmlns:a="http://schemas.openxmlformats.org/drawingml/2006/main">
            <a:r>
              <a:t>坚持不懈</a:t>
            </a:r>
          </a:p>
          <a:p xmlns:a="http://schemas.openxmlformats.org/drawingml/2006/main">
            <a:r>
              <a:t>参考：坚持下去，不松懈、不轻易放弃。</a:t>
            </a:r>
          </a:p>
          <a:p xmlns:a="http://schemas.openxmlformats.org/drawingml/2006/main">
            <a:r>
              <a:t>解释：“滴水穿石”说明积累与坚持；不能只答“做得很快”。</a:t>
            </a:r>
          </a:p>
          <a:p xmlns:a="http://schemas.openxmlformats.org/drawingml/2006/main">
            <a:r>
              <a:t>课堂口头核对，不自动评分。教师补充核心意思，不要求抄写。</a:t>
            </a:r>
          </a:p>
          <a:p xmlns:a="http://schemas.openxmlformats.org/drawingml/2006/main">
            <a:r>
              <a:t>常见误区：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课本第一题第3小题。师生口头共构。</a:t>
            </a:r>
          </a:p>
          <a:p xmlns:a="http://schemas.openxmlformats.org/drawingml/2006/main">
            <a:r>
              <a:t>用自己的话解释下列词语。</a:t>
            </a:r>
          </a:p>
          <a:p xmlns:a="http://schemas.openxmlformats.org/drawingml/2006/main">
            <a:r>
              <a:t>一诺千金</a:t>
            </a:r>
          </a:p>
          <a:p xmlns:a="http://schemas.openxmlformats.org/drawingml/2006/main">
            <a:r>
              <a:t>参考：说话算数，信守承诺。</a:t>
            </a:r>
          </a:p>
          <a:p xmlns:a="http://schemas.openxmlformats.org/drawingml/2006/main">
            <a:r>
              <a:t>解释：“千金”形容承诺很有分量，不是说承诺一定涉及大笔金钱。</a:t>
            </a:r>
          </a:p>
          <a:p xmlns:a="http://schemas.openxmlformats.org/drawingml/2006/main">
            <a:r>
              <a:t>课堂口头核对，不自动评分。教师补充核心意思，不要求抄写。</a:t>
            </a:r>
          </a:p>
          <a:p xmlns:a="http://schemas.openxmlformats.org/drawingml/2006/main">
            <a:r>
              <a:t>常见误区：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课本第一题第3小题。师生口头共构。</a:t>
            </a:r>
          </a:p>
          <a:p xmlns:a="http://schemas.openxmlformats.org/drawingml/2006/main">
            <a:r>
              <a:t>用自己的话解释下列词语。</a:t>
            </a:r>
          </a:p>
          <a:p xmlns:a="http://schemas.openxmlformats.org/drawingml/2006/main">
            <a:r>
              <a:t>一诺千金</a:t>
            </a:r>
          </a:p>
          <a:p xmlns:a="http://schemas.openxmlformats.org/drawingml/2006/main">
            <a:r>
              <a:t>参考：说话算数，信守承诺。</a:t>
            </a:r>
          </a:p>
          <a:p xmlns:a="http://schemas.openxmlformats.org/drawingml/2006/main">
            <a:r>
              <a:t>解释：“千金”形容承诺很有分量，不是说承诺一定涉及大笔金钱。</a:t>
            </a:r>
          </a:p>
          <a:p xmlns:a="http://schemas.openxmlformats.org/drawingml/2006/main">
            <a:r>
              <a:t>课堂口头核对，不自动评分。教师补充核心意思，不要求抄写。</a:t>
            </a:r>
          </a:p>
          <a:p xmlns:a="http://schemas.openxmlformats.org/drawingml/2006/main">
            <a:r>
              <a:t>常见误区：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课本第二题第1小题。学生独立。</a:t>
            </a:r>
          </a:p>
          <a:p xmlns:a="http://schemas.openxmlformats.org/drawingml/2006/main">
            <a:r>
              <a:t>互动剧场有什么特别之处？</a:t>
            </a:r>
          </a:p>
          <a:p xmlns:a="http://schemas.openxmlformats.org/drawingml/2006/main">
            <a:r>
              <a:t>参考：观众不只是观看表演，也可以成为演员，参与帮助差不多先生改掉坏习惯。</a:t>
            </a:r>
          </a:p>
          <a:p xmlns:a="http://schemas.openxmlformats.org/drawingml/2006/main">
            <a:r>
              <a:t>解释：关键是观众角色的变化。课文写“你不只是观众，也是演员”；教参进一步指出观众能够影响剧情的发展。</a:t>
            </a:r>
          </a:p>
          <a:p xmlns:a="http://schemas.openxmlformats.org/drawingml/2006/main">
            <a:r>
              <a:t>客观点选1项。教学参考点：观众也能当演员；参与改变人物行为或剧情。</a:t>
            </a:r>
          </a:p>
          <a:p xmlns:a="http://schemas.openxmlformats.org/drawingml/2006/main">
            <a:r>
              <a:t>常见误区：只说新颖、有趣，未说明新颖在哪里。</a:t>
            </a:r>
          </a:p>
          <a:p xmlns:a="http://schemas.openxmlformats.org/drawingml/2006/main">
            <a:r>
              <a:t>本环节8分钟，点选后请学生口头连成完整回答。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课本第二题第1小题。学生独立。</a:t>
            </a:r>
          </a:p>
          <a:p xmlns:a="http://schemas.openxmlformats.org/drawingml/2006/main">
            <a:r>
              <a:t>互动剧场有什么特别之处？</a:t>
            </a:r>
          </a:p>
          <a:p xmlns:a="http://schemas.openxmlformats.org/drawingml/2006/main">
            <a:r>
              <a:t>参考：观众不只是观看表演，也可以成为演员，参与帮助差不多先生改掉坏习惯。</a:t>
            </a:r>
          </a:p>
          <a:p xmlns:a="http://schemas.openxmlformats.org/drawingml/2006/main">
            <a:r>
              <a:t>解释：关键是观众角色的变化。课文写“你不只是观众，也是演员”；教参进一步指出观众能够影响剧情的发展。</a:t>
            </a:r>
          </a:p>
          <a:p xmlns:a="http://schemas.openxmlformats.org/drawingml/2006/main">
            <a:r>
              <a:t>客观点选1项。教学参考点：观众也能当演员；参与改变人物行为或剧情。</a:t>
            </a:r>
          </a:p>
          <a:p xmlns:a="http://schemas.openxmlformats.org/drawingml/2006/main">
            <a:r>
              <a:t>常见误区：只说新颖、有趣，未说明新颖在哪里。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课本第一题第4小题。师生口头共构。</a:t>
            </a:r>
          </a:p>
          <a:p xmlns:a="http://schemas.openxmlformats.org/drawingml/2006/main">
            <a:r>
              <a:t>用自己的话解释下列词语。</a:t>
            </a:r>
          </a:p>
          <a:p xmlns:a="http://schemas.openxmlformats.org/drawingml/2006/main">
            <a:r>
              <a:t>一帆风顺</a:t>
            </a:r>
          </a:p>
          <a:p xmlns:a="http://schemas.openxmlformats.org/drawingml/2006/main">
            <a:r>
              <a:t>参考：非常顺利，没有阻碍或挫折。这里希望朋友相处顺利。</a:t>
            </a:r>
          </a:p>
          <a:p xmlns:a="http://schemas.openxmlformats.org/drawingml/2006/main">
            <a:r>
              <a:t>解释：海报把友谊比作小船，借航行顺利表达朋友相处顺利的愿望。不能理解成真的一起坐船。</a:t>
            </a:r>
          </a:p>
          <a:p xmlns:a="http://schemas.openxmlformats.org/drawingml/2006/main">
            <a:r>
              <a:t>课堂口头核对，不自动评分。</a:t>
            </a:r>
          </a:p>
          <a:p xmlns:a="http://schemas.openxmlformats.org/drawingml/2006/main">
            <a:r>
              <a:t>常见误区：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课本第一题第4小题。师生口头共构。</a:t>
            </a:r>
          </a:p>
          <a:p xmlns:a="http://schemas.openxmlformats.org/drawingml/2006/main">
            <a:r>
              <a:t>用自己的话解释下列词语。</a:t>
            </a:r>
          </a:p>
          <a:p xmlns:a="http://schemas.openxmlformats.org/drawingml/2006/main">
            <a:r>
              <a:t>一帆风顺</a:t>
            </a:r>
          </a:p>
          <a:p xmlns:a="http://schemas.openxmlformats.org/drawingml/2006/main">
            <a:r>
              <a:t>参考：非常顺利，没有阻碍或挫折。这里希望朋友相处顺利。</a:t>
            </a:r>
          </a:p>
          <a:p xmlns:a="http://schemas.openxmlformats.org/drawingml/2006/main">
            <a:r>
              <a:t>解释：海报把友谊比作小船，借航行顺利表达朋友相处顺利的愿望。不能理解成真的一起坐船。</a:t>
            </a:r>
          </a:p>
          <a:p xmlns:a="http://schemas.openxmlformats.org/drawingml/2006/main">
            <a:r>
              <a:t>课堂口头核对，不自动评分。</a:t>
            </a:r>
          </a:p>
          <a:p xmlns:a="http://schemas.openxmlformats.org/drawingml/2006/main">
            <a:r>
              <a:t>常见误区：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课本《阅读放大镜》。学生独立。</a:t>
            </a:r>
          </a:p>
          <a:p xmlns:a="http://schemas.openxmlformats.org/drawingml/2006/main">
            <a:r>
              <a:t>举办工作坊的目的是什么？</a:t>
            </a:r>
          </a:p>
          <a:p xmlns:a="http://schemas.openxmlformats.org/drawingml/2006/main">
            <a:r>
              <a:t>参考：让参与者学习如何培养良好的习惯，掌握人际交往的有效策略。</a:t>
            </a:r>
          </a:p>
          <a:p xmlns:a="http://schemas.openxmlformats.org/drawingml/2006/main">
            <a:r>
              <a:t>解释：题目问举办活动希望达到什么目标，要包括“培养良好习惯”和“掌握交往策略”两方面。日期、地点和嘉宾不回答目的。</a:t>
            </a:r>
          </a:p>
          <a:p xmlns:a="http://schemas.openxmlformats.org/drawingml/2006/main">
            <a:r>
              <a:t>教师参考2点：培养良好习惯1点；掌握人际交往的有效策略1点。各点独立，不自动批改。</a:t>
            </a:r>
          </a:p>
          <a:p xmlns:a="http://schemas.openxmlformats.org/drawingml/2006/main">
            <a:r>
              <a:t>常见误区：只答“成为人气王”过于笼统；抄日期、地点属于答非所问。</a:t>
            </a:r>
          </a:p>
          <a:p xmlns:a="http://schemas.openxmlformats.org/drawingml/2006/main">
            <a:r>
              <a:t>第一次书面作答。工作坊环节共13分钟。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课本《阅读放大镜》。学生独立。</a:t>
            </a:r>
          </a:p>
          <a:p xmlns:a="http://schemas.openxmlformats.org/drawingml/2006/main">
            <a:r>
              <a:t>举办工作坊的目的是什么？</a:t>
            </a:r>
          </a:p>
          <a:p xmlns:a="http://schemas.openxmlformats.org/drawingml/2006/main">
            <a:r>
              <a:t>参考：让参与者学习如何培养良好的习惯，掌握人际交往的有效策略。</a:t>
            </a:r>
          </a:p>
          <a:p xmlns:a="http://schemas.openxmlformats.org/drawingml/2006/main">
            <a:r>
              <a:t>解释：题目问举办活动希望达到什么目标，要包括“培养良好习惯”和“掌握交往策略”两方面。日期、地点和嘉宾不回答目的。</a:t>
            </a:r>
          </a:p>
          <a:p xmlns:a="http://schemas.openxmlformats.org/drawingml/2006/main">
            <a:r>
              <a:t>教师参考2点：培养良好习惯1点；掌握人际交往的有效策略1点。各点独立，不自动批改。</a:t>
            </a:r>
          </a:p>
          <a:p xmlns:a="http://schemas.openxmlformats.org/drawingml/2006/main">
            <a:r>
              <a:t>常见误区：只答“成为人气王”过于笼统；抄日期、地点属于答非所问。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课本《阅读放大镜》。学生独立。</a:t>
            </a:r>
          </a:p>
          <a:p xmlns:a="http://schemas.openxmlformats.org/drawingml/2006/main">
            <a:r>
              <a:t>举办工作坊的目的是什么？</a:t>
            </a:r>
          </a:p>
          <a:p xmlns:a="http://schemas.openxmlformats.org/drawingml/2006/main">
            <a:r>
              <a:t>参考：让参与者学习如何培养良好的习惯，掌握人际交往的有效策略。</a:t>
            </a:r>
          </a:p>
          <a:p xmlns:a="http://schemas.openxmlformats.org/drawingml/2006/main">
            <a:r>
              <a:t>解释：题目问举办活动希望达到什么目标，要包括“培养良好习惯”和“掌握交往策略”两方面。日期、地点和嘉宾不回答目的。</a:t>
            </a:r>
          </a:p>
          <a:p xmlns:a="http://schemas.openxmlformats.org/drawingml/2006/main">
            <a:r>
              <a:t>教师参考2点：培养良好习惯1点；掌握人际交往的有效策略1点。各点独立，不自动批改。</a:t>
            </a:r>
          </a:p>
          <a:p xmlns:a="http://schemas.openxmlformats.org/drawingml/2006/main">
            <a:r>
              <a:t>常见误区：只答“成为人气王”过于笼统；抄日期、地点属于答非所问。</a:t>
            </a:r>
          </a:p>
          <a:p xmlns:a="http://schemas.openxmlformats.org/drawingml/2006/main">
            <a:r>
              <a:t>前两项为核心意义点，最后一句说明联系。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课本《阅读放大镜》。学生独立。</a:t>
            </a:r>
          </a:p>
          <a:p xmlns:a="http://schemas.openxmlformats.org/drawingml/2006/main">
            <a:r>
              <a:t>工作坊适合哪些人参加？</a:t>
            </a:r>
          </a:p>
          <a:p xmlns:a="http://schemas.openxmlformats.org/drawingml/2006/main">
            <a:r>
              <a:t>参考：适合想了解如何维护友情、怎样更好地处理朋友之间关系的青年参加。</a:t>
            </a:r>
          </a:p>
          <a:p xmlns:a="http://schemas.openxmlformats.org/drawingml/2006/main">
            <a:r>
              <a:t>解释：用海报的“如何避免言语不当造成的尴尬”“如何维护友情”定位需要；结合青年节活动判断对象。不是所有活动都适合完全相同的需要。</a:t>
            </a:r>
          </a:p>
          <a:p xmlns:a="http://schemas.openxmlformats.org/drawingml/2006/main">
            <a:r>
              <a:t>客观点选1项；教师口头追问为何适合。</a:t>
            </a:r>
          </a:p>
          <a:p xmlns:a="http://schemas.openxmlformats.org/drawingml/2006/main">
            <a:r>
              <a:t>常见误区：只答“青年”不完整；把高级辅导员误当作参加对象。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课本《阅读放大镜》。学生独立。</a:t>
            </a:r>
          </a:p>
          <a:p xmlns:a="http://schemas.openxmlformats.org/drawingml/2006/main">
            <a:r>
              <a:t>工作坊适合哪些人参加？</a:t>
            </a:r>
          </a:p>
          <a:p xmlns:a="http://schemas.openxmlformats.org/drawingml/2006/main">
            <a:r>
              <a:t>参考：适合想了解如何维护友情、怎样更好地处理朋友之间关系的青年参加。</a:t>
            </a:r>
          </a:p>
          <a:p xmlns:a="http://schemas.openxmlformats.org/drawingml/2006/main">
            <a:r>
              <a:t>解释：用海报的“如何避免言语不当造成的尴尬”“如何维护友情”定位需要；结合青年节活动判断对象。不是所有活动都适合完全相同的需要。</a:t>
            </a:r>
          </a:p>
          <a:p xmlns:a="http://schemas.openxmlformats.org/drawingml/2006/main">
            <a:r>
              <a:t>客观点选1项；教师口头追问为何适合。</a:t>
            </a:r>
          </a:p>
          <a:p xmlns:a="http://schemas.openxmlformats.org/drawingml/2006/main">
            <a:r>
              <a:t>常见误区：只答“青年”不完整；把高级辅导员误当作参加对象。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两项活动地点均为欢乐民众俱乐部礼堂。资料仅用于课本阅读，不是现实活动通知。活动与报名资料共4分钟。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课本《阅读放大镜》。学生独立。</a:t>
            </a:r>
          </a:p>
          <a:p xmlns:a="http://schemas.openxmlformats.org/drawingml/2006/main">
            <a:r>
              <a:t>如何报名参加青年节特备活动？</a:t>
            </a:r>
          </a:p>
          <a:p xmlns:a="http://schemas.openxmlformats.org/drawingml/2006/main">
            <a:r>
              <a:t>参考：到海报列出的报名网站 www.huanlecommunity.com.sg 报名。</a:t>
            </a:r>
          </a:p>
          <a:p xmlns:a="http://schemas.openxmlformats.org/drawingml/2006/main">
            <a:r>
              <a:t>解释：先找“报名网站”标签，再读它后面的信息。两项活动的日期和时段不同，地点相同。网址只作教材阅读资料。</a:t>
            </a:r>
          </a:p>
          <a:p xmlns:a="http://schemas.openxmlformats.org/drawingml/2006/main">
            <a:r>
              <a:t>客观点选1项；完整答法应写到海报报名网站。</a:t>
            </a:r>
          </a:p>
          <a:p xmlns:a="http://schemas.openxmlformats.org/drawingml/2006/main">
            <a:r>
              <a:t>常见误区：臆造电话、收费、截止日期或报名柜台。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课本《阅读放大镜》。学生独立。</a:t>
            </a:r>
          </a:p>
          <a:p xmlns:a="http://schemas.openxmlformats.org/drawingml/2006/main">
            <a:r>
              <a:t>如何报名参加青年节特备活动？</a:t>
            </a:r>
          </a:p>
          <a:p xmlns:a="http://schemas.openxmlformats.org/drawingml/2006/main">
            <a:r>
              <a:t>参考：到海报列出的报名网站 www.huanlecommunity.com.sg 报名。</a:t>
            </a:r>
          </a:p>
          <a:p xmlns:a="http://schemas.openxmlformats.org/drawingml/2006/main">
            <a:r>
              <a:t>解释：先找“报名网站”标签，再读它后面的信息。两项活动的日期和时段不同，地点相同。网址只作教材阅读资料。</a:t>
            </a:r>
          </a:p>
          <a:p xmlns:a="http://schemas.openxmlformats.org/drawingml/2006/main">
            <a:r>
              <a:t>客观点选1项；完整答法应写到海报报名网站。</a:t>
            </a:r>
          </a:p>
          <a:p xmlns:a="http://schemas.openxmlformats.org/drawingml/2006/main">
            <a:r>
              <a:t>常见误区：臆造电话、收费、截止日期或报名柜台。</a:t>
            </a:r>
          </a:p>
          <a:p xmlns:a="http://schemas.openxmlformats.org/drawingml/2006/main">
            <a:r>
              <a:t>课本写此网址，教参与漫画第32格另写www.huanleminzhongjulebu.com.sg。答题遵照课本，原漫画保持不变。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课本第三题；“为什么”是答题支架。学生独立。</a:t>
            </a:r>
          </a:p>
          <a:p xmlns:a="http://schemas.openxmlformats.org/drawingml/2006/main">
            <a:r>
              <a:t>你是怎么维护友情的？和同学分享你的经验。</a:t>
            </a:r>
          </a:p>
          <a:p xmlns:a="http://schemas.openxmlformats.org/drawingml/2006/main">
            <a:r>
              <a:t>参考：示例：我会先听朋友解释，再表达自己的想法。一次我们做小组作业时意见不同，我先问清他的理由，再一起调整分工。这样能减少误会，也让朋友感到被尊重，所以有助于维护友情。</a:t>
            </a:r>
          </a:p>
          <a:p xmlns:a="http://schemas.openxmlformats.org/drawingml/2006/main">
            <a:r>
              <a:t>解释：写自己的真实经历。把“我做了什么”与“为什么有帮助”连起来；不能只写友谊很重要，也不要求采用示例的做法。</a:t>
            </a:r>
          </a:p>
          <a:p xmlns:a="http://schemas.openxmlformats.org/drawingml/2006/main">
            <a:r>
              <a:t>教师参考3项：具体做法；真实且相关的个人经历；解释做法如何帮助友情。每项可评“完整／待补充”，不自动打分。</a:t>
            </a:r>
          </a:p>
          <a:p xmlns:a="http://schemas.openxmlformats.org/drawingml/2006/main">
            <a:r>
              <a:t>常见误区：只写“要友善”；只讲故事没有解释；照抄示例当作自己的经历。</a:t>
            </a:r>
          </a:p>
          <a:p xmlns:a="http://schemas.openxmlformats.org/drawingml/2006/main">
            <a:r>
              <a:t>必做开放题9分钟。第二次书面作答，先独立写再分享。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课本第三题；“为什么”是答题支架。学生独立。</a:t>
            </a:r>
          </a:p>
          <a:p xmlns:a="http://schemas.openxmlformats.org/drawingml/2006/main">
            <a:r>
              <a:t>你是怎么维护友情的？和同学分享你的经验。</a:t>
            </a:r>
          </a:p>
          <a:p xmlns:a="http://schemas.openxmlformats.org/drawingml/2006/main">
            <a:r>
              <a:t>参考：示例：我会先听朋友解释，再表达自己的想法。一次我们做小组作业时意见不同，我先问清他的理由，再一起调整分工。这样能减少误会，也让朋友感到被尊重，所以有助于维护友情。</a:t>
            </a:r>
          </a:p>
          <a:p xmlns:a="http://schemas.openxmlformats.org/drawingml/2006/main">
            <a:r>
              <a:t>解释：写自己的真实经历。把“我做了什么”与“为什么有帮助”连起来；不能只写友谊很重要，也不要求采用示例的做法。</a:t>
            </a:r>
          </a:p>
          <a:p xmlns:a="http://schemas.openxmlformats.org/drawingml/2006/main">
            <a:r>
              <a:t>教师参考3项：具体做法；真实且相关的个人经历；解释做法如何帮助友情。每项可评“完整／待补充”，不自动打分。</a:t>
            </a:r>
          </a:p>
          <a:p xmlns:a="http://schemas.openxmlformats.org/drawingml/2006/main">
            <a:r>
              <a:t>常见误区：只写“要友善”；只讲故事没有解释；照抄示例当作自己的经历。</a:t>
            </a:r>
          </a:p>
          <a:p xmlns:a="http://schemas.openxmlformats.org/drawingml/2006/main">
            <a:r>
              <a:t>如学生没有想到经历，先请他回想一次误会、合作或兑现承诺的事，不额外增加写作题。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课本第三题；“为什么”是答题支架。学生独立。</a:t>
            </a:r>
          </a:p>
          <a:p xmlns:a="http://schemas.openxmlformats.org/drawingml/2006/main">
            <a:r>
              <a:t>你是怎么维护友情的？和同学分享你的经验。</a:t>
            </a:r>
          </a:p>
          <a:p xmlns:a="http://schemas.openxmlformats.org/drawingml/2006/main">
            <a:r>
              <a:t>参考：示例：我会先听朋友解释，再表达自己的想法。一次我们做小组作业时意见不同，我先问清他的理由，再一起调整分工。这样能减少误会，也让朋友感到被尊重，所以有助于维护友情。</a:t>
            </a:r>
          </a:p>
          <a:p xmlns:a="http://schemas.openxmlformats.org/drawingml/2006/main">
            <a:r>
              <a:t>解释：写自己的真实经历。把“我做了什么”与“为什么有帮助”连起来；不能只写友谊很重要，也不要求采用示例的做法。</a:t>
            </a:r>
          </a:p>
          <a:p xmlns:a="http://schemas.openxmlformats.org/drawingml/2006/main">
            <a:r>
              <a:t>教师参考3项：具体做法；真实且相关的个人经历；解释做法如何帮助友情。每项可评“完整／待补充”，不自动打分。</a:t>
            </a:r>
          </a:p>
          <a:p xmlns:a="http://schemas.openxmlformats.org/drawingml/2006/main">
            <a:r>
              <a:t>常见误区：只写“要友善”；只讲故事没有解释；照抄示例当作自己的经历。</a:t>
            </a:r>
          </a:p>
          <a:p xmlns:a="http://schemas.openxmlformats.org/drawingml/2006/main">
            <a:r>
              <a:t>此例仅示范解释联系，学生须写自己的经历。不是唯一答案。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单元四 生活空间《培养好习惯》</a:t>
            </a:r>
          </a:p>
          <a:p xmlns:a="http://schemas.openxmlformats.org/drawingml/2006/main">
            <a:r>
              <a:t>来源：教师所附课本、教学参考及四页原漫画。漫画情节辅助理解，海报事实以课本原图为准。</a:t>
            </a:r>
          </a:p>
          <a:p xmlns:a="http://schemas.openxmlformats.org/drawingml/2006/main">
            <a:r>
              <a:t>最后3分钟。保留首次回答后订正，导出学习记录。旧词语页是按需巩固，不要求全班再完成整套。主观题由教师覆核。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d1a35ecbb43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6ac71fc9842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8c7e4fe3e45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df8b58db949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dd070ac20c4b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bea926f3bf4b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F703C7-F4AF-4615-A696-378FB803FB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BCD221-29F1-46CF-A2FC-311F6BF626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87B42F-A378-4910-91A5-5FBE90DA9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9A4014-D357-4F49-9F5B-0272DAE7D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1809AF-B327-492C-8F47-459EB9FFF0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559534-312D-410B-B51C-DA214BD28B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C94F2E-29D3-4D07-9924-DBBC2B5595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F5AC44-9613-4142-A2CC-55E528DBF0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9C2D80-91C0-4F9C-AE21-52563C1EC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DC7B96-E5C7-4A6B-99D5-0EFF8C6A95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747523cfa24998" /><Relationship Type="http://schemas.openxmlformats.org/officeDocument/2006/relationships/slideLayout" Target="/ppt/slideLayouts/slideLayout1.xml" Id="R06f52bcb63a446ab" /><Relationship Type="http://schemas.openxmlformats.org/officeDocument/2006/relationships/slideLayout" Target="/ppt/slideLayouts/slideLayout2.xml" Id="R4ea9a54fea1c4a7f" /><Relationship Type="http://schemas.openxmlformats.org/officeDocument/2006/relationships/slideLayout" Target="/ppt/slideLayouts/slideLayout3.xml" Id="R355ea8f349d84dcd" /><Relationship Type="http://schemas.openxmlformats.org/officeDocument/2006/relationships/slideLayout" Target="/ppt/slideLayouts/slideLayout4.xml" Id="Ra6a04791fdb140a3" /><Relationship Type="http://schemas.openxmlformats.org/officeDocument/2006/relationships/slideLayout" Target="/ppt/slideLayouts/slideLayout5.xml" Id="Rbcbc483ba1cf4742" /><Relationship Type="http://schemas.openxmlformats.org/officeDocument/2006/relationships/slideLayout" Target="/ppt/slideLayouts/slideLayout6.xml" Id="Rcf4d514a22cf45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f52bcb63a446ab"/>
    <p:sldLayoutId xmlns:r="http://schemas.openxmlformats.org/officeDocument/2006/relationships" id="2147483650" r:id="R4ea9a54fea1c4a7f"/>
    <p:sldLayoutId xmlns:r="http://schemas.openxmlformats.org/officeDocument/2006/relationships" id="2147483651" r:id="R355ea8f349d84dcd"/>
    <p:sldLayoutId xmlns:r="http://schemas.openxmlformats.org/officeDocument/2006/relationships" id="2147483652" r:id="Ra6a04791fdb140a3"/>
    <p:sldLayoutId xmlns:r="http://schemas.openxmlformats.org/officeDocument/2006/relationships" id="2147483653" r:id="Rbcbc483ba1cf4742"/>
    <p:sldLayoutId xmlns:r="http://schemas.openxmlformats.org/officeDocument/2006/relationships" id="2147483654" r:id="Rcf4d514a22cf45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8ef9b92654c05" /><Relationship Type="http://schemas.openxmlformats.org/officeDocument/2006/relationships/image" Target="/ppt/media/image.png" Id="Rc469011db8144df9" /><Relationship Type="http://schemas.openxmlformats.org/officeDocument/2006/relationships/notesSlide" Target="/ppt/notesSlides/notesSlide1.xml" Id="R4267ecd7e05242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dd671c32f4661" /><Relationship Type="http://schemas.openxmlformats.org/officeDocument/2006/relationships/notesSlide" Target="/ppt/notesSlides/notesSlide2.xml" Id="R0b12043f6f7b48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96385b49a4e6f" /><Relationship Type="http://schemas.openxmlformats.org/officeDocument/2006/relationships/notesSlide" Target="/ppt/notesSlides/notesSlide3.xml" Id="Rbc0862a467bc41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91585ddc644b8" /><Relationship Type="http://schemas.openxmlformats.org/officeDocument/2006/relationships/image" Target="/ppt/media/image2.png" Id="R81ef3b8c671242c3" /><Relationship Type="http://schemas.openxmlformats.org/officeDocument/2006/relationships/notesSlide" Target="/ppt/notesSlides/notesSlide4.xml" Id="Ra4815077b0134e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8ba9f59738484b" /><Relationship Type="http://schemas.openxmlformats.org/officeDocument/2006/relationships/notesSlide" Target="/ppt/notesSlides/notesSlide5.xml" Id="Rcb252444f02c4d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2599cc2fe4226" /><Relationship Type="http://schemas.openxmlformats.org/officeDocument/2006/relationships/image" Target="/ppt/media/image3.png" Id="R56f8e491a60d4038" /><Relationship Type="http://schemas.openxmlformats.org/officeDocument/2006/relationships/notesSlide" Target="/ppt/notesSlides/notesSlide6.xml" Id="Rf6eab8fe9e494e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d16cd704e47d2" /><Relationship Type="http://schemas.openxmlformats.org/officeDocument/2006/relationships/notesSlide" Target="/ppt/notesSlides/notesSlide7.xml" Id="R226d8860f28d4a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2cea097004722" /><Relationship Type="http://schemas.openxmlformats.org/officeDocument/2006/relationships/image" Target="/ppt/media/image4.png" Id="Ra62542371e264523" /><Relationship Type="http://schemas.openxmlformats.org/officeDocument/2006/relationships/notesSlide" Target="/ppt/notesSlides/notesSlide8.xml" Id="Rfd253ff1198146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15c753acf41c3" /><Relationship Type="http://schemas.openxmlformats.org/officeDocument/2006/relationships/notesSlide" Target="/ppt/notesSlides/notesSlide9.xml" Id="R2659479b5a594b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3fdcce11924881" /><Relationship Type="http://schemas.openxmlformats.org/officeDocument/2006/relationships/image" Target="/ppt/media/image5.png" Id="Re14688912dcd413c" /><Relationship Type="http://schemas.openxmlformats.org/officeDocument/2006/relationships/notesSlide" Target="/ppt/notesSlides/notesSlide10.xml" Id="R8e8211a349424a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9bed409454cd4" /><Relationship Type="http://schemas.openxmlformats.org/officeDocument/2006/relationships/notesSlide" Target="/ppt/notesSlides/notesSlide11.xml" Id="Rfdb0aeb3036e4e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2fbb10e724ae9" /><Relationship Type="http://schemas.openxmlformats.org/officeDocument/2006/relationships/image" Target="/ppt/media/image6.png" Id="R9f8c06ed8bce49b4" /><Relationship Type="http://schemas.openxmlformats.org/officeDocument/2006/relationships/notesSlide" Target="/ppt/notesSlides/notesSlide12.xml" Id="R0cefbbdbe46f49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ef4e8e9d94de0" /><Relationship Type="http://schemas.openxmlformats.org/officeDocument/2006/relationships/notesSlide" Target="/ppt/notesSlides/notesSlide13.xml" Id="R1c95822cc5ec4f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0b983547b4f2b" /><Relationship Type="http://schemas.openxmlformats.org/officeDocument/2006/relationships/notesSlide" Target="/ppt/notesSlides/notesSlide14.xml" Id="R295349bf7d9743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a457117db141da" /><Relationship Type="http://schemas.openxmlformats.org/officeDocument/2006/relationships/notesSlide" Target="/ppt/notesSlides/notesSlide15.xml" Id="Rd5bcd3c907374b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ed6757799d401d" /><Relationship Type="http://schemas.openxmlformats.org/officeDocument/2006/relationships/notesSlide" Target="/ppt/notesSlides/notesSlide16.xml" Id="Ref431babff6546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2730b9ce249bf" /><Relationship Type="http://schemas.openxmlformats.org/officeDocument/2006/relationships/notesSlide" Target="/ppt/notesSlides/notesSlide17.xml" Id="R5b2e1ee124f74b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4b2801e314f84" /><Relationship Type="http://schemas.openxmlformats.org/officeDocument/2006/relationships/notesSlide" Target="/ppt/notesSlides/notesSlide18.xml" Id="Reeaec59b562a4e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7deae61a844798" /><Relationship Type="http://schemas.openxmlformats.org/officeDocument/2006/relationships/notesSlide" Target="/ppt/notesSlides/notesSlide19.xml" Id="Rb4c38e30a5a744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9ea2eefcd4a74" /><Relationship Type="http://schemas.openxmlformats.org/officeDocument/2006/relationships/notesSlide" Target="/ppt/notesSlides/notesSlide20.xml" Id="R022cc7da792f42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397d6d8f24078" /><Relationship Type="http://schemas.openxmlformats.org/officeDocument/2006/relationships/notesSlide" Target="/ppt/notesSlides/notesSlide21.xml" Id="R5358126cc43b477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a4a166f494083" /><Relationship Type="http://schemas.openxmlformats.org/officeDocument/2006/relationships/notesSlide" Target="/ppt/notesSlides/notesSlide22.xml" Id="R4906647310034dd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2fcb5ac8c4316" /><Relationship Type="http://schemas.openxmlformats.org/officeDocument/2006/relationships/notesSlide" Target="/ppt/notesSlides/notesSlide23.xml" Id="Rfda456ec48d44b1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cf82bf8924785" /><Relationship Type="http://schemas.openxmlformats.org/officeDocument/2006/relationships/notesSlide" Target="/ppt/notesSlides/notesSlide24.xml" Id="R7a0454bad2b6457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ed9229763485e" /><Relationship Type="http://schemas.openxmlformats.org/officeDocument/2006/relationships/notesSlide" Target="/ppt/notesSlides/notesSlide25.xml" Id="R2073ab84106841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9BB6D9E-C590-4A28-A018-FA889877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培养好习惯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71FE848-B2BB-4B73-9A00-B317D88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5B5FD-EE5E-4C18-97D7-B9F0812612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9011db8144df9"/>
          <a:stretch xmlns:a="http://schemas.openxmlformats.org/drawingml/2006/main"/>
        </p:blipFill>
        <p:spPr>
          <a:xfrm xmlns:a="http://schemas.openxmlformats.org/drawingml/2006/main">
            <a:off x="619125" y="1750748"/>
            <a:ext cx="6667500" cy="4061354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B492F2A-F692-4B6A-91FD-5535D020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中一高级华文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F3760CD-0B5A-4789-82E7-2B0E67A7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3372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单元四 生活空间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0A4E879-1149-4772-ABBF-E9F8D8C5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一课时</a:t>
            </a:r>
          </a:p>
        </p:txBody>
      </p:sp>
    </p:spTree>
    <p:extLst>
      <p:ext uri="{BB962C8B-B14F-4D97-AF65-F5344CB8AC3E}">
        <p14:creationId xmlns:p14="http://schemas.microsoft.com/office/powerpoint/2010/main" val="2118684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BBD3140-F553-40FE-9572-A582A88A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海报阅读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8FE0E30-E566-4758-BE2F-8109C8CE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8C9B743-E676-46A6-AC69-19B27B6B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标题告诉我们介绍什么。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09523F-E33B-445B-98B2-40A73A59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小标题帮助我们找到对应活动。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C8D5323-D306-430A-9DEC-A39F440D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日期、时间、地点和报名方式要分清。</a:t>
            </a:r>
          </a:p>
        </p:txBody>
      </p:sp>
    </p:spTree>
    <p:extLst>
      <p:ext uri="{BB962C8B-B14F-4D97-AF65-F5344CB8AC3E}">
        <p14:creationId xmlns:p14="http://schemas.microsoft.com/office/powerpoint/2010/main" val="1846269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DA77FAFA-9681-4421-B456-A9E971F6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八种好习惯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3D03346-62B1-4A55-BE8C-80340037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EC8972-B6B6-425C-AB26-DD2B8472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1  守时惜时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E002273-6B98-4B6B-AE40-AF4D5051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2  勤于阅读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C08D115-6F2C-41DD-9F60-A64831CE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3  坚持不懈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95F8D8A-CAE5-4252-B270-73898292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4  信守诺言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FCA488D-B679-4770-90CC-2A77DCD6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5  健康生活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DBC201C-B0C0-42E2-9849-BA7E5EB9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1000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6  制定计划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69C3D3C-E52F-4842-9CB7-94D76F8A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7  为人诚实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961EE16-A817-48FE-85FB-22A22308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8  以礼待人</a:t>
            </a:r>
          </a:p>
        </p:txBody>
      </p:sp>
    </p:spTree>
    <p:extLst>
      <p:ext uri="{BB962C8B-B14F-4D97-AF65-F5344CB8AC3E}">
        <p14:creationId xmlns:p14="http://schemas.microsoft.com/office/powerpoint/2010/main" val="7557177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3188544-844A-42DE-92C9-31859F9D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开卷有益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8392EF8-E132-43A3-9A7A-6A9AA33D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E5FC1-07FD-42C0-B363-F9850133A8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f3b8c671242c3"/>
          <a:stretch xmlns:a="http://schemas.openxmlformats.org/drawingml/2006/main"/>
        </p:blipFill>
        <p:spPr>
          <a:xfrm xmlns:a="http://schemas.openxmlformats.org/drawingml/2006/main">
            <a:off x="709613" y="1619250"/>
            <a:ext cx="6486525" cy="43243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5643425-B3B5-45A4-B9B4-571C539F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用自己的话解释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C2E1AB0-7947-4D9F-B153-6CDF2636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3372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“开卷有益”。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7A3B30E-159F-4B99-B3FF-F64AB9D5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读书带来什么？</a:t>
            </a:r>
          </a:p>
        </p:txBody>
      </p:sp>
    </p:spTree>
    <p:extLst>
      <p:ext uri="{BB962C8B-B14F-4D97-AF65-F5344CB8AC3E}">
        <p14:creationId xmlns:p14="http://schemas.microsoft.com/office/powerpoint/2010/main" val="267368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BFFD60B-AA98-4889-AE2C-7F042A95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开卷有益的意思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EF21F5F-ACED-4D34-8FB4-9A9C49E6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97AFAB-8F03-4997-936D-84578D67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读书能够使人得到益处。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FD40FB3-7915-473A-9A1C-A9F027D5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这里鼓励我们勤于阅读。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046C079-A8AC-4B5F-B64D-A88A6BDE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可获得知识，也可开阔眼界。</a:t>
            </a:r>
          </a:p>
        </p:txBody>
      </p:sp>
    </p:spTree>
    <p:extLst>
      <p:ext uri="{BB962C8B-B14F-4D97-AF65-F5344CB8AC3E}">
        <p14:creationId xmlns:p14="http://schemas.microsoft.com/office/powerpoint/2010/main" val="678186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F1152C5-31DD-4310-8F35-C454BAE5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坚持不懈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31E5F7A-5F91-4476-8269-05025BA7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6E3FF-3F39-4F5A-A058-57DC410FF9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8e491a60d4038"/>
          <a:stretch xmlns:a="http://schemas.openxmlformats.org/drawingml/2006/main"/>
        </p:blipFill>
        <p:spPr>
          <a:xfrm xmlns:a="http://schemas.openxmlformats.org/drawingml/2006/main">
            <a:off x="785037" y="1619250"/>
            <a:ext cx="6335676" cy="43243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21D10E3-4FFE-468E-8AFD-628C5DF3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用自己的话解释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1DF1325-F382-463C-9D07-35BC4593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3372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“坚持不懈”。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5E4221A-53FE-4A7E-9FDE-D01FC027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遇到困难时怎样？</a:t>
            </a:r>
          </a:p>
        </p:txBody>
      </p:sp>
    </p:spTree>
    <p:extLst>
      <p:ext uri="{BB962C8B-B14F-4D97-AF65-F5344CB8AC3E}">
        <p14:creationId xmlns:p14="http://schemas.microsoft.com/office/powerpoint/2010/main" val="1373762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9DF6439-C4F6-44C0-8561-638289BB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坚持不懈的意思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3398964-533F-4D4F-B6A3-397B9487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B73262-3AE4-48C4-90DB-37185C64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一直努力做下去，不松懈。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302DD86-FAE8-4A64-9F64-F03A229F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即使遇到困难，也不轻易放弃。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7ABD7A9-7962-4DF9-A616-47B7FF58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“滴水穿石”说明坚持能见成效。</a:t>
            </a:r>
          </a:p>
        </p:txBody>
      </p:sp>
    </p:spTree>
    <p:extLst>
      <p:ext uri="{BB962C8B-B14F-4D97-AF65-F5344CB8AC3E}">
        <p14:creationId xmlns:p14="http://schemas.microsoft.com/office/powerpoint/2010/main" val="14941594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C8F0546-AFE2-45A8-A2B8-2F5D8FD6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一诺千金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31A2A3-9A2E-4B82-BB24-B3A69A19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8A295-1F60-4DA1-ABF5-42F0C245F1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542371e264523"/>
          <a:stretch xmlns:a="http://schemas.openxmlformats.org/drawingml/2006/main"/>
        </p:blipFill>
        <p:spPr>
          <a:xfrm xmlns:a="http://schemas.openxmlformats.org/drawingml/2006/main">
            <a:off x="1115020" y="1619250"/>
            <a:ext cx="5675709" cy="43243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36BAD7D-4B81-4E00-92FB-328C9692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用自己的话解释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22DE008-FA77-4340-9F96-63BBFB94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3372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“一诺千金”。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EC8C43D-5826-476A-AEEA-CDB375BB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承诺为什么重要？</a:t>
            </a:r>
          </a:p>
        </p:txBody>
      </p:sp>
    </p:spTree>
    <p:extLst>
      <p:ext uri="{BB962C8B-B14F-4D97-AF65-F5344CB8AC3E}">
        <p14:creationId xmlns:p14="http://schemas.microsoft.com/office/powerpoint/2010/main" val="337033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F80655C-CFAC-4980-BC9F-F9FD38E1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一诺千金的意思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84100CD-96A3-4408-8B2B-EA70CCA5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928CD7-F82F-47B5-A346-43AB8A8D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答应别人的事，要认真做到。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F503128-8D20-4EDE-A3BF-14DBBB06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比喻说话算数，很守信用。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629D230-1D24-4672-AC08-3CD68429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生活中的小承诺，也值得重视。</a:t>
            </a:r>
          </a:p>
        </p:txBody>
      </p:sp>
    </p:spTree>
    <p:extLst>
      <p:ext uri="{BB962C8B-B14F-4D97-AF65-F5344CB8AC3E}">
        <p14:creationId xmlns:p14="http://schemas.microsoft.com/office/powerpoint/2010/main" val="13306944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1EDE556-88C2-4CFD-B368-6D77B253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互动剧场有什么特别之处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4A12F73-DB28-4272-93FA-EF4B8CFD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EBA2D-8335-48FC-B9D5-C6330532F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688912dcd413c"/>
          <a:stretch xmlns:a="http://schemas.openxmlformats.org/drawingml/2006/main"/>
        </p:blipFill>
        <p:spPr>
          <a:xfrm xmlns:a="http://schemas.openxmlformats.org/drawingml/2006/main">
            <a:off x="630509" y="1619250"/>
            <a:ext cx="6644733" cy="43243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A5F8014-FCA4-44DF-9119-F13D6A4A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先在海报中找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FDB7B62-C8B0-42BF-8FB9-0F09BBDF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3372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“不只是……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B6E0DDE-DE82-497D-B82B-8F9D4B50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也是……”这句话。</a:t>
            </a:r>
          </a:p>
        </p:txBody>
      </p:sp>
    </p:spTree>
    <p:extLst>
      <p:ext uri="{BB962C8B-B14F-4D97-AF65-F5344CB8AC3E}">
        <p14:creationId xmlns:p14="http://schemas.microsoft.com/office/powerpoint/2010/main" val="10492295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1804A7B-DC41-482E-99DE-2D1E42DD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观众也能参与演出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633033-F67B-49AA-944F-C9209C5F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F97EBB-1CD4-458E-B33B-BDE6A28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你不只是观众，也是演员。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85E651A-DADD-4071-A6A2-1A84A121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你可以参与剧情，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CCA8FF2-B694-447B-889D-7A66CA59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帮助差不多先生改掉坏习惯。</a:t>
            </a:r>
          </a:p>
        </p:txBody>
      </p:sp>
    </p:spTree>
    <p:extLst>
      <p:ext uri="{BB962C8B-B14F-4D97-AF65-F5344CB8AC3E}">
        <p14:creationId xmlns:p14="http://schemas.microsoft.com/office/powerpoint/2010/main" val="9354604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FD62037-174F-48F6-9915-67FE7C44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一帆风顺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48594AE-2218-4946-B638-759F723D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914AA-A5D2-4023-BFB4-3CB85CE31D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c06ed8bce49b4"/>
          <a:stretch xmlns:a="http://schemas.openxmlformats.org/drawingml/2006/main"/>
        </p:blipFill>
        <p:spPr>
          <a:xfrm xmlns:a="http://schemas.openxmlformats.org/drawingml/2006/main">
            <a:off x="619125" y="1750748"/>
            <a:ext cx="6667500" cy="4061354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FBF698D-B808-476A-9973-9BB9BA7D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“友谊的小船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E7700F7-0DFA-4EB8-B7E0-2C92BF52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3372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一帆风顺”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1FE271F-4861-4221-8B1F-6DFA1681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在这里是什么意思？</a:t>
            </a:r>
          </a:p>
        </p:txBody>
      </p:sp>
    </p:spTree>
    <p:extLst>
      <p:ext uri="{BB962C8B-B14F-4D97-AF65-F5344CB8AC3E}">
        <p14:creationId xmlns:p14="http://schemas.microsoft.com/office/powerpoint/2010/main" val="7780322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BDA02E6-F021-40AB-AEAB-F9CC8EC4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一帆风顺的意思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5A90C4C-4DC3-4366-9170-D8F8BDDC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0415F8-8EB1-4B10-A47E-69B2A612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比喻事情进行得很顺利。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6965F6D-C1F9-4C1B-A54A-E8B9A6C4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这里指朋友相处顺利，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AD341DF-12D1-4300-99D0-3FFA24EB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友情不因言语不当而出现问题。</a:t>
            </a:r>
          </a:p>
        </p:txBody>
      </p:sp>
    </p:spTree>
    <p:extLst>
      <p:ext uri="{BB962C8B-B14F-4D97-AF65-F5344CB8AC3E}">
        <p14:creationId xmlns:p14="http://schemas.microsoft.com/office/powerpoint/2010/main" val="2235095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59A513A-7F81-4202-B857-06B96F0A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工作坊的目的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59056EC-E02C-46E2-B7E8-67952666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CC4D411-A9E6-4F57-AA2D-976F15F4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举办工作坊的目的是什么？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74D38F-9475-46A3-9357-6F06EB21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先选取有关“学习”和“掌握”的证据。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701D11E-1E39-4F13-BC91-9A6232E0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用一个完整句子写出两个要点。</a:t>
            </a:r>
          </a:p>
        </p:txBody>
      </p:sp>
    </p:spTree>
    <p:extLst>
      <p:ext uri="{BB962C8B-B14F-4D97-AF65-F5344CB8AC3E}">
        <p14:creationId xmlns:p14="http://schemas.microsoft.com/office/powerpoint/2010/main" val="2828785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74C2AA4-E97C-4461-8327-4F1BABF2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工作坊目的的证据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1E18807-2DCE-4D6F-9724-02144429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D456FF2-9D02-4B5C-8039-162199CB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“学习如何培养良好的习惯”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20AB083-F78A-44E1-A38B-BAB1007A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“掌握人际交往的有效策略”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FC3BE4F-DF3C-4AE2-873B-E7059B81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先找到两处，再组织自己的答案。</a:t>
            </a:r>
          </a:p>
        </p:txBody>
      </p:sp>
    </p:spTree>
    <p:extLst>
      <p:ext uri="{BB962C8B-B14F-4D97-AF65-F5344CB8AC3E}">
        <p14:creationId xmlns:p14="http://schemas.microsoft.com/office/powerpoint/2010/main" val="1459400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5BF587D-62E9-48D5-A4DF-77BA7B5E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工作坊目的参考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7451F8A-F944-4442-8798-6EA0717F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E47A5A8-9152-40EB-B503-8E450DD2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工作坊帮助参加者培养良好的习惯，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E954205-45A6-497C-8BBC-5366925F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并掌握人际交往的有效策略。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1ACE05B-D8D5-4197-89AF-A9A8E246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这样能减少交往中的烦恼，维护友情。</a:t>
            </a:r>
          </a:p>
        </p:txBody>
      </p:sp>
    </p:spTree>
    <p:extLst>
      <p:ext uri="{BB962C8B-B14F-4D97-AF65-F5344CB8AC3E}">
        <p14:creationId xmlns:p14="http://schemas.microsoft.com/office/powerpoint/2010/main" val="20471223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C03BCEE-9746-4F49-A4EF-78A7DCB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工作坊的参加对象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E56E4B-1E11-4E63-BC16-4BAC0E25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5CDF61B-DA9D-4B26-B560-16C10DAE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工作坊适合哪些人参加？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E18E8DD-5D26-473D-9D21-4B2EC273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先看“青年节”，再看工作坊内容。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70C308E-8A3B-4EBA-A3E5-72911B22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哪些青年会从这个活动中获益？</a:t>
            </a:r>
          </a:p>
        </p:txBody>
      </p:sp>
    </p:spTree>
    <p:extLst>
      <p:ext uri="{BB962C8B-B14F-4D97-AF65-F5344CB8AC3E}">
        <p14:creationId xmlns:p14="http://schemas.microsoft.com/office/powerpoint/2010/main" val="5620607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B660FFA-37BE-4C3D-9022-E79CE858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参加对象参考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45DCB8F-1478-4465-8721-80E0EE32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D415C5A-A3F7-4323-BE2C-2DA04053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想学习维护友情、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11B4BF4-426F-46EB-B113-8BC18BA4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改善人际交往的青年。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A02A88C-E1EE-4E23-A73C-2C9A5181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对象要联系工作坊的学习内容。</a:t>
            </a:r>
          </a:p>
        </p:txBody>
      </p:sp>
    </p:spTree>
    <p:extLst>
      <p:ext uri="{BB962C8B-B14F-4D97-AF65-F5344CB8AC3E}">
        <p14:creationId xmlns:p14="http://schemas.microsoft.com/office/powerpoint/2010/main" val="13168146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189B65E0-6AAF-447B-AFE9-2AA2C7BB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两项活动的资料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A657F7A-3CB7-4F28-A3F1-E056E536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F7E0A-34A2-4C40-B43E-9565D08BFC95}"/>
              </a:ext>
            </a:extLst>
          </p:cNvPr>
          <p:cNvGraphicFramePr/>
          <p:nvPr/>
        </p:nvGraphicFramePr>
        <p:xfrm>
          <a:off xmlns:a="http://schemas.openxmlformats.org/drawingml/2006/main" x="714375" y="1743075"/>
          <a:ext xmlns:a="http://schemas.openxmlformats.org/drawingml/2006/main" cx="107632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952875"/>
                <a:gridCol w="3952875"/>
              </a:tblGrid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活动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日期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时间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互动剧场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7月21日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晚上7点至9点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工作坊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7月20日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下午3点至5点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6279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A1C18BD-BCF5-48B5-8B70-75C60844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报名方式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E1D733-E5C7-4522-BB22-C41D6B08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6E747D-5F6A-4EBC-B768-88EE72C8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如何报名参加青年节特备活动？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4104199-3A86-4153-A41E-BD092712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找出海报最下面的报名说明。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56CA067-B9E8-40C1-8B30-83DDD87E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报名方式与活动地点相同吗？</a:t>
            </a:r>
          </a:p>
        </p:txBody>
      </p:sp>
    </p:spTree>
    <p:extLst>
      <p:ext uri="{BB962C8B-B14F-4D97-AF65-F5344CB8AC3E}">
        <p14:creationId xmlns:p14="http://schemas.microsoft.com/office/powerpoint/2010/main" val="20619132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205C6B2-3FC9-4B80-BFA7-65F9CC4A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课本海报中的报名方式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47EE405-8C52-4B1B-B503-EBB7C34A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8DDFDA-9A63-4E07-8C4C-E402808B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登录欢乐民众俱乐部网站报名：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D7B7990-466F-4DC8-BAB4-3112244E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www.huanlecommunity.com.sg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75FDD56-739F-4D5B-B62F-E7F093CB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网址仅作课本阅读资料。</a:t>
            </a:r>
          </a:p>
        </p:txBody>
      </p:sp>
    </p:spTree>
    <p:extLst>
      <p:ext uri="{BB962C8B-B14F-4D97-AF65-F5344CB8AC3E}">
        <p14:creationId xmlns:p14="http://schemas.microsoft.com/office/powerpoint/2010/main" val="21007584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3EB3F05-01C9-4E39-8DB9-E8D6A21D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你怎样维护友情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5F6A27D-D67B-4319-96F4-AE61FF2D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46D6C6-7936-43CF-A5DF-D10FC00A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你是怎么维护友情的？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ECC05AE-AD8C-49AD-915E-5470ADE6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和同学分享你的经验。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898032C-83F4-4F72-93D3-B6F5BE64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选一件真实经历，写清做法和原因。</a:t>
            </a:r>
          </a:p>
        </p:txBody>
      </p:sp>
    </p:spTree>
    <p:extLst>
      <p:ext uri="{BB962C8B-B14F-4D97-AF65-F5344CB8AC3E}">
        <p14:creationId xmlns:p14="http://schemas.microsoft.com/office/powerpoint/2010/main" val="12334649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1CAFE5C-A18B-44CB-BFD6-66E02883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把经验说具体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2E292-BF19-422A-8085-293A0369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7A1A87C-7A8E-4C57-93BD-45960C5D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当时发生了什么？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690409D-D4BC-4E77-8F79-55499743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你具体做了什么？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12BA9F0-AAA4-4281-B4EF-00B68F1C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这样做为什么有助于维护友情？</a:t>
            </a:r>
          </a:p>
        </p:txBody>
      </p:sp>
    </p:spTree>
    <p:extLst>
      <p:ext uri="{BB962C8B-B14F-4D97-AF65-F5344CB8AC3E}">
        <p14:creationId xmlns:p14="http://schemas.microsoft.com/office/powerpoint/2010/main" val="14010185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8760764-BDDF-4C0E-9533-D6C269A9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友情经验示例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62C0776-E308-4C72-BB01-9DF03FB0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5367A46-9B4A-4E0F-9A79-60DA1EF7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一次合作中，我误会朋友没有做事。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45A1A16-4D00-4ACC-869C-70BC2ACB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了解情况后，我主动向他道歉。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6A16D7-8453-4427-BECB-2D82C0C7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道歉说明我愿意承担错误，</a:t>
            </a:r>
          </a:p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有助于消除误会，让朋友感到被尊重。</a:t>
            </a:r>
          </a:p>
        </p:txBody>
      </p:sp>
    </p:spTree>
    <p:extLst>
      <p:ext uri="{BB962C8B-B14F-4D97-AF65-F5344CB8AC3E}">
        <p14:creationId xmlns:p14="http://schemas.microsoft.com/office/powerpoint/2010/main" val="13666213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5BABE4B-B3BB-47B5-B322-51A23EE6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检查与订正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7676980-C3A2-4C4B-ACC4-F5D62FBD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26DA5B-E3E7-4DC3-A00B-07A7560D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目的题：是否写出两个核心要点？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39D97B8-66AF-4A98-A87C-C1DD5FAD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友情经验：是否解释做法的作用？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5BE4A3F-7D8D-4F21-8D93-F81CEFD9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收藏不熟悉的词，再按需要复习。</a:t>
            </a:r>
          </a:p>
        </p:txBody>
      </p:sp>
    </p:spTree>
    <p:extLst>
      <p:ext uri="{BB962C8B-B14F-4D97-AF65-F5344CB8AC3E}">
        <p14:creationId xmlns:p14="http://schemas.microsoft.com/office/powerpoint/2010/main" val="434395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2026-10-23T08:26:09.0460000Z</dcterms:created>
  <dcterms:modified xsi:type="dcterms:W3CDTF">2026-10-23T08:26:09.0460000Z</dcterms:modified>
</coreProperties>
</file>