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2f78eda5f49c6" /><Relationship Type="http://schemas.openxmlformats.org/officeDocument/2006/relationships/extended-properties" Target="/docProps/app.xml" Id="R4dc960eaf3724210" /><Relationship Type="http://schemas.openxmlformats.org/officeDocument/2006/relationships/officeDocument" Target="/ppt/presentation.xml" Id="R9a6a0d88bcbc4c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9d41dcf04b453b"/>
  </p:sldMasterIdLst>
  <p:notesMasterIdLst>
    <p:notesMasterId xmlns:r="http://schemas.openxmlformats.org/officeDocument/2006/relationships" r:id="R997c31872e784f7c"/>
  </p:notesMasterIdLst>
  <p:sldIdLst>
    <p:sldId xmlns:r="http://schemas.openxmlformats.org/officeDocument/2006/relationships" id="256" r:id="R9d91b8b3c40f4641"/>
    <p:sldId xmlns:r="http://schemas.openxmlformats.org/officeDocument/2006/relationships" id="257" r:id="Rcbe74bb7aa814965"/>
    <p:sldId xmlns:r="http://schemas.openxmlformats.org/officeDocument/2006/relationships" id="258" r:id="Rcc75b6af5ebe4ba8"/>
    <p:sldId xmlns:r="http://schemas.openxmlformats.org/officeDocument/2006/relationships" id="259" r:id="R35abab4887c7471e"/>
    <p:sldId xmlns:r="http://schemas.openxmlformats.org/officeDocument/2006/relationships" id="260" r:id="Rc938bae170764291"/>
    <p:sldId xmlns:r="http://schemas.openxmlformats.org/officeDocument/2006/relationships" id="261" r:id="Rd81f966042b44508"/>
    <p:sldId xmlns:r="http://schemas.openxmlformats.org/officeDocument/2006/relationships" id="262" r:id="Rab4d42ef94554015"/>
    <p:sldId xmlns:r="http://schemas.openxmlformats.org/officeDocument/2006/relationships" id="263" r:id="Ra820dce5786a465f"/>
    <p:sldId xmlns:r="http://schemas.openxmlformats.org/officeDocument/2006/relationships" id="264" r:id="Rad9b87cb0fc54660"/>
    <p:sldId xmlns:r="http://schemas.openxmlformats.org/officeDocument/2006/relationships" id="265" r:id="Rddac8a0b7e484667"/>
    <p:sldId xmlns:r="http://schemas.openxmlformats.org/officeDocument/2006/relationships" id="266" r:id="Rc5c54b847bf04b9a"/>
    <p:sldId xmlns:r="http://schemas.openxmlformats.org/officeDocument/2006/relationships" id="267" r:id="Rf72066845d714fcc"/>
    <p:sldId xmlns:r="http://schemas.openxmlformats.org/officeDocument/2006/relationships" id="268" r:id="R7fdb339fc1a94d89"/>
    <p:sldId xmlns:r="http://schemas.openxmlformats.org/officeDocument/2006/relationships" id="269" r:id="Reb1cd23d63424932"/>
    <p:sldId xmlns:r="http://schemas.openxmlformats.org/officeDocument/2006/relationships" id="270" r:id="R1ba1807f3987445d"/>
    <p:sldId xmlns:r="http://schemas.openxmlformats.org/officeDocument/2006/relationships" id="271" r:id="Recdd4ba695ee40ac"/>
    <p:sldId xmlns:r="http://schemas.openxmlformats.org/officeDocument/2006/relationships" id="272" r:id="R93f7614705084237"/>
    <p:sldId xmlns:r="http://schemas.openxmlformats.org/officeDocument/2006/relationships" id="273" r:id="R4352387780b04d3e"/>
    <p:sldId xmlns:r="http://schemas.openxmlformats.org/officeDocument/2006/relationships" id="274" r:id="R7b5d886c37954d74"/>
    <p:sldId xmlns:r="http://schemas.openxmlformats.org/officeDocument/2006/relationships" id="275" r:id="R79ecd5de6fcf4297"/>
    <p:sldId xmlns:r="http://schemas.openxmlformats.org/officeDocument/2006/relationships" id="276" r:id="R5f1369fc43fd4f15"/>
    <p:sldId xmlns:r="http://schemas.openxmlformats.org/officeDocument/2006/relationships" id="277" r:id="Rc67736be9a484852"/>
    <p:sldId xmlns:r="http://schemas.openxmlformats.org/officeDocument/2006/relationships" id="278" r:id="Red4daa5764294f62"/>
    <p:sldId xmlns:r="http://schemas.openxmlformats.org/officeDocument/2006/relationships" id="279" r:id="Re7ab7d7adca24826"/>
    <p:sldId xmlns:r="http://schemas.openxmlformats.org/officeDocument/2006/relationships" id="280" r:id="Re7119fb269854832"/>
    <p:sldId xmlns:r="http://schemas.openxmlformats.org/officeDocument/2006/relationships" id="281" r:id="R53d37ae6e3e84f6d"/>
    <p:sldId xmlns:r="http://schemas.openxmlformats.org/officeDocument/2006/relationships" id="282" r:id="R878ea14950c8432e"/>
    <p:sldId xmlns:r="http://schemas.openxmlformats.org/officeDocument/2006/relationships" id="283" r:id="R232c9270bd2741e3"/>
    <p:sldId xmlns:r="http://schemas.openxmlformats.org/officeDocument/2006/relationships" id="284" r:id="R595658731fd04e36"/>
    <p:sldId xmlns:r="http://schemas.openxmlformats.org/officeDocument/2006/relationships" id="285" r:id="Rfc2b0a8b7ee34cc6"/>
    <p:sldId xmlns:r="http://schemas.openxmlformats.org/officeDocument/2006/relationships" id="286" r:id="Rf7277e8a98934af8"/>
    <p:sldId xmlns:r="http://schemas.openxmlformats.org/officeDocument/2006/relationships" id="287" r:id="R3cfa0c8088304d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704f1e86934ab8" /><Relationship Type="http://schemas.openxmlformats.org/officeDocument/2006/relationships/slideMaster" Target="/ppt/slideMasters/slideMaster1.xml" Id="R119d41dcf04b453b" /><Relationship Type="http://schemas.openxmlformats.org/officeDocument/2006/relationships/notesMaster" Target="/ppt/notesMasters/notesMaster1.xml" Id="R997c31872e784f7c" /><Relationship Type="http://schemas.openxmlformats.org/officeDocument/2006/relationships/presProps" Target="/ppt/presProps.xml" Id="R40bf330dc7214c13" /><Relationship Type="http://schemas.openxmlformats.org/officeDocument/2006/relationships/tableStyles" Target="/ppt/tableStyles.xml" Id="R5a8910c5c6b74162" /><Relationship Type="http://schemas.openxmlformats.org/officeDocument/2006/relationships/slide" Target="/ppt/slides/slide1.xml" Id="R9d91b8b3c40f4641" /><Relationship Type="http://schemas.openxmlformats.org/officeDocument/2006/relationships/slide" Target="/ppt/slides/slide2.xml" Id="Rcbe74bb7aa814965" /><Relationship Type="http://schemas.openxmlformats.org/officeDocument/2006/relationships/slide" Target="/ppt/slides/slide3.xml" Id="Rcc75b6af5ebe4ba8" /><Relationship Type="http://schemas.openxmlformats.org/officeDocument/2006/relationships/slide" Target="/ppt/slides/slide4.xml" Id="R35abab4887c7471e" /><Relationship Type="http://schemas.openxmlformats.org/officeDocument/2006/relationships/slide" Target="/ppt/slides/slide5.xml" Id="Rc938bae170764291" /><Relationship Type="http://schemas.openxmlformats.org/officeDocument/2006/relationships/slide" Target="/ppt/slides/slide6.xml" Id="Rd81f966042b44508" /><Relationship Type="http://schemas.openxmlformats.org/officeDocument/2006/relationships/slide" Target="/ppt/slides/slide7.xml" Id="Rab4d42ef94554015" /><Relationship Type="http://schemas.openxmlformats.org/officeDocument/2006/relationships/slide" Target="/ppt/slides/slide8.xml" Id="Ra820dce5786a465f" /><Relationship Type="http://schemas.openxmlformats.org/officeDocument/2006/relationships/slide" Target="/ppt/slides/slide9.xml" Id="Rad9b87cb0fc54660" /><Relationship Type="http://schemas.openxmlformats.org/officeDocument/2006/relationships/slide" Target="/ppt/slides/slide10.xml" Id="Rddac8a0b7e484667" /><Relationship Type="http://schemas.openxmlformats.org/officeDocument/2006/relationships/slide" Target="/ppt/slides/slide11.xml" Id="Rc5c54b847bf04b9a" /><Relationship Type="http://schemas.openxmlformats.org/officeDocument/2006/relationships/slide" Target="/ppt/slides/slide12.xml" Id="Rf72066845d714fcc" /><Relationship Type="http://schemas.openxmlformats.org/officeDocument/2006/relationships/slide" Target="/ppt/slides/slide13.xml" Id="R7fdb339fc1a94d89" /><Relationship Type="http://schemas.openxmlformats.org/officeDocument/2006/relationships/slide" Target="/ppt/slides/slide14.xml" Id="Reb1cd23d63424932" /><Relationship Type="http://schemas.openxmlformats.org/officeDocument/2006/relationships/slide" Target="/ppt/slides/slide15.xml" Id="R1ba1807f3987445d" /><Relationship Type="http://schemas.openxmlformats.org/officeDocument/2006/relationships/slide" Target="/ppt/slides/slide16.xml" Id="Recdd4ba695ee40ac" /><Relationship Type="http://schemas.openxmlformats.org/officeDocument/2006/relationships/slide" Target="/ppt/slides/slide17.xml" Id="R93f7614705084237" /><Relationship Type="http://schemas.openxmlformats.org/officeDocument/2006/relationships/slide" Target="/ppt/slides/slide18.xml" Id="R4352387780b04d3e" /><Relationship Type="http://schemas.openxmlformats.org/officeDocument/2006/relationships/slide" Target="/ppt/slides/slide19.xml" Id="R7b5d886c37954d74" /><Relationship Type="http://schemas.openxmlformats.org/officeDocument/2006/relationships/slide" Target="/ppt/slides/slide20.xml" Id="R79ecd5de6fcf4297" /><Relationship Type="http://schemas.openxmlformats.org/officeDocument/2006/relationships/slide" Target="/ppt/slides/slide21.xml" Id="R5f1369fc43fd4f15" /><Relationship Type="http://schemas.openxmlformats.org/officeDocument/2006/relationships/slide" Target="/ppt/slides/slide22.xml" Id="Rc67736be9a484852" /><Relationship Type="http://schemas.openxmlformats.org/officeDocument/2006/relationships/slide" Target="/ppt/slides/slide23.xml" Id="Red4daa5764294f62" /><Relationship Type="http://schemas.openxmlformats.org/officeDocument/2006/relationships/slide" Target="/ppt/slides/slide24.xml" Id="Re7ab7d7adca24826" /><Relationship Type="http://schemas.openxmlformats.org/officeDocument/2006/relationships/slide" Target="/ppt/slides/slide25.xml" Id="Re7119fb269854832" /><Relationship Type="http://schemas.openxmlformats.org/officeDocument/2006/relationships/slide" Target="/ppt/slides/slide26.xml" Id="R53d37ae6e3e84f6d" /><Relationship Type="http://schemas.openxmlformats.org/officeDocument/2006/relationships/slide" Target="/ppt/slides/slide27.xml" Id="R878ea14950c8432e" /><Relationship Type="http://schemas.openxmlformats.org/officeDocument/2006/relationships/slide" Target="/ppt/slides/slide28.xml" Id="R232c9270bd2741e3" /><Relationship Type="http://schemas.openxmlformats.org/officeDocument/2006/relationships/slide" Target="/ppt/slides/slide29.xml" Id="R595658731fd04e36" /><Relationship Type="http://schemas.openxmlformats.org/officeDocument/2006/relationships/slide" Target="/ppt/slides/slide30.xml" Id="Rfc2b0a8b7ee34cc6" /><Relationship Type="http://schemas.openxmlformats.org/officeDocument/2006/relationships/slide" Target="/ppt/slides/slide31.xml" Id="Rf7277e8a98934af8" /><Relationship Type="http://schemas.openxmlformats.org/officeDocument/2006/relationships/slide" Target="/ppt/slides/slide32.xml" Id="R3cfa0c8088304d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54fb73eb0d40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656d5fe4c435a" /><Relationship Type="http://schemas.openxmlformats.org/officeDocument/2006/relationships/notesMaster" Target="/ppt/notesMasters/notesMaster1.xml" Id="R85aad9c68e6c4b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17229b005642ed" /><Relationship Type="http://schemas.openxmlformats.org/officeDocument/2006/relationships/notesMaster" Target="/ppt/notesMasters/notesMaster1.xml" Id="R2f2d702da17143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4a9a6cca194b51" /><Relationship Type="http://schemas.openxmlformats.org/officeDocument/2006/relationships/notesMaster" Target="/ppt/notesMasters/notesMaster1.xml" Id="Rd235a4dd743c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f6fbf3a7e45be" /><Relationship Type="http://schemas.openxmlformats.org/officeDocument/2006/relationships/notesMaster" Target="/ppt/notesMasters/notesMaster1.xml" Id="R74eadb0897f14d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0641f130664f3d" /><Relationship Type="http://schemas.openxmlformats.org/officeDocument/2006/relationships/notesMaster" Target="/ppt/notesMasters/notesMaster1.xml" Id="R7b5f89afe1bc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59fcad743d4ca2" /><Relationship Type="http://schemas.openxmlformats.org/officeDocument/2006/relationships/notesMaster" Target="/ppt/notesMasters/notesMaster1.xml" Id="Rb7072a5c4a8d4d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2c504b3f724f01" /><Relationship Type="http://schemas.openxmlformats.org/officeDocument/2006/relationships/notesMaster" Target="/ppt/notesMasters/notesMaster1.xml" Id="R596d7285f4b147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b395863b884b7f" /><Relationship Type="http://schemas.openxmlformats.org/officeDocument/2006/relationships/notesMaster" Target="/ppt/notesMasters/notesMaster1.xml" Id="R91d5f1654b924f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2991d37e9842fc" /><Relationship Type="http://schemas.openxmlformats.org/officeDocument/2006/relationships/notesMaster" Target="/ppt/notesMasters/notesMaster1.xml" Id="R33c61742838848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2f42c851ca404d" /><Relationship Type="http://schemas.openxmlformats.org/officeDocument/2006/relationships/notesMaster" Target="/ppt/notesMasters/notesMaster1.xml" Id="Re993463646a646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ef6459eee74e43" /><Relationship Type="http://schemas.openxmlformats.org/officeDocument/2006/relationships/notesMaster" Target="/ppt/notesMasters/notesMaster1.xml" Id="R34cbc45505a145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506bb46f9944cc" /><Relationship Type="http://schemas.openxmlformats.org/officeDocument/2006/relationships/notesMaster" Target="/ppt/notesMasters/notesMaster1.xml" Id="Rccacbec4c25b4f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57f36a923d433c" /><Relationship Type="http://schemas.openxmlformats.org/officeDocument/2006/relationships/notesMaster" Target="/ppt/notesMasters/notesMaster1.xml" Id="Raa20eb1f813a4d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e8d0e79bb4d1f" /><Relationship Type="http://schemas.openxmlformats.org/officeDocument/2006/relationships/notesMaster" Target="/ppt/notesMasters/notesMaster1.xml" Id="R7cfcff58964a47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edb2be649a420a" /><Relationship Type="http://schemas.openxmlformats.org/officeDocument/2006/relationships/notesMaster" Target="/ppt/notesMasters/notesMaster1.xml" Id="R8b6952cd1d5148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033212d4f14e2c" /><Relationship Type="http://schemas.openxmlformats.org/officeDocument/2006/relationships/notesMaster" Target="/ppt/notesMasters/notesMaster1.xml" Id="R76e7c6d528944f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b51a5b6817414f" /><Relationship Type="http://schemas.openxmlformats.org/officeDocument/2006/relationships/notesMaster" Target="/ppt/notesMasters/notesMaster1.xml" Id="Rff4ccdd828bb4c4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bf053337724d9e" /><Relationship Type="http://schemas.openxmlformats.org/officeDocument/2006/relationships/notesMaster" Target="/ppt/notesMasters/notesMaster1.xml" Id="R46ba3789f5b84a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a6fbc97dea947b6" /><Relationship Type="http://schemas.openxmlformats.org/officeDocument/2006/relationships/notesMaster" Target="/ppt/notesMasters/notesMaster1.xml" Id="R9be2f42e130148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ae4a83faea4276" /><Relationship Type="http://schemas.openxmlformats.org/officeDocument/2006/relationships/notesMaster" Target="/ppt/notesMasters/notesMaster1.xml" Id="R2642e649742946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c88cd381ee468d" /><Relationship Type="http://schemas.openxmlformats.org/officeDocument/2006/relationships/notesMaster" Target="/ppt/notesMasters/notesMaster1.xml" Id="Rcedcd8e7e8314e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0eb4be7e45431d" /><Relationship Type="http://schemas.openxmlformats.org/officeDocument/2006/relationships/notesMaster" Target="/ppt/notesMasters/notesMaster1.xml" Id="R68fbd7c44bb44c9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5130499fa74090" /><Relationship Type="http://schemas.openxmlformats.org/officeDocument/2006/relationships/notesMaster" Target="/ppt/notesMasters/notesMaster1.xml" Id="Rbeb0ddb70c2843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433c700fc7c43a5" /><Relationship Type="http://schemas.openxmlformats.org/officeDocument/2006/relationships/notesMaster" Target="/ppt/notesMasters/notesMaster1.xml" Id="R4854c95e97ec46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037649b54ff46a2" /><Relationship Type="http://schemas.openxmlformats.org/officeDocument/2006/relationships/notesMaster" Target="/ppt/notesMasters/notesMaster1.xml" Id="Rbb01320202d147f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996a6322894f60" /><Relationship Type="http://schemas.openxmlformats.org/officeDocument/2006/relationships/notesMaster" Target="/ppt/notesMasters/notesMaster1.xml" Id="R051d2dda5669464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98161d1bb8409d" /><Relationship Type="http://schemas.openxmlformats.org/officeDocument/2006/relationships/notesMaster" Target="/ppt/notesMasters/notesMaster1.xml" Id="R6cf28302d28842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ef6daf1dff64f47" /><Relationship Type="http://schemas.openxmlformats.org/officeDocument/2006/relationships/notesMaster" Target="/ppt/notesMasters/notesMaster1.xml" Id="R5d4b9fca8e9742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5e20efa118547db" /><Relationship Type="http://schemas.openxmlformats.org/officeDocument/2006/relationships/notesMaster" Target="/ppt/notesMasters/notesMaster1.xml" Id="Rae88ba7efd684ce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0a478b327f45cf" /><Relationship Type="http://schemas.openxmlformats.org/officeDocument/2006/relationships/notesMaster" Target="/ppt/notesMasters/notesMaster1.xml" Id="R6d1cabe7e89b405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97f4181690a4005" /><Relationship Type="http://schemas.openxmlformats.org/officeDocument/2006/relationships/notesMaster" Target="/ppt/notesMasters/notesMaster1.xml" Id="R69d5ddf0abc8419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e1f119f15dd4023" /><Relationship Type="http://schemas.openxmlformats.org/officeDocument/2006/relationships/notesMaster" Target="/ppt/notesMasters/notesMaster1.xml" Id="R5a8b9ea1950e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巩固课文，1—2课时。建议两课各40分钟，第一课至第5段；已预读可按教师文件压缩为50分钟。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导入口头题来自教参。课文只明确传统与喜悦；象征团聚、好运为资料补充。中国文化网，2021-02-08，https://en.chinaculture.org/a/202102/08/WS6020a52ca31024ad0baa800a.html ，2026-10-22核对。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7分钟自读，不要求写额外阅读记录。读文区一次一段，漫画直接展示。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教师示范（我做）</a:t>
            </a:r>
          </a:p>
          <a:p xmlns:a="http://schemas.openxmlformats.org/drawingml/2006/main">
            <a:r>
              <a:t>课本旁注与教参阅读理解。</a:t>
            </a:r>
          </a:p>
          <a:p xmlns:a="http://schemas.openxmlformats.org/drawingml/2006/main">
            <a:r>
              <a:t>想一想：有了记号，谁吃到它还是偶然的吗？</a:t>
            </a:r>
          </a:p>
          <a:p xmlns:a="http://schemas.openxmlformats.org/drawingml/2006/main">
            <a:r>
              <a:t>看“偷偷”“做个记号”“却被姑姑打了手”。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我做：先定位“偷偷做记号”“却被姑姑打了手”，再示范从行为推断目的。补充口头问题：红枣和祝福有什么特别？包饺子基本步骤是什么？不把祝愿当作保证。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课本旁注与教参阅读理解。</a:t>
            </a:r>
          </a:p>
          <a:p xmlns:a="http://schemas.openxmlformats.org/drawingml/2006/main">
            <a:r>
              <a:t>“如何”先找具体行动。</a:t>
            </a:r>
          </a:p>
          <a:p xmlns:a="http://schemas.openxmlformats.org/drawingml/2006/main">
            <a:r>
              <a:t>看本段末句，“夹到”回答行动，“因为”回答原因。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直接信息已在“因为”后交代，不强行增加推断。检查学生有行动、原因和心意。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师生共构（我们做）</a:t>
            </a:r>
          </a:p>
          <a:p xmlns:a="http://schemas.openxmlformats.org/drawingml/2006/main">
            <a:r>
              <a:t>课本旁注与教参阅读理解。</a:t>
            </a:r>
          </a:p>
          <a:p xmlns:a="http://schemas.openxmlformats.org/drawingml/2006/main">
            <a:r>
              <a:t>先想奶奶发现了什么，想让谁明白。</a:t>
            </a:r>
          </a:p>
          <a:p xmlns:a="http://schemas.openxmlformats.org/drawingml/2006/main">
            <a:r>
              <a:t>比较“隐蔽”和“不说话也懂”，不要只比较高兴不高兴。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我们做：默契（tacit understanding）。微笑主要表示慈爱、开心；不能同样具体地表达隐蔽的会意。追问奶奶为什么转送给妈妈：体谅工作与照顾一家人的辛苦，祝她幸福。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课本旁注与教参阅读理解。</a:t>
            </a:r>
          </a:p>
          <a:p xmlns:a="http://schemas.openxmlformats.org/drawingml/2006/main">
            <a:r>
              <a:t>找姑姑发现了什么。不要只重复课文给她的评价。</a:t>
            </a:r>
          </a:p>
          <a:p xmlns:a="http://schemas.openxmlformats.org/drawingml/2006/main">
            <a:r>
              <a:t>第2段：偷偷做记号；第5段：趁她不注意换碗。她分别有什么反应？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本题原题已给出“细心”，不提供人物特点选项。学生独立找第2、5段两处证据并写答；可连续加入多句原文。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教师参考3点：两处具体行为各1，解释1。只抄“姑姑是个细心的人”不能证明自己；“手巧”不能直接证明这里的细心。学生先写后揭示。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6分钟自读。阅读问题只帮助关注，不另增三道书面题。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先解释本义再练习。接着问文中的具体意思和引号作用，不把姑姑的行为定性为做坏事。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课本旁注与教参阅读理解。</a:t>
            </a:r>
          </a:p>
          <a:p xmlns:a="http://schemas.openxmlformats.org/drawingml/2006/main">
            <a:r>
              <a:t>先找出引号前后是谁在做事。</a:t>
            </a:r>
          </a:p>
          <a:p xmlns:a="http://schemas.openxmlformats.org/drawingml/2006/main">
            <a:r>
              <a:t>第6段结尾直接说明“把幸运饺子放到了我的碗里”。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两个选择判断分别检查语境义与引号。常见误读：把妈妈换碗当成姑姑的动作；只写字典义；误以为成语在这里谴责姑姑。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课本旁注与教参阅读理解。</a:t>
            </a:r>
          </a:p>
          <a:p xmlns:a="http://schemas.openxmlformats.org/drawingml/2006/main">
            <a:r>
              <a:t>把“装出”和“大家立刻”连起来读。</a:t>
            </a:r>
          </a:p>
          <a:p xmlns:a="http://schemas.openxmlformats.org/drawingml/2006/main">
            <a:r>
              <a:t>回想第6段谁已吃到红枣。第7段大家夹的是什么？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回看“装出”“大家立刻”。第6段“我”已吃到红枣饺子；第7段满满一碗并非许多个红枣饺子。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完整原文。先读，再进入全文综合，避免只凭漫画概括。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事物线索像一根线把几件事串起来。词语反复出现只是线索之一，还要说明能连接情节。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课本《巩固练习》第二题。七行内容完整保留，填写线索后再判断主题。</a:t>
            </a:r>
          </a:p>
          <a:p xmlns:a="http://schemas.openxmlformats.org/drawingml/2006/main">
            <a:r>
              <a:t>找能连接第1—7段几件事的具体事物。</a:t>
            </a:r>
          </a:p>
          <a:p xmlns:a="http://schemas.openxmlformats.org/drawingml/2006/main">
            <a:r>
              <a:t>再读第8段：作者把哪两件事比较，认为哪件更重要？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本页是课本表格内容的情节概括，不伪称逐字原文。网页保留课本七行完整内容。先比较，不揭示线索和主题答案。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概括。第7段饺子已经是承载关爱的普通饺子。线索的含义有延伸，不能把每只都当成红枣饺子。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学生提交后揭示。线索是具体事物，主题是中心意思。若只答“幸运饺子”作为主题，需补充表达的思想。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教参第8段理解题；书面框架为教学支架。</a:t>
            </a:r>
          </a:p>
          <a:p xmlns:a="http://schemas.openxmlformats.org/drawingml/2006/main">
            <a:r>
              <a:t>把“谁吃到饺子”与“一家人开心团聚”作比较，说清你怎么看。</a:t>
            </a:r>
          </a:p>
          <a:p xmlns:a="http://schemas.openxmlformats.org/drawingml/2006/main">
            <a:r>
              <a:t>回想一次真实的家人相处：谁做了什么，你有什么感受？这怎样证明你的看法？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9分钟独立作答。只用一个多行输入框，避免五个输入框增加操作负担。不编造学生个人经历，接受合理不同立场。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这页是答案组织示范，不是完整个人经历范文。教师逐一核对理解与理由、课文依据、个人经历、解释回扣，各1点，不自动打分。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课本《巩固练习》第一题。</a:t>
            </a:r>
          </a:p>
          <a:p xmlns:a="http://schemas.openxmlformats.org/drawingml/2006/main">
            <a:r>
              <a:t>先选一件事，再想这件事中你更重视什么。</a:t>
            </a:r>
          </a:p>
          <a:p xmlns:a="http://schemas.openxmlformats.org/drawingml/2006/main">
            <a:r>
              <a:t>检查前后两部分是否相关，后半句有没有说明更珍惜的意义。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教师拟写。学生先写再看。接受其他语境；检查不能前面谈名次、后面突然谈无关事情。必要的诚信、安全不宜被轻易否定。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学生独立（你做）</a:t>
            </a:r>
          </a:p>
          <a:p xmlns:a="http://schemas.openxmlformats.org/drawingml/2006/main">
            <a:r>
              <a:t>课本《巩固练习》第三题；“为什么仍重视团聚”为补充追问。</a:t>
            </a:r>
          </a:p>
          <a:p xmlns:a="http://schemas.openxmlformats.org/drawingml/2006/main">
            <a:r>
              <a:t>先选“年节食物”这个方面，两人各查一地。</a:t>
            </a:r>
          </a:p>
          <a:p xmlns:a="http://schemas.openxmlformats.org/drawingml/2006/main">
            <a:r>
              <a:t>说出两地各吃什么、怎样一起吃，再补共同的祝愿。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资料：中国文化网：北方年夜饭的饺子 https://en.chinaculture.org/a/202102/08/WS6020a52ca31024ad0baa800a.html</a:t>
            </a:r>
          </a:p>
          <a:p xmlns:a="http://schemas.openxmlformats.org/drawingml/2006/main">
            <a:r>
              <a:t>新加坡华族文化百科：捞鱼生 https://culturepaedia.singaporeccc.org.sg/zh/popular-culture/lohei/</a:t>
            </a:r>
          </a:p>
          <a:p xmlns:a="http://schemas.openxmlformats.org/drawingml/2006/main">
            <a:r>
              <a:t>新加坡华族文化中心：本地新年特色 https://singaporeccc.org.sg/zh-hans/events/what-makes-a-chinese-new-year-singaporean-jan-2023/</a:t>
            </a:r>
          </a:p>
          <a:p xmlns:a="http://schemas.openxmlformats.org/drawingml/2006/main">
            <a:r>
              <a:t>2026-10-22核对。口头讨论后揭示。不能推出新加坡人不吃饺子，或北方人不吃鱼生。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检查订正，整理个人词语，按需导出记录。未自动评分的题由教师覆核。</a:t>
            </a:r>
          </a:p>
          <a:p xmlns:a="http://schemas.openxmlformats.org/drawingml/2006/main">
            <a:r>
              <a:t>来源：教师提供的《幸运饺子》课文、巩固练习、教参与四页原漫画。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c4f8a08854c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444390d24496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7e5a5c48e43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9b0717ddc42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a9dddb4b0a41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354a1c0294b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95ACB3-298F-4F3C-B832-B7ED7D8DD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1EFAED-4FCC-4871-9734-7CE3E279A5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91174A-F25A-4E87-BBC7-BE77A951F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549529-5B9F-4696-83F4-451AC2C5F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CC79ED-80E5-4C17-AE59-C45D9DA2F7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CAC3FA-75A6-41DC-8F34-C71A1B2BC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E5D49D-B6AD-466D-9729-7CF172B0D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5BAF32C-3015-4E0C-A3D0-4B7E55163B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4CEA07-99C3-432C-B023-FEED2EFFC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E1233B-6BC5-4283-B50B-94B7329414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096b0060c644b4" /><Relationship Type="http://schemas.openxmlformats.org/officeDocument/2006/relationships/slideLayout" Target="/ppt/slideLayouts/slideLayout1.xml" Id="Rd3d840ba7d1e4402" /><Relationship Type="http://schemas.openxmlformats.org/officeDocument/2006/relationships/slideLayout" Target="/ppt/slideLayouts/slideLayout2.xml" Id="R6e2f7a578cae429c" /><Relationship Type="http://schemas.openxmlformats.org/officeDocument/2006/relationships/slideLayout" Target="/ppt/slideLayouts/slideLayout3.xml" Id="R2901f61220a34191" /><Relationship Type="http://schemas.openxmlformats.org/officeDocument/2006/relationships/slideLayout" Target="/ppt/slideLayouts/slideLayout4.xml" Id="R3ed78ad0c53e428c" /><Relationship Type="http://schemas.openxmlformats.org/officeDocument/2006/relationships/slideLayout" Target="/ppt/slideLayouts/slideLayout5.xml" Id="R2e7b1f4729b0426d" /><Relationship Type="http://schemas.openxmlformats.org/officeDocument/2006/relationships/slideLayout" Target="/ppt/slideLayouts/slideLayout6.xml" Id="R092b10693cc747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840ba7d1e4402"/>
    <p:sldLayoutId xmlns:r="http://schemas.openxmlformats.org/officeDocument/2006/relationships" id="2147483650" r:id="R6e2f7a578cae429c"/>
    <p:sldLayoutId xmlns:r="http://schemas.openxmlformats.org/officeDocument/2006/relationships" id="2147483651" r:id="R2901f61220a34191"/>
    <p:sldLayoutId xmlns:r="http://schemas.openxmlformats.org/officeDocument/2006/relationships" id="2147483652" r:id="R3ed78ad0c53e428c"/>
    <p:sldLayoutId xmlns:r="http://schemas.openxmlformats.org/officeDocument/2006/relationships" id="2147483653" r:id="R2e7b1f4729b0426d"/>
    <p:sldLayoutId xmlns:r="http://schemas.openxmlformats.org/officeDocument/2006/relationships" id="2147483654" r:id="R092b10693cc747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783ceaa724dc3" /><Relationship Type="http://schemas.openxmlformats.org/officeDocument/2006/relationships/image" Target="/ppt/media/image.png" Id="R082031ee856f4d61" /><Relationship Type="http://schemas.openxmlformats.org/officeDocument/2006/relationships/notesSlide" Target="/ppt/notesSlides/notesSlide1.xml" Id="R1aa9f764094a41e2" 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8d6c3ad44c4ea1"/><Relationship Type="http://schemas.openxmlformats.org/officeDocument/2006/relationships/image" Target="/ppt/media/image.png" Id="R9e6aa815b6644ed8"/><Relationship Type="http://schemas.openxmlformats.org/officeDocument/2006/relationships/notesSlide" Target="/ppt/notesSlides/notesSlide2.xml" Id="Re542c2ee7a6d442e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9b70575c245b4" /><Relationship Type="http://schemas.openxmlformats.org/officeDocument/2006/relationships/notesSlide" Target="/ppt/notesSlides/notesSlide3.xml" Id="R5b02ba5f46e545c7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8d184006bfe474b"/><Relationship Type="http://schemas.openxmlformats.org/officeDocument/2006/relationships/image" Target="/ppt/media/image.png" Id="R5351f1dc601a4596"/><Relationship Type="http://schemas.openxmlformats.org/officeDocument/2006/relationships/notesSlide" Target="/ppt/notesSlides/notesSlide4.xml" Id="R80b978f18af041f4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e59cb7f4e4e73" /><Relationship Type="http://schemas.openxmlformats.org/officeDocument/2006/relationships/notesSlide" Target="/ppt/notesSlides/notesSlide5.xml" Id="Rda96b901695144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f26b53b0e45cf" /><Relationship Type="http://schemas.openxmlformats.org/officeDocument/2006/relationships/notesSlide" Target="/ppt/notesSlides/notesSlide6.xml" Id="Rc1f0c8f7b50843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a3c6b9dbd46f3" /><Relationship Type="http://schemas.openxmlformats.org/officeDocument/2006/relationships/image" Target="/ppt/media/image4.png" Id="R90024bb1cc3640c1" /><Relationship Type="http://schemas.openxmlformats.org/officeDocument/2006/relationships/notesSlide" Target="/ppt/notesSlides/notesSlide7.xml" Id="R4d302c835edb407d" 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33e38627c94281"/><Relationship Type="http://schemas.openxmlformats.org/officeDocument/2006/relationships/image" Target="/ppt/media/image4.png" Id="R54d7ca1aee2a4b0f"/><Relationship Type="http://schemas.openxmlformats.org/officeDocument/2006/relationships/notesSlide" Target="/ppt/notesSlides/notesSlide8.xml" Id="R8c1ea1064e9e43a2"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22379bc814348" /><Relationship Type="http://schemas.openxmlformats.org/officeDocument/2006/relationships/notesSlide" Target="/ppt/notesSlides/notesSlide9.xml" Id="R74323d7bb99843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f82b1ebbc42b1" /><Relationship Type="http://schemas.openxmlformats.org/officeDocument/2006/relationships/image" Target="/ppt/media/image6.png" Id="R0923035727f64af9" /><Relationship Type="http://schemas.openxmlformats.org/officeDocument/2006/relationships/notesSlide" Target="/ppt/notesSlides/notesSlide10.xml" Id="R25560af08a1441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8c2422f584528" /><Relationship Type="http://schemas.openxmlformats.org/officeDocument/2006/relationships/notesSlide" Target="/ppt/notesSlides/notesSlide11.xml" Id="R3aff5f44a2d542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eb8ab89c74b53" /><Relationship Type="http://schemas.openxmlformats.org/officeDocument/2006/relationships/notesSlide" Target="/ppt/notesSlides/notesSlide12.xml" Id="R0066c458c47d4e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2b7f0cae24bb5" /><Relationship Type="http://schemas.openxmlformats.org/officeDocument/2006/relationships/notesSlide" Target="/ppt/notesSlides/notesSlide13.xml" Id="Rd9ee548349984f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6194dbc7a4ec8" /><Relationship Type="http://schemas.openxmlformats.org/officeDocument/2006/relationships/notesSlide" Target="/ppt/notesSlides/notesSlide14.xml" Id="R79109ea956f54d68" 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d23cc48c0ca4192"/><Relationship Type="http://schemas.openxmlformats.org/officeDocument/2006/relationships/image" Target="/ppt/media/image6.png" Id="R8e2b3c938dda45da"/><Relationship Type="http://schemas.openxmlformats.org/officeDocument/2006/relationships/notesSlide" Target="/ppt/notesSlides/notesSlide15.xml" Id="R0bc14e28569d4cd6"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998160c37480e" /><Relationship Type="http://schemas.openxmlformats.org/officeDocument/2006/relationships/notesSlide" Target="/ppt/notesSlides/notesSlide16.xml" Id="R50987771c5cb426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f7aebe3b14811" /><Relationship Type="http://schemas.openxmlformats.org/officeDocument/2006/relationships/notesSlide" Target="/ppt/notesSlides/notesSlide17.xml" Id="R538570de962b49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e11fa508a43ff" /><Relationship Type="http://schemas.openxmlformats.org/officeDocument/2006/relationships/notesSlide" Target="/ppt/notesSlides/notesSlide18.xml" Id="R8c3de764c1684c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18f454fed4d40" /><Relationship Type="http://schemas.openxmlformats.org/officeDocument/2006/relationships/notesSlide" Target="/ppt/notesSlides/notesSlide19.xml" Id="Rd6e52d8e1d424dc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f52a36c2943db" /><Relationship Type="http://schemas.openxmlformats.org/officeDocument/2006/relationships/notesSlide" Target="/ppt/notesSlides/notesSlide20.xml" Id="Rd9efd4d986cc42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c0e82b5b649a6" /><Relationship Type="http://schemas.openxmlformats.org/officeDocument/2006/relationships/notesSlide" Target="/ppt/notesSlides/notesSlide21.xml" Id="Rf4e0fa98316f4f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f7372851b4cc8" /><Relationship Type="http://schemas.openxmlformats.org/officeDocument/2006/relationships/notesSlide" Target="/ppt/notesSlides/notesSlide22.xml" Id="Rb8a1609a239544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4aceaad5945ec" /><Relationship Type="http://schemas.openxmlformats.org/officeDocument/2006/relationships/notesSlide" Target="/ppt/notesSlides/notesSlide23.xml" Id="Rd9068ed0e2ca4c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f3481f1304619" /><Relationship Type="http://schemas.openxmlformats.org/officeDocument/2006/relationships/notesSlide" Target="/ppt/notesSlides/notesSlide24.xml" Id="R1a1550132c68408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77f3f0b1e472d" /><Relationship Type="http://schemas.openxmlformats.org/officeDocument/2006/relationships/notesSlide" Target="/ppt/notesSlides/notesSlide25.xml" Id="R3bef84051a044e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079862dc44f12" /><Relationship Type="http://schemas.openxmlformats.org/officeDocument/2006/relationships/notesSlide" Target="/ppt/notesSlides/notesSlide26.xml" Id="R54ea1fcd79f74a5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ad9cb9dfbe4f3c" /><Relationship Type="http://schemas.openxmlformats.org/officeDocument/2006/relationships/notesSlide" Target="/ppt/notesSlides/notesSlide27.xml" Id="Ree55f6456ae142b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2c10c4a644701" /><Relationship Type="http://schemas.openxmlformats.org/officeDocument/2006/relationships/notesSlide" Target="/ppt/notesSlides/notesSlide28.xml" Id="R907ba9d499bb422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e53e63ae9d4b75" /><Relationship Type="http://schemas.openxmlformats.org/officeDocument/2006/relationships/notesSlide" Target="/ppt/notesSlides/notesSlide29.xml" Id="R1e49aaf73f7d4e1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5bf561d8f4717" /><Relationship Type="http://schemas.openxmlformats.org/officeDocument/2006/relationships/notesSlide" Target="/ppt/notesSlides/notesSlide30.xml" Id="Racd2fc1151a2400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4ea3d24264983" /><Relationship Type="http://schemas.openxmlformats.org/officeDocument/2006/relationships/notesSlide" Target="/ppt/notesSlides/notesSlide31.xml" Id="Rf2b9031dc6c04d2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d7b2bbea44945" /><Relationship Type="http://schemas.openxmlformats.org/officeDocument/2006/relationships/notesSlide" Target="/ppt/notesSlides/notesSlide32.xml" Id="R4d78cac2eef2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CAD3D8-BAEC-4ED3-80CD-D824FCE6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中一高级华文 · 单元二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8E6C1-5262-47CC-91D8-69A2E2E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77784-9954-497D-B753-BBC99A21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431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585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幸运饺子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FA877-8B99-4920-A205-5DB30F29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909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巩固课文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0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人物用意 · 词句 · 线索与主题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1FF84-6080-4527-ADF8-690F27F2D4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031ee856f4d61"/>
          <a:srcRect xmlns:a="http://schemas.openxmlformats.org/drawingml/2006/main" l="684" t="6185" r="50098" b="72526"/>
          <a:stretch xmlns:a="http://schemas.openxmlformats.org/drawingml/2006/main"/>
        </p:blipFill>
        <p:spPr>
          <a:xfrm xmlns:a="http://schemas.openxmlformats.org/drawingml/2006/main">
            <a:off x="7620000" y="1905000"/>
            <a:ext cx="3905250" cy="25337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773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C05B3-04E9-415E-9D0E-B09C425C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第1段 · 年年包饺子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5E42F-449B-4842-A5BD-FFDB1CD0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1A50F-892A-4516-BC42-A4D26434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6858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中国北方人为什么喜欢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在大年三十吃饺子？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结合第1段，说说你的想法。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DF014-5411-40A1-B030-12E7CD26C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aa815b6644ed8"/>
          <a:srcRect xmlns:a="http://schemas.openxmlformats.org/drawingml/2006/main" l="50586" t="6185" r="586" b="72526"/>
          <a:stretch xmlns:a="http://schemas.openxmlformats.org/drawingml/2006/main"/>
        </p:blipFill>
        <p:spPr>
          <a:xfrm xmlns:a="http://schemas.openxmlformats.org/drawingml/2006/main">
            <a:off x="7810500" y="1952625"/>
            <a:ext cx="3619500" cy="23671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091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49E9F-A9F0-481A-B58C-2B0F9ECF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第一课 · 自主读第1—5段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F3437-90F1-4829-93FA-6679E9D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F26FF-C8A2-4042-9B79-0520A141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按段读原文，对照漫画。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碰到不懂的词，可以点词查看。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读完后想一想：谁做了什么？</a:t>
            </a:r>
          </a:p>
        </p:txBody>
      </p:sp>
    </p:spTree>
    <p:extLst>
      <p:ext uri="{BB962C8B-B14F-4D97-AF65-F5344CB8AC3E}">
        <p14:creationId xmlns:p14="http://schemas.microsoft.com/office/powerpoint/2010/main" val="787599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BEAF6-28EF-4EED-95C8-8C4F3ECD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第2段 · 姑姑</a:t>
            </a:r>
            <a:r>
              <a:rPr sz="3600" b="1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为什么</a:t>
            </a: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阻止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DFA6D-EA4C-43E3-BAD9-2D8F971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9752D-DE0F-4C90-8599-2760065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647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姑姑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为什么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阻止“我”在饺子上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做记号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F02B1-13AD-4EC7-B2E2-B3CC1752A0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1f1dc601a4596"/>
          <a:srcRect xmlns:a="http://schemas.openxmlformats.org/drawingml/2006/main" l="50586" t="74674" r="586" b="521"/>
          <a:stretch xmlns:a="http://schemas.openxmlformats.org/drawingml/2006/main"/>
        </p:blipFill>
        <p:spPr>
          <a:xfrm xmlns:a="http://schemas.openxmlformats.org/drawingml/2006/main">
            <a:off x="7524750" y="1790700"/>
            <a:ext cx="4000500" cy="30483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35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E6E1E-14B7-400E-B62D-B9B0CED2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第2段 · 维护游戏规则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25194-AD01-45B7-B472-315986A5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772B7-9698-4341-8B13-87C0DBA3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做记号，就能有意挑出幸运饺子。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姑姑阻止“我”做记号，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让谁吃到它仍由偶然决定。</a:t>
            </a:r>
          </a:p>
        </p:txBody>
      </p:sp>
    </p:spTree>
    <p:extLst>
      <p:ext uri="{BB962C8B-B14F-4D97-AF65-F5344CB8AC3E}">
        <p14:creationId xmlns:p14="http://schemas.microsoft.com/office/powerpoint/2010/main" val="1877538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2058C-1E3B-4F11-8741-786363FB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第3段 · 把心意送给</a:t>
            </a:r>
            <a:r>
              <a:rPr sz="3600" b="1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奶奶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77884-6D6B-4089-8EBE-99851963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9381-04F5-4FBC-9084-5D46515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“我”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如何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表达对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奶奶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的爱？</a:t>
            </a:r>
          </a:p>
        </p:txBody>
      </p:sp>
    </p:spTree>
    <p:extLst>
      <p:ext uri="{BB962C8B-B14F-4D97-AF65-F5344CB8AC3E}">
        <p14:creationId xmlns:p14="http://schemas.microsoft.com/office/powerpoint/2010/main" val="88489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CE51E-DDCC-4605-8CE7-9635F20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第3段 · 行动与心意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CE5CF-0619-4817-B2BA-82F54013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156C7-8BBF-4BBB-B6B8-65C1F352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6858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行动：把幸运饺子夹给奶奶。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原因：奶奶向来最疼爱“我”。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心意：把祝愿送给奶奶。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4239E-6DAD-431D-A401-5545CCD57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24bb1cc3640c1"/>
          <a:srcRect xmlns:a="http://schemas.openxmlformats.org/drawingml/2006/main" l="50586" t="50130" r="586" b="27669"/>
          <a:stretch xmlns:a="http://schemas.openxmlformats.org/drawingml/2006/main"/>
        </p:blipFill>
        <p:spPr>
          <a:xfrm xmlns:a="http://schemas.openxmlformats.org/drawingml/2006/main">
            <a:off x="7810500" y="1943100"/>
            <a:ext cx="3619500" cy="24684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8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4AC3C-9089-41A8-9839-580EB6B5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第4段 · 眨眨眼的意思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E479C-423C-4657-A7BE-E95A7ACD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ED240-056F-4CA7-9468-90B7A37D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647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可以把“眨眨眼”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换成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“微笑”吗？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有什么不一样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F9C79-8C00-45D4-A936-3966A0474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7ca1aee2a4b0f"/>
          <a:srcRect xmlns:a="http://schemas.openxmlformats.org/drawingml/2006/main" l="684" t="72721" r="50098" b="716"/>
          <a:stretch xmlns:a="http://schemas.openxmlformats.org/drawingml/2006/main"/>
        </p:blipFill>
        <p:spPr>
          <a:xfrm xmlns:a="http://schemas.openxmlformats.org/drawingml/2006/main">
            <a:off x="7524750" y="1790700"/>
            <a:ext cx="4000500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073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28E53-8724-4FBC-9B2A-C70839AB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第4段 · 动作传递默契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410A1-904D-4DEA-8B23-1BE32674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62202-A3E2-4FC7-920D-C2D35E93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“眨眨眼”较隐蔽，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不容易被其他人发现。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不用说出来，“我”也能明白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奶奶已经知道这份心意。</a:t>
            </a:r>
          </a:p>
        </p:txBody>
      </p:sp>
    </p:spTree>
    <p:extLst>
      <p:ext uri="{BB962C8B-B14F-4D97-AF65-F5344CB8AC3E}">
        <p14:creationId xmlns:p14="http://schemas.microsoft.com/office/powerpoint/2010/main" val="1446548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52551-3289-4F35-A1E1-CBE33AD9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第5段 · 姑姑</a:t>
            </a:r>
            <a:r>
              <a:rPr sz="3600" b="1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细心</a:t>
            </a: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761C1-A935-423F-90CA-E894266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0F282-80EA-4B13-A655-4DFEF70D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647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从哪里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可以看出姑姑是个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细心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的人？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D5572-B223-461C-B9C6-2E4DD9782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3035727f64af9"/>
          <a:srcRect xmlns:a="http://schemas.openxmlformats.org/drawingml/2006/main" l="50586" t="28125" r="586" b="50195"/>
          <a:stretch xmlns:a="http://schemas.openxmlformats.org/drawingml/2006/main"/>
        </p:blipFill>
        <p:spPr>
          <a:xfrm xmlns:a="http://schemas.openxmlformats.org/drawingml/2006/main">
            <a:off x="7524750" y="1790700"/>
            <a:ext cx="4000500" cy="26643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50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01035-F1EE-4449-B8C3-96899E7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人物题 · 用行为证明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6FE10-D370-4F05-BF9A-FE4D2F36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9C860-F92F-4D92-9DB0-48C4605E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自己的判断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具体行为：谁做了什么？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5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解释：这为什么说明人物的特点？</a:t>
            </a:r>
          </a:p>
        </p:txBody>
      </p:sp>
    </p:spTree>
    <p:extLst>
      <p:ext uri="{BB962C8B-B14F-4D97-AF65-F5344CB8AC3E}">
        <p14:creationId xmlns:p14="http://schemas.microsoft.com/office/powerpoint/2010/main" val="9005269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D63B3-7A17-4226-9FBB-58585069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姑姑细心 · 参考答案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9DED9-28D1-4B8C-848E-A39E7F3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7D1C1-0EF0-4E6E-9FCE-A6A357DD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“我”偷偷做记号时，姑姑发现并阻止。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妈妈趁她不注意换碗，她马上发现。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这些行为说明她能留意细小的变化。</a:t>
            </a:r>
          </a:p>
        </p:txBody>
      </p:sp>
    </p:spTree>
    <p:extLst>
      <p:ext uri="{BB962C8B-B14F-4D97-AF65-F5344CB8AC3E}">
        <p14:creationId xmlns:p14="http://schemas.microsoft.com/office/powerpoint/2010/main" val="1180674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8A0ED-369D-40C3-84AD-3E0F1077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第二课 · 自主读第6—8段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362DF-8330-4300-BD6F-E20B6054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686CA-994E-462A-88BB-C793AC4A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幸运饺子又到了谁的碗里？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爸爸真的不受关心吗？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4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最后一段，作者认为最重要的是什么？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3591641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6B1A-1AB6-4F68-B9CF-9E8F8BAC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第6段 · 词的本义与语境义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3B2B3-2208-4B9B-9283-FE55451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C8039-7099-4985-9B89-3043A2ED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偷龙转凤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本义：用欺骗的手法，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暗中改变事物的内容。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放回句子：谁？怎样做？改了什么？</a:t>
            </a:r>
          </a:p>
        </p:txBody>
      </p:sp>
    </p:spTree>
    <p:extLst>
      <p:ext uri="{BB962C8B-B14F-4D97-AF65-F5344CB8AC3E}">
        <p14:creationId xmlns:p14="http://schemas.microsoft.com/office/powerpoint/2010/main" val="16015204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049DE-65B6-463C-87BF-6A499F74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第6段 · 偷龙转凤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67978-1987-4C73-A33C-BE756E53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2C208-C6F7-49B6-9C67-C12300D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6477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“偷龙转凤”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是什么意思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为什么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加</a:t>
            </a:r>
            <a:r>
              <a:rPr sz="3300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引号</a:t>
            </a: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F19DA-DA75-48B3-A903-A7F83F2093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b3c938dda45da"/>
          <a:srcRect xmlns:a="http://schemas.openxmlformats.org/drawingml/2006/main" l="684" t="72721" r="50098" b="716"/>
          <a:stretch xmlns:a="http://schemas.openxmlformats.org/drawingml/2006/main"/>
        </p:blipFill>
        <p:spPr>
          <a:xfrm xmlns:a="http://schemas.openxmlformats.org/drawingml/2006/main">
            <a:off x="7524750" y="1790700"/>
            <a:ext cx="4000500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21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ED816-BEDB-4F3E-B683-4837D6F6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第6段 · 借词写动作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11ADD-02ED-4E90-82CF-DC12F998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45424-EDDD-4431-A3FA-63225C2F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姑姑趁“我”不注意，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把幸运饺子放到“我”的碗里。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引号提示借用这个词，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3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形容她悄悄送来祝福的做法。</a:t>
            </a:r>
          </a:p>
        </p:txBody>
      </p:sp>
    </p:spTree>
    <p:extLst>
      <p:ext uri="{BB962C8B-B14F-4D97-AF65-F5344CB8AC3E}">
        <p14:creationId xmlns:p14="http://schemas.microsoft.com/office/powerpoint/2010/main" val="7677907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CBFA3-0BB1-4C9B-9089-651963FD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第7段 · 满满一碗的心意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BD1DF-B261-47C6-B5A7-67411B72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93E46-607C-4A8B-9DF0-B456BB3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为什么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一家人把“幸运饺子”传来传去？他们的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家庭关系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怎么样？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满满一碗的“幸运饺子”为什么加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引号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6362671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A81A1-1339-441A-BA77-CDEDBD28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第7段 · 传来传去的原因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0C475-11F4-484E-A7A2-D4E40DA3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F8F89-1D40-4860-813D-2D32A54B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家人想把美好的祝愿送给彼此，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说明家庭关系融洽、互相关爱。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爸爸碗里的普通饺子也带着心意，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15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因此称为“幸运饺子”。</a:t>
            </a:r>
          </a:p>
        </p:txBody>
      </p:sp>
    </p:spTree>
    <p:extLst>
      <p:ext uri="{BB962C8B-B14F-4D97-AF65-F5344CB8AC3E}">
        <p14:creationId xmlns:p14="http://schemas.microsoft.com/office/powerpoint/2010/main" val="14901974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CB784-CB48-4A7D-86B1-88439014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第8段 · 课文结尾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A21A-D391-4AC9-A414-BD2475FA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4FA21-9357-4924-9C61-D874DDA8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其实，吃没吃到幸运饺子并不重要，重要的是，我们一家人能够开开心心地团聚在一起。</a:t>
            </a:r>
          </a:p>
        </p:txBody>
      </p:sp>
    </p:spTree>
    <p:extLst>
      <p:ext uri="{BB962C8B-B14F-4D97-AF65-F5344CB8AC3E}">
        <p14:creationId xmlns:p14="http://schemas.microsoft.com/office/powerpoint/2010/main" val="1619700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C9222-21AC-444B-A603-156DA2D1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线索与主题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79200-62FE-42BF-94AB-F1791042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E2E2E-EDAA-459F-A725-8D78135D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线索：用什么把几件事串起来？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主题：借这些事情表达什么想法？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45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先看课本七行内容，再作判断。</a:t>
            </a:r>
          </a:p>
        </p:txBody>
      </p:sp>
    </p:spTree>
    <p:extLst>
      <p:ext uri="{BB962C8B-B14F-4D97-AF65-F5344CB8AC3E}">
        <p14:creationId xmlns:p14="http://schemas.microsoft.com/office/powerpoint/2010/main" val="20134414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7F013-44C5-4A64-BA28-1FBD14B6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全文 · 线索与主题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84A20-89FC-486C-B67E-9268AE9A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F2BE8-02EC-461E-95E0-7F995EA6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读课文，找出事物线索，理解文章主题。</a:t>
            </a:r>
          </a:p>
        </p:txBody>
      </p:sp>
    </p:spTree>
    <p:extLst>
      <p:ext uri="{BB962C8B-B14F-4D97-AF65-F5344CB8AC3E}">
        <p14:creationId xmlns:p14="http://schemas.microsoft.com/office/powerpoint/2010/main" val="10926586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BDC32-234B-45C0-9EB4-F55A0E21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课本第二题 · 第1—4段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0AD68-1FD6-41BB-A871-F6289CE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97811-62CE-4F24-9A5C-2C041915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第1段：喜欢吃到幸运饺子的喜悦。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第2段：姑姑包红枣，送上祝福。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第3段：“我”把饺子夹给奶奶。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第4段：奶奶把饺子夹给妈妈。</a:t>
            </a:r>
          </a:p>
        </p:txBody>
      </p:sp>
    </p:spTree>
    <p:extLst>
      <p:ext uri="{BB962C8B-B14F-4D97-AF65-F5344CB8AC3E}">
        <p14:creationId xmlns:p14="http://schemas.microsoft.com/office/powerpoint/2010/main" val="13723245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21938-C747-4A33-B20C-D2AA40D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课本第二题 · 第5—7段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4AF15-788F-4941-BF9E-1B478FF0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251A2-3EDC-4554-A155-BE51BCF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第5段：妈妈与姑姑换碗。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第6段：姑姑悄悄把饺子给“我”。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第7段：大家把饺子夹给爸爸，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　　　　一家人都笑了。</a:t>
            </a:r>
          </a:p>
        </p:txBody>
      </p:sp>
    </p:spTree>
    <p:extLst>
      <p:ext uri="{BB962C8B-B14F-4D97-AF65-F5344CB8AC3E}">
        <p14:creationId xmlns:p14="http://schemas.microsoft.com/office/powerpoint/2010/main" val="8117742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64EF0-9F0C-4897-8085-4961819A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全文 · 线索与主题的答案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F90B9-6475-4EAB-9F6D-BF60FFAF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F19C1-D465-45EB-A45A-33FF60C3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线索：幸运饺子。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它串起包、转送、吃到与最后的玩笑。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主题：家人互相关爱，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　　　开心团聚比谁得到幸运更重要。</a:t>
            </a:r>
          </a:p>
        </p:txBody>
      </p:sp>
    </p:spTree>
    <p:extLst>
      <p:ext uri="{BB962C8B-B14F-4D97-AF65-F5344CB8AC3E}">
        <p14:creationId xmlns:p14="http://schemas.microsoft.com/office/powerpoint/2010/main" val="8424692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55580-1A83-4CB6-85A0-FE82AD11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第8段 · 我</a:t>
            </a:r>
            <a:r>
              <a:rPr sz="3600" b="1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理解</a:t>
            </a: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的团聚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34C67-F867-4843-AB61-97ADF15A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646C7-1086-4C30-882A-6B1B3978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结合课文内容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和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自己的生活经验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说说你对第8段内容的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理解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413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3E2DD-FA03-4E20-B83D-ADD2697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开放回应 · 说清为什么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91461-06C8-465E-BEE4-BDB4AC29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DD022-2871-4333-84ED-CC5B6642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看法：我怎样理解？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理由：为什么？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依据：课文中有什么事？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例子：我自己有过什么经历？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225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回扣：这怎样支持我的看法？</a:t>
            </a:r>
          </a:p>
        </p:txBody>
      </p:sp>
    </p:spTree>
    <p:extLst>
      <p:ext uri="{BB962C8B-B14F-4D97-AF65-F5344CB8AC3E}">
        <p14:creationId xmlns:p14="http://schemas.microsoft.com/office/powerpoint/2010/main" val="237933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51CDE-218D-40E2-9B5E-5D89CB7B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开放回应 · 对照方法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2F8A9-EC1F-4FAA-89FC-7FE6D0C1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BB952-FBF9-48B5-930E-2B3A8232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课文中，家人把饺子传给彼此，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表达了互相祝福的心意。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再检查自己的真实经历：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谁做了什么？你有什么感受？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7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这怎样说明团聚或关爱的价值？</a:t>
            </a:r>
          </a:p>
        </p:txBody>
      </p:sp>
    </p:spTree>
    <p:extLst>
      <p:ext uri="{BB962C8B-B14F-4D97-AF65-F5344CB8AC3E}">
        <p14:creationId xmlns:p14="http://schemas.microsoft.com/office/powerpoint/2010/main" val="1638501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5ED4E-FFD0-48ED-BF6D-4529A04F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第8段 · 仿写句子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53D3A-60F3-4074-9FD7-0639AD68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8EF16-17A7-4FE0-977E-181B4D23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仿写句子。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例：吃没吃到幸运饺子</a:t>
            </a: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并不重要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B21F32"/>
                </a:solidFill>
                <a:latin typeface="Huawentong WenKai"/>
                <a:ea typeface="Huawentong WenKai"/>
                <a:cs typeface="Huawentong WenKai"/>
              </a:rPr>
              <a:t>重要的是</a:t>
            </a: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，我们一家人能够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开开心心地团聚在一起。</a:t>
            </a:r>
          </a:p>
        </p:txBody>
      </p:sp>
    </p:spTree>
    <p:extLst>
      <p:ext uri="{BB962C8B-B14F-4D97-AF65-F5344CB8AC3E}">
        <p14:creationId xmlns:p14="http://schemas.microsoft.com/office/powerpoint/2010/main" val="17060128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38EA1-4C3E-4BE5-8DBB-BD30DA2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仿句 · 一种合理示范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6AE16-CD3D-4E27-91FB-B01D9171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1C10B-B4BA-49E8-A9A2-C14E2BB8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比赛有没有拿第一并不重要，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重要的是，我们在准备和比赛中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学会合作。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前后谈同一件事，并比较轻重。</a:t>
            </a:r>
          </a:p>
        </p:txBody>
      </p:sp>
    </p:spTree>
    <p:extLst>
      <p:ext uri="{BB962C8B-B14F-4D97-AF65-F5344CB8AC3E}">
        <p14:creationId xmlns:p14="http://schemas.microsoft.com/office/powerpoint/2010/main" val="191203077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0FFE8-FF86-40BA-998F-F04204E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查资料 · 两地过年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E3951-75F4-4736-8075-90FCA0C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034BF-6686-4270-9D4C-4199B2DD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上网查一查，然后和同学讨论：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中国北方过农历新年和新加坡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225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有什么不同。</a:t>
            </a:r>
          </a:p>
        </p:txBody>
      </p:sp>
    </p:spTree>
    <p:extLst>
      <p:ext uri="{BB962C8B-B14F-4D97-AF65-F5344CB8AC3E}">
        <p14:creationId xmlns:p14="http://schemas.microsoft.com/office/powerpoint/2010/main" val="17998056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8C06A-C2FF-4D73-8E20-E0C30137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两地过年 · 比较同一方面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03C5F-4352-4660-92BE-AEC1D9C0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0607A-63F4-4519-A406-50436E9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中国北方：常见全家包饺子、吃饺子。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新加坡华人：常见一起捞鱼生、</a:t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　　　　　　说吉祥话。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000" b="0">
                <a:solidFill>
                  <a:srgbClr val="1B354F"/>
                </a:solidFill>
                <a:latin typeface="Huawentong WenKai"/>
                <a:ea typeface="Huawentong WenKai"/>
                <a:cs typeface="Huawentong WenKai"/>
              </a:rPr>
              <a:t>做法有不同，都能寄托祝福与团聚之情。</a:t>
            </a:r>
          </a:p>
        </p:txBody>
      </p:sp>
    </p:spTree>
    <p:extLst>
      <p:ext uri="{BB962C8B-B14F-4D97-AF65-F5344CB8AC3E}">
        <p14:creationId xmlns:p14="http://schemas.microsoft.com/office/powerpoint/2010/main" val="7649798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B687D-2C04-423E-AD95-C21C95CA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1104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defPPr>
            <a:lvl1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1pPr>
            <a:lvl2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2pPr>
            <a:lvl3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3pPr>
            <a:lvl4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4pPr>
            <a:lvl5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5pPr>
            <a:lvl6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6pPr>
            <a:lvl7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7pPr>
            <a:lvl8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8pPr>
            <a:lvl9pPr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defRPr>
            </a:pPr>
            <a:r>
              <a:rPr sz="3600" b="1">
                <a:solidFill>
                  <a:srgbClr val="185E94"/>
                </a:solidFill>
                <a:latin typeface="Huawentong WenKai"/>
                <a:ea typeface="Huawentong WenKai"/>
                <a:cs typeface="Huawentong WenKai"/>
              </a:rPr>
              <a:t>当堂检查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5497E-2256-4C0A-83BF-E7D9F661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5792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850" b="0">
                <a:solidFill>
                  <a:srgbClr val="185E94"/>
                </a:solidFill>
                <a:latin typeface="Noto Serif CJK SC"/>
                <a:ea typeface="Noto Serif CJK SC"/>
                <a:cs typeface="Noto Serif CJK S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C1E7E-FE6F-4E27-8070-9E880A66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906125" cy="445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1pPr>
            <a:lvl2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2pPr>
            <a:lvl3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3pPr>
            <a:lvl4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4pPr>
            <a:lvl5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5pPr>
            <a:lvl6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6pPr>
            <a:lvl7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7pPr>
            <a:lvl8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8pPr>
            <a:lvl9pPr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人物判断，有没有行为证据？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词语解释，有没有放回句子？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线索与主题，有没有分清？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6000"/>
              </a:lnSpc>
              <a:buNone/>
              <a:def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0">
                <a:solidFill>
                  <a:srgbClr val="1B354F"/>
                </a:solidFill>
                <a:latin typeface="Noto Serif CJK SC"/>
                <a:ea typeface="Noto Serif CJK SC"/>
                <a:cs typeface="Noto Serif CJK SC"/>
              </a:rPr>
              <a:t>开放回应，有没有解释为什么？</a:t>
            </a:r>
          </a:p>
        </p:txBody>
      </p:sp>
    </p:spTree>
    <p:extLst>
      <p:ext uri="{BB962C8B-B14F-4D97-AF65-F5344CB8AC3E}">
        <p14:creationId xmlns:p14="http://schemas.microsoft.com/office/powerpoint/2010/main" val="2100438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2026-10-22T06:31:47.2550000Z</dcterms:created>
  <dcterms:modified xsi:type="dcterms:W3CDTF">2026-10-22T06:31:47.2560000Z</dcterms:modified>
</coreProperties>
</file>