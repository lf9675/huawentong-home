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CA0"/>
          </a:solidFill>
          <a:ln w="12700">
            <a:solidFill>
              <a:srgbClr val="205C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05CA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中一高级华文 · 单元二 · 核心课文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0" b="1" dirty="0">
                <a:solidFill>
                  <a:srgbClr val="163E67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迟到</a:t>
            </a:r>
            <a:endParaRPr lang="en-US" sz="6700" dirty="0"/>
          </a:p>
        </p:txBody>
      </p:sp>
      <p:sp>
        <p:nvSpPr>
          <p:cNvPr id="5" name="Text 3"/>
          <p:cNvSpPr/>
          <p:nvPr/>
        </p:nvSpPr>
        <p:spPr>
          <a:xfrm>
            <a:off x="868680" y="297180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dirty="0">
                <a:solidFill>
                  <a:srgbClr val="192F43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两课时 · 漫画阅读 + 证据链答题</a:t>
            </a:r>
            <a:endParaRPr lang="en-US" sz="3700" dirty="0"/>
          </a:p>
        </p:txBody>
      </p:sp>
      <p:pic>
        <p:nvPicPr>
          <p:cNvPr id="6" name="Image 0" descr="/mnt/data/chidao_build/panels/p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25880"/>
            <a:ext cx="37490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CA0"/>
          </a:solidFill>
          <a:ln w="12700">
            <a:solidFill>
              <a:srgbClr val="205C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05CA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Learning targets（学习目标）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105156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163E67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读懂故事 → 找依据 → 推断人物</a:t>
            </a:r>
            <a:endParaRPr lang="en-US" sz="4700" dirty="0"/>
          </a:p>
        </p:txBody>
      </p:sp>
      <p:sp>
        <p:nvSpPr>
          <p:cNvPr id="5" name="Text 3"/>
          <p:cNvSpPr/>
          <p:nvPr/>
        </p:nvSpPr>
        <p:spPr>
          <a:xfrm>
            <a:off x="905256" y="4251960"/>
            <a:ext cx="10424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dirty="0">
                <a:solidFill>
                  <a:srgbClr val="C32D36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Direct Info（直接信息） + 必要的 Inference（推断）</a:t>
            </a:r>
            <a:endParaRPr lang="en-US" sz="3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CA0"/>
          </a:solidFill>
          <a:ln w="12700">
            <a:solidFill>
              <a:srgbClr val="205C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05CA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How to answer（答题流程）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105156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163E67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审题 → 找原文 → 答要点</a:t>
            </a:r>
            <a:endParaRPr lang="en-US" sz="4700" dirty="0"/>
          </a:p>
        </p:txBody>
      </p:sp>
      <p:sp>
        <p:nvSpPr>
          <p:cNvPr id="5" name="Text 3"/>
          <p:cNvSpPr/>
          <p:nvPr/>
        </p:nvSpPr>
        <p:spPr>
          <a:xfrm>
            <a:off x="905256" y="4251960"/>
            <a:ext cx="10424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dirty="0">
                <a:solidFill>
                  <a:srgbClr val="C32D36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推断要能回答：根据哪一句？</a:t>
            </a:r>
            <a:endParaRPr lang="en-US" sz="3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CA0"/>
          </a:solidFill>
          <a:ln w="12700">
            <a:solidFill>
              <a:srgbClr val="205C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05CA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LESSON 1 · 第1—11段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0" b="1" dirty="0">
                <a:solidFill>
                  <a:srgbClr val="163E67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第一课时</a:t>
            </a:r>
            <a:endParaRPr lang="en-US" sz="6700" dirty="0"/>
          </a:p>
        </p:txBody>
      </p:sp>
      <p:sp>
        <p:nvSpPr>
          <p:cNvPr id="5" name="Text 3"/>
          <p:cNvSpPr/>
          <p:nvPr/>
        </p:nvSpPr>
        <p:spPr>
          <a:xfrm>
            <a:off x="868680" y="297180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dirty="0">
                <a:solidFill>
                  <a:srgbClr val="192F43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为什么“我”坚持赖床？</a:t>
            </a:r>
            <a:endParaRPr lang="en-US" sz="3700" dirty="0"/>
          </a:p>
        </p:txBody>
      </p:sp>
      <p:pic>
        <p:nvPicPr>
          <p:cNvPr id="6" name="Image 0" descr="/mnt/data/chidao_build/panels/p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25880"/>
            <a:ext cx="37490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CA0"/>
          </a:solidFill>
          <a:ln w="12700">
            <a:solidFill>
              <a:srgbClr val="205C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05CA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第1段 · 审题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6492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100" b="1" dirty="0">
                <a:solidFill>
                  <a:srgbClr val="192F43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“我”每天为什么怀着恐惧去学校？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777240" y="5166360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C32D36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找出两个直接信息</a:t>
            </a:r>
            <a:endParaRPr lang="en-US" sz="3000" dirty="0"/>
          </a:p>
        </p:txBody>
      </p:sp>
      <p:pic>
        <p:nvPicPr>
          <p:cNvPr id="6" name="Image 0" descr="/mnt/data/chidao_build/panels/p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508760"/>
            <a:ext cx="374904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CA0"/>
          </a:solidFill>
          <a:ln w="12700">
            <a:solidFill>
              <a:srgbClr val="205C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05CA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第1段 · Answer（答案）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6080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92F43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迟到可能被罚站。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3749040"/>
            <a:ext cx="6080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92F43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害怕同学的眼光。</a:t>
            </a:r>
            <a:endParaRPr lang="en-US" sz="3400" dirty="0"/>
          </a:p>
        </p:txBody>
      </p:sp>
      <p:pic>
        <p:nvPicPr>
          <p:cNvPr id="6" name="Image 0" descr="/mnt/data/chidao_build/panels/p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600200"/>
            <a:ext cx="33832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CA0"/>
          </a:solidFill>
          <a:ln w="12700">
            <a:solidFill>
              <a:srgbClr val="205C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05CA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第2段 · 因果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6492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100" b="1" dirty="0">
                <a:solidFill>
                  <a:srgbClr val="192F43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这天下雨，“我”为什么更不想起床？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777240" y="5166360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C32D36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别只答“懒”</a:t>
            </a:r>
            <a:endParaRPr lang="en-US" sz="3000" dirty="0"/>
          </a:p>
        </p:txBody>
      </p:sp>
      <p:pic>
        <p:nvPicPr>
          <p:cNvPr id="6" name="Image 0" descr="/mnt/data/chidao_build/panels/p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508760"/>
            <a:ext cx="374904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CA0"/>
          </a:solidFill>
          <a:ln w="12700">
            <a:solidFill>
              <a:srgbClr val="205C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05CA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第2段 · Answer（答案）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6080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92F43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害怕迟到受罚。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3749040"/>
            <a:ext cx="6080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92F43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雨天走路、穿衣鞋都不舒服。</a:t>
            </a:r>
            <a:endParaRPr lang="en-US" sz="3400" dirty="0"/>
          </a:p>
        </p:txBody>
      </p:sp>
      <p:pic>
        <p:nvPicPr>
          <p:cNvPr id="6" name="Image 0" descr="/mnt/data/chidao_build/panels/p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600200"/>
            <a:ext cx="33832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CA0"/>
          </a:solidFill>
          <a:ln w="12700">
            <a:solidFill>
              <a:srgbClr val="205C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05CA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第3—9段 · 人物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6492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100" b="1" dirty="0">
                <a:solidFill>
                  <a:srgbClr val="192F43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母亲与父亲各有什么反应？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777240" y="5166360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C32D36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对照言语与行动</a:t>
            </a:r>
            <a:endParaRPr lang="en-US" sz="3000" dirty="0"/>
          </a:p>
        </p:txBody>
      </p:sp>
      <p:pic>
        <p:nvPicPr>
          <p:cNvPr id="6" name="Image 0" descr="/mnt/data/chidao_build/panels/p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508760"/>
            <a:ext cx="374904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CA0"/>
          </a:solidFill>
          <a:ln w="12700">
            <a:solidFill>
              <a:srgbClr val="205C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05CA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第3—9段 · Answer（答案）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6080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92F43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妈妈催促，却做不了主。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3749040"/>
            <a:ext cx="6080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92F43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爸爸坚持：晚了也得上学！</a:t>
            </a:r>
            <a:endParaRPr lang="en-US" sz="3400" dirty="0"/>
          </a:p>
        </p:txBody>
      </p:sp>
      <p:pic>
        <p:nvPicPr>
          <p:cNvPr id="6" name="Image 0" descr="/mnt/data/chidao_build/panels/p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600200"/>
            <a:ext cx="33832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CA0"/>
          </a:solidFill>
          <a:ln w="12700">
            <a:solidFill>
              <a:srgbClr val="205C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05CA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第6—9段 · 语言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6492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100" b="1" dirty="0">
                <a:solidFill>
                  <a:srgbClr val="192F43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父亲反复说“起！”，语气有什么特点？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777240" y="5166360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C32D36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想想：命令还是商量？</a:t>
            </a:r>
            <a:endParaRPr lang="en-US" sz="3000" dirty="0"/>
          </a:p>
        </p:txBody>
      </p:sp>
      <p:pic>
        <p:nvPicPr>
          <p:cNvPr id="6" name="Image 0" descr="/mnt/data/chidao_build/panels/p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508760"/>
            <a:ext cx="374904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CA0"/>
          </a:solidFill>
          <a:ln w="12700">
            <a:solidFill>
              <a:srgbClr val="205C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05CA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第6—9段 · Answer（答案）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6080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92F43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短句、感叹号、反复。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3749040"/>
            <a:ext cx="6080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92F43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突出父亲的严厉和急切。</a:t>
            </a:r>
            <a:endParaRPr lang="en-US" sz="3400" dirty="0"/>
          </a:p>
        </p:txBody>
      </p:sp>
      <p:pic>
        <p:nvPicPr>
          <p:cNvPr id="6" name="Image 0" descr="/mnt/data/chidao_build/panels/p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600200"/>
            <a:ext cx="33832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CA0"/>
          </a:solidFill>
          <a:ln w="12700">
            <a:solidFill>
              <a:srgbClr val="205C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05CA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第10—11段 · 动作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6492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100" b="1" dirty="0">
                <a:solidFill>
                  <a:srgbClr val="192F43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“拖”“抄”“抡”表现父亲怎样的情绪？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777240" y="5166360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C32D36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根据三个动词判断</a:t>
            </a:r>
            <a:endParaRPr lang="en-US" sz="3000" dirty="0"/>
          </a:p>
        </p:txBody>
      </p:sp>
      <p:pic>
        <p:nvPicPr>
          <p:cNvPr id="6" name="Image 0" descr="/mnt/data/chidao_build/panels/p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508760"/>
            <a:ext cx="374904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CA0"/>
          </a:solidFill>
          <a:ln w="12700">
            <a:solidFill>
              <a:srgbClr val="205C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05CA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第10—11段 · Answer（答案）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6080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92F43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父亲非常生气。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3749040"/>
            <a:ext cx="6080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92F43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采取了强硬的管教方式。</a:t>
            </a:r>
            <a:endParaRPr lang="en-US" sz="3400" dirty="0"/>
          </a:p>
        </p:txBody>
      </p:sp>
      <p:pic>
        <p:nvPicPr>
          <p:cNvPr id="6" name="Image 0" descr="/mnt/data/chidao_build/panels/p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600200"/>
            <a:ext cx="33832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CA0"/>
          </a:solidFill>
          <a:ln w="12700">
            <a:solidFill>
              <a:srgbClr val="205C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05CA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第10—11段 · 思辨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105156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163E67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理解文本 ≠ 赞同体罚</a:t>
            </a:r>
            <a:endParaRPr lang="en-US" sz="4700" dirty="0"/>
          </a:p>
        </p:txBody>
      </p:sp>
      <p:sp>
        <p:nvSpPr>
          <p:cNvPr id="5" name="Text 3"/>
          <p:cNvSpPr/>
          <p:nvPr/>
        </p:nvSpPr>
        <p:spPr>
          <a:xfrm>
            <a:off x="905256" y="4251960"/>
            <a:ext cx="10424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dirty="0">
                <a:solidFill>
                  <a:srgbClr val="C32D36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我们可以分析父亲的严厉，同时讨论更好的管教方式。</a:t>
            </a:r>
            <a:endParaRPr lang="en-US" sz="3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CA0"/>
          </a:solidFill>
          <a:ln w="12700">
            <a:solidFill>
              <a:srgbClr val="205C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05CA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第一课时 · 故事结构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5166360" cy="32004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B9CE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64224" y="1325880"/>
            <a:ext cx="5166360" cy="32004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B9CE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83080"/>
            <a:ext cx="4617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92F43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平时：害怕迟到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92F43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雨天：决定赖床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601968" y="1783080"/>
            <a:ext cx="4617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92F43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冲突：父亲命令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92F43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高潮：父亲打人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914400" y="4974336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C32D36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背景 → 起因 → 冲突 → 高潮</a:t>
            </a:r>
            <a:endParaRPr lang="en-US" sz="3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CA0"/>
          </a:solidFill>
          <a:ln w="12700">
            <a:solidFill>
              <a:srgbClr val="205C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05CA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Task（短答）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6492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100" b="1" dirty="0">
                <a:solidFill>
                  <a:srgbClr val="192F43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明知父亲严厉，“我”为什么仍赖在床上？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777240" y="5166360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C32D36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写两个原因 + 原文依据</a:t>
            </a:r>
            <a:endParaRPr lang="en-US" sz="3000" dirty="0"/>
          </a:p>
        </p:txBody>
      </p:sp>
      <p:pic>
        <p:nvPicPr>
          <p:cNvPr id="6" name="Image 0" descr="/mnt/data/chidao_build/panels/p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508760"/>
            <a:ext cx="374904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E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CA0"/>
          </a:solidFill>
          <a:ln w="12700">
            <a:solidFill>
              <a:srgbClr val="205C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05CA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LESSON 2 · 第12—19段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0" b="1" dirty="0">
                <a:solidFill>
                  <a:srgbClr val="163E67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第二课时</a:t>
            </a:r>
            <a:endParaRPr lang="en-US" sz="6700" dirty="0"/>
          </a:p>
        </p:txBody>
      </p:sp>
      <p:sp>
        <p:nvSpPr>
          <p:cNvPr id="5" name="Text 3"/>
          <p:cNvSpPr/>
          <p:nvPr/>
        </p:nvSpPr>
        <p:spPr>
          <a:xfrm>
            <a:off x="868680" y="297180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dirty="0">
                <a:solidFill>
                  <a:srgbClr val="192F43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父亲为什么冒雨到学校？</a:t>
            </a:r>
            <a:endParaRPr lang="en-US" sz="3700" dirty="0"/>
          </a:p>
        </p:txBody>
      </p:sp>
      <p:pic>
        <p:nvPicPr>
          <p:cNvPr id="6" name="Image 0" descr="/mnt/data/chidao_build/panels/p3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25880"/>
            <a:ext cx="37490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CA0"/>
          </a:solidFill>
          <a:ln w="12700">
            <a:solidFill>
              <a:srgbClr val="205C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05CA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第12—14段 · 对照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6492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100" b="1" dirty="0">
                <a:solidFill>
                  <a:srgbClr val="192F43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“我”担心迟到会被罚站，实际怎样？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777240" y="5166360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C32D36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找出原文直接说明的原因</a:t>
            </a:r>
            <a:endParaRPr lang="en-US" sz="3000" dirty="0"/>
          </a:p>
        </p:txBody>
      </p:sp>
      <p:pic>
        <p:nvPicPr>
          <p:cNvPr id="6" name="Image 0" descr="/mnt/data/chidao_build/panels/p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508760"/>
            <a:ext cx="374904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E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CA0"/>
          </a:solidFill>
          <a:ln w="12700">
            <a:solidFill>
              <a:srgbClr val="205C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05CA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第12—14段 · Answer（答案）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6080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92F43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虽然迟到，却没有被罚站。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3749040"/>
            <a:ext cx="6080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92F43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因为下雨天可以原谅。</a:t>
            </a:r>
            <a:endParaRPr lang="en-US" sz="3400" dirty="0"/>
          </a:p>
        </p:txBody>
      </p:sp>
      <p:pic>
        <p:nvPicPr>
          <p:cNvPr id="6" name="Image 0" descr="/mnt/data/chidao_build/panels/p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600200"/>
            <a:ext cx="33832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CA0"/>
          </a:solidFill>
          <a:ln w="12700">
            <a:solidFill>
              <a:srgbClr val="205C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05CA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第15段 · 心理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6492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100" b="1" dirty="0">
                <a:solidFill>
                  <a:srgbClr val="192F43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听到老师的话，“我”为何“鼻子一酸”？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777240" y="5166360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C32D36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老师让学生反省哪件事？</a:t>
            </a:r>
            <a:endParaRPr lang="en-US" sz="3000" dirty="0"/>
          </a:p>
        </p:txBody>
      </p:sp>
      <p:pic>
        <p:nvPicPr>
          <p:cNvPr id="6" name="Image 0" descr="/mnt/data/chidao_build/panels/p2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508760"/>
            <a:ext cx="374904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E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CA0"/>
          </a:solidFill>
          <a:ln w="12700">
            <a:solidFill>
              <a:srgbClr val="205C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05CA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第15段 · Answer（答案）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6080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92F43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想到早上不听父母的话。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3749040"/>
            <a:ext cx="6080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92F43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感到内疚、难过，忍不住流泪。</a:t>
            </a:r>
            <a:endParaRPr lang="en-US" sz="3400" dirty="0"/>
          </a:p>
        </p:txBody>
      </p:sp>
      <p:pic>
        <p:nvPicPr>
          <p:cNvPr id="6" name="Image 0" descr="/mnt/data/chidao_build/panels/p2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600200"/>
            <a:ext cx="33832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CA0"/>
          </a:solidFill>
          <a:ln w="12700">
            <a:solidFill>
              <a:srgbClr val="205C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05CA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第16—17段 · 心理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6492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100" b="1" dirty="0">
                <a:solidFill>
                  <a:srgbClr val="192F43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看到窗外的爸爸，为什么“心提到嗓子眼”？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777240" y="5166360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C32D36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联系前面的冲突</a:t>
            </a:r>
            <a:endParaRPr lang="en-US" sz="3000" dirty="0"/>
          </a:p>
        </p:txBody>
      </p:sp>
      <p:pic>
        <p:nvPicPr>
          <p:cNvPr id="6" name="Image 0" descr="/mnt/data/chidao_build/panels/p3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508760"/>
            <a:ext cx="374904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E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CA0"/>
          </a:solidFill>
          <a:ln w="12700">
            <a:solidFill>
              <a:srgbClr val="205C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05CA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第16—17段 · Answer（答案）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6080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92F43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看到父亲非常紧张、害怕。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3749040"/>
            <a:ext cx="6080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92F43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以为父亲又来责备自己。</a:t>
            </a:r>
            <a:endParaRPr lang="en-US" sz="3400" dirty="0"/>
          </a:p>
        </p:txBody>
      </p:sp>
      <p:pic>
        <p:nvPicPr>
          <p:cNvPr id="6" name="Image 0" descr="/mnt/data/chidao_build/panels/p3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600200"/>
            <a:ext cx="33832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CA0"/>
          </a:solidFill>
          <a:ln w="12700">
            <a:solidFill>
              <a:srgbClr val="205C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05CA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第18段 · 细节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6492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100" b="1" dirty="0">
                <a:solidFill>
                  <a:srgbClr val="192F43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爸爸没有责备“我”，做了哪两件事？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777240" y="5166360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C32D36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只找动作，不急着猜</a:t>
            </a:r>
            <a:endParaRPr lang="en-US" sz="3000" dirty="0"/>
          </a:p>
        </p:txBody>
      </p:sp>
      <p:pic>
        <p:nvPicPr>
          <p:cNvPr id="6" name="Image 0" descr="/mnt/data/chidao_build/panels/p3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508760"/>
            <a:ext cx="374904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E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CA0"/>
          </a:solidFill>
          <a:ln w="12700">
            <a:solidFill>
              <a:srgbClr val="205C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05CA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第18段 · Answer（答案）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6080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92F43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送来花夹袄，看着“我”穿上。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3749040"/>
            <a:ext cx="6080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92F43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又拿出两个铜板给“我”。</a:t>
            </a:r>
            <a:endParaRPr lang="en-US" sz="3400" dirty="0"/>
          </a:p>
        </p:txBody>
      </p:sp>
      <p:pic>
        <p:nvPicPr>
          <p:cNvPr id="6" name="Image 0" descr="/mnt/data/chidao_build/panels/p3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600200"/>
            <a:ext cx="33832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E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CA0"/>
          </a:solidFill>
          <a:ln w="12700">
            <a:solidFill>
              <a:srgbClr val="205C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05CA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第18段 · Inference（推断）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105156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163E67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无言的行动 → 具体的关心</a:t>
            </a:r>
            <a:endParaRPr lang="en-US" sz="4700" dirty="0"/>
          </a:p>
        </p:txBody>
      </p:sp>
      <p:sp>
        <p:nvSpPr>
          <p:cNvPr id="5" name="Text 3"/>
          <p:cNvSpPr/>
          <p:nvPr/>
        </p:nvSpPr>
        <p:spPr>
          <a:xfrm>
            <a:off x="905256" y="4251960"/>
            <a:ext cx="10424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dirty="0">
                <a:solidFill>
                  <a:srgbClr val="C32D36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注意：铜板的具体用途，原文没有说明。</a:t>
            </a:r>
            <a:endParaRPr lang="en-US" sz="3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CA0"/>
          </a:solidFill>
          <a:ln w="12700">
            <a:solidFill>
              <a:srgbClr val="205C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05CA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Compare（比较）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6492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100" b="1" dirty="0">
                <a:solidFill>
                  <a:srgbClr val="192F43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父亲先前说的话和后来做的事，反映什么？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777240" y="5166360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C32D36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第8段 ↔ 第18段</a:t>
            </a:r>
            <a:endParaRPr lang="en-US" sz="3000" dirty="0"/>
          </a:p>
        </p:txBody>
      </p:sp>
      <p:pic>
        <p:nvPicPr>
          <p:cNvPr id="6" name="Image 0" descr="/mnt/data/chidao_build/panels/p3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508760"/>
            <a:ext cx="374904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E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CA0"/>
          </a:solidFill>
          <a:ln w="12700">
            <a:solidFill>
              <a:srgbClr val="205C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05CA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人物形象 · 有依据的判断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5166360" cy="32004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B9CE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64224" y="1325880"/>
            <a:ext cx="5166360" cy="32004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B9CE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83080"/>
            <a:ext cx="4617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92F43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第8段：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92F43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“晚了也得去！”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601968" y="1783080"/>
            <a:ext cx="4617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92F43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第18段：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92F43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花夹袄 + 两个铜板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914400" y="4974336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C32D36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父亲既严厉，也关心孩子。</a:t>
            </a:r>
            <a:endParaRPr lang="en-US" sz="3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CA0"/>
          </a:solidFill>
          <a:ln w="12700">
            <a:solidFill>
              <a:srgbClr val="205C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05CA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第19段 · 前后照应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6492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100" b="1" dirty="0">
                <a:solidFill>
                  <a:srgbClr val="192F43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结尾的“我”有什么改变？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777240" y="5166360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C32D36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对照开头的“赖床”</a:t>
            </a:r>
            <a:endParaRPr lang="en-US" sz="3000" dirty="0"/>
          </a:p>
        </p:txBody>
      </p:sp>
      <p:pic>
        <p:nvPicPr>
          <p:cNvPr id="6" name="Image 0" descr="/mnt/data/chidao_build/panels/p4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508760"/>
            <a:ext cx="374904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E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CA0"/>
          </a:solidFill>
          <a:ln w="12700">
            <a:solidFill>
              <a:srgbClr val="205C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05CA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第19段 · Answer（答案）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6080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92F43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开头：早晨赖床，害怕迟到。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3749040"/>
            <a:ext cx="6080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92F43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结尾：早到校门口，等校工开门。</a:t>
            </a:r>
            <a:endParaRPr lang="en-US" sz="3400" dirty="0"/>
          </a:p>
        </p:txBody>
      </p:sp>
      <p:pic>
        <p:nvPicPr>
          <p:cNvPr id="6" name="Image 0" descr="/mnt/data/chidao_build/panels/p4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600200"/>
            <a:ext cx="33832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CA0"/>
          </a:solidFill>
          <a:ln w="12700">
            <a:solidFill>
              <a:srgbClr val="205C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05CA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Open response（开放评价）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6492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100" b="1" dirty="0">
                <a:solidFill>
                  <a:srgbClr val="192F43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你认同父亲的哪些做法？不赞同哪些做法？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777240" y="5166360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C32D36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观点 + 原文证据 + 理由</a:t>
            </a:r>
            <a:endParaRPr lang="en-US" sz="3000" dirty="0"/>
          </a:p>
        </p:txBody>
      </p:sp>
      <p:pic>
        <p:nvPicPr>
          <p:cNvPr id="6" name="Image 0" descr="/mnt/data/chidao_build/panels/p3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508760"/>
            <a:ext cx="374904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E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CA0"/>
          </a:solidFill>
          <a:ln w="12700">
            <a:solidFill>
              <a:srgbClr val="205C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05CA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开放题 · 自检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105156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163E67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观点 → 文本证据 → 理由</a:t>
            </a:r>
            <a:endParaRPr lang="en-US" sz="4700" dirty="0"/>
          </a:p>
        </p:txBody>
      </p:sp>
      <p:sp>
        <p:nvSpPr>
          <p:cNvPr id="5" name="Text 3"/>
          <p:cNvSpPr/>
          <p:nvPr/>
        </p:nvSpPr>
        <p:spPr>
          <a:xfrm>
            <a:off x="905256" y="4251960"/>
            <a:ext cx="10424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dirty="0">
                <a:solidFill>
                  <a:srgbClr val="C32D36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可以肯定守时的要求，不必认同打孩子。</a:t>
            </a:r>
            <a:endParaRPr lang="en-US" sz="3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CA0"/>
          </a:solidFill>
          <a:ln w="12700">
            <a:solidFill>
              <a:srgbClr val="205C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05CA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本课小结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105156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163E67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严厉的言语 + 无言的关心</a:t>
            </a:r>
            <a:endParaRPr lang="en-US" sz="4700" dirty="0"/>
          </a:p>
        </p:txBody>
      </p:sp>
      <p:sp>
        <p:nvSpPr>
          <p:cNvPr id="5" name="Text 3"/>
          <p:cNvSpPr/>
          <p:nvPr/>
        </p:nvSpPr>
        <p:spPr>
          <a:xfrm>
            <a:off x="905256" y="4251960"/>
            <a:ext cx="10424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dirty="0">
                <a:solidFill>
                  <a:srgbClr val="C32D36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用具体行动和细节判断人物，不凭单一句子下结论。</a:t>
            </a:r>
            <a:endParaRPr lang="en-US" sz="3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迟到 · 两课时教学PPT</dc:title>
  <dc:subject>中一高级华文 单元二 《迟到》两课时</dc:subject>
  <dc:creator>华文通教学配套</dc:creator>
  <cp:lastModifiedBy>华文通教学配套</cp:lastModifiedBy>
  <cp:revision>1</cp:revision>
  <dcterms:created xsi:type="dcterms:W3CDTF">2026-10-25T10:14:24Z</dcterms:created>
  <dcterms:modified xsi:type="dcterms:W3CDTF">2026-10-25T10:14:24Z</dcterms:modified>
</cp:coreProperties>
</file>