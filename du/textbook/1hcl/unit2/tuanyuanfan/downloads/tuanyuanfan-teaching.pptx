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a5d78f914234a3b" /><Relationship Type="http://schemas.openxmlformats.org/officeDocument/2006/relationships/extended-properties" Target="/docProps/app.xml" Id="R0dfdaf3c41aa4f8e" /><Relationship Type="http://schemas.openxmlformats.org/officeDocument/2006/relationships/officeDocument" Target="/ppt/presentation.xml" Id="R2a0f7532f9e0419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c3e70ad8f2447af"/>
  </p:sldMasterIdLst>
  <p:notesMasterIdLst>
    <p:notesMasterId xmlns:r="http://schemas.openxmlformats.org/officeDocument/2006/relationships" r:id="R6b4933e4d2644cd9"/>
  </p:notesMasterIdLst>
  <p:sldIdLst>
    <p:sldId xmlns:r="http://schemas.openxmlformats.org/officeDocument/2006/relationships" id="256" r:id="Re23541365cef4061"/>
    <p:sldId xmlns:r="http://schemas.openxmlformats.org/officeDocument/2006/relationships" id="257" r:id="R402c980248054c2e"/>
    <p:sldId xmlns:r="http://schemas.openxmlformats.org/officeDocument/2006/relationships" id="258" r:id="Rd37e1a0ac6a24b30"/>
    <p:sldId xmlns:r="http://schemas.openxmlformats.org/officeDocument/2006/relationships" id="259" r:id="R9aa1a604ce464b3f"/>
    <p:sldId xmlns:r="http://schemas.openxmlformats.org/officeDocument/2006/relationships" id="260" r:id="R880a269f2249401f"/>
    <p:sldId xmlns:r="http://schemas.openxmlformats.org/officeDocument/2006/relationships" id="261" r:id="R2954922694894835"/>
    <p:sldId xmlns:r="http://schemas.openxmlformats.org/officeDocument/2006/relationships" id="262" r:id="Rf9a2ab7f6f774201"/>
    <p:sldId xmlns:r="http://schemas.openxmlformats.org/officeDocument/2006/relationships" id="263" r:id="Rc2c5b7ada0684259"/>
    <p:sldId xmlns:r="http://schemas.openxmlformats.org/officeDocument/2006/relationships" id="264" r:id="R5dc3da26982f4ff0"/>
    <p:sldId xmlns:r="http://schemas.openxmlformats.org/officeDocument/2006/relationships" id="265" r:id="R9e1c5c59cd36458d"/>
    <p:sldId xmlns:r="http://schemas.openxmlformats.org/officeDocument/2006/relationships" id="266" r:id="R0260a05bb15f464c"/>
    <p:sldId xmlns:r="http://schemas.openxmlformats.org/officeDocument/2006/relationships" id="267" r:id="R3cd672bdbfe84224"/>
    <p:sldId xmlns:r="http://schemas.openxmlformats.org/officeDocument/2006/relationships" id="268" r:id="Rc504a98649c84cf5"/>
    <p:sldId xmlns:r="http://schemas.openxmlformats.org/officeDocument/2006/relationships" id="269" r:id="Rb0356ec8c0824384"/>
    <p:sldId xmlns:r="http://schemas.openxmlformats.org/officeDocument/2006/relationships" id="270" r:id="Rc359b43a49754918"/>
    <p:sldId xmlns:r="http://schemas.openxmlformats.org/officeDocument/2006/relationships" id="271" r:id="R7d9ced1f16f743c4"/>
    <p:sldId xmlns:r="http://schemas.openxmlformats.org/officeDocument/2006/relationships" id="272" r:id="Re029856011e643cf"/>
    <p:sldId xmlns:r="http://schemas.openxmlformats.org/officeDocument/2006/relationships" id="273" r:id="R82308461faee4c98"/>
    <p:sldId xmlns:r="http://schemas.openxmlformats.org/officeDocument/2006/relationships" id="274" r:id="Rb91b6ba20be4492f"/>
    <p:sldId xmlns:r="http://schemas.openxmlformats.org/officeDocument/2006/relationships" id="275" r:id="R3d104e3b7b2d41cd"/>
    <p:sldId xmlns:r="http://schemas.openxmlformats.org/officeDocument/2006/relationships" id="276" r:id="R3af8234b6b1e4077"/>
    <p:sldId xmlns:r="http://schemas.openxmlformats.org/officeDocument/2006/relationships" id="277" r:id="Rf1c22d8221e14693"/>
    <p:sldId xmlns:r="http://schemas.openxmlformats.org/officeDocument/2006/relationships" id="278" r:id="R6b06d92abf4b40b2"/>
    <p:sldId xmlns:r="http://schemas.openxmlformats.org/officeDocument/2006/relationships" id="279" r:id="R54d710ef4c154760"/>
    <p:sldId xmlns:r="http://schemas.openxmlformats.org/officeDocument/2006/relationships" id="280" r:id="R1f82152221ff4328"/>
    <p:sldId xmlns:r="http://schemas.openxmlformats.org/officeDocument/2006/relationships" id="281" r:id="R47540cf7df8d461c"/>
    <p:sldId xmlns:r="http://schemas.openxmlformats.org/officeDocument/2006/relationships" id="282" r:id="Rf9c07ce25926423c"/>
    <p:sldId xmlns:r="http://schemas.openxmlformats.org/officeDocument/2006/relationships" id="283" r:id="R76673b835a3c42d3"/>
    <p:sldId xmlns:r="http://schemas.openxmlformats.org/officeDocument/2006/relationships" id="284" r:id="Ra7905b069fd14c20"/>
    <p:sldId xmlns:r="http://schemas.openxmlformats.org/officeDocument/2006/relationships" id="285" r:id="Rf28fe97a9e954373"/>
    <p:sldId xmlns:r="http://schemas.openxmlformats.org/officeDocument/2006/relationships" id="286" r:id="R890c452af6714107"/>
    <p:sldId xmlns:r="http://schemas.openxmlformats.org/officeDocument/2006/relationships" id="287" r:id="Rc5e8318be16d45c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ec3086ac0fe499c" /><Relationship Type="http://schemas.openxmlformats.org/officeDocument/2006/relationships/slideMaster" Target="/ppt/slideMasters/slideMaster1.xml" Id="Rdc3e70ad8f2447af" /><Relationship Type="http://schemas.openxmlformats.org/officeDocument/2006/relationships/notesMaster" Target="/ppt/notesMasters/notesMaster1.xml" Id="R6b4933e4d2644cd9" /><Relationship Type="http://schemas.openxmlformats.org/officeDocument/2006/relationships/presProps" Target="/ppt/presProps.xml" Id="R4f1edc67c54746e1" /><Relationship Type="http://schemas.openxmlformats.org/officeDocument/2006/relationships/tableStyles" Target="/ppt/tableStyles.xml" Id="Rb09b30ae211d46fe" /><Relationship Type="http://schemas.openxmlformats.org/officeDocument/2006/relationships/slide" Target="/ppt/slides/slide1.xml" Id="Re23541365cef4061" /><Relationship Type="http://schemas.openxmlformats.org/officeDocument/2006/relationships/slide" Target="/ppt/slides/slide2.xml" Id="R402c980248054c2e" /><Relationship Type="http://schemas.openxmlformats.org/officeDocument/2006/relationships/slide" Target="/ppt/slides/slide3.xml" Id="Rd37e1a0ac6a24b30" /><Relationship Type="http://schemas.openxmlformats.org/officeDocument/2006/relationships/slide" Target="/ppt/slides/slide4.xml" Id="R9aa1a604ce464b3f" /><Relationship Type="http://schemas.openxmlformats.org/officeDocument/2006/relationships/slide" Target="/ppt/slides/slide5.xml" Id="R880a269f2249401f" /><Relationship Type="http://schemas.openxmlformats.org/officeDocument/2006/relationships/slide" Target="/ppt/slides/slide6.xml" Id="R2954922694894835" /><Relationship Type="http://schemas.openxmlformats.org/officeDocument/2006/relationships/slide" Target="/ppt/slides/slide7.xml" Id="Rf9a2ab7f6f774201" /><Relationship Type="http://schemas.openxmlformats.org/officeDocument/2006/relationships/slide" Target="/ppt/slides/slide8.xml" Id="Rc2c5b7ada0684259" /><Relationship Type="http://schemas.openxmlformats.org/officeDocument/2006/relationships/slide" Target="/ppt/slides/slide9.xml" Id="R5dc3da26982f4ff0" /><Relationship Type="http://schemas.openxmlformats.org/officeDocument/2006/relationships/slide" Target="/ppt/slides/slide10.xml" Id="R9e1c5c59cd36458d" /><Relationship Type="http://schemas.openxmlformats.org/officeDocument/2006/relationships/slide" Target="/ppt/slides/slide11.xml" Id="R0260a05bb15f464c" /><Relationship Type="http://schemas.openxmlformats.org/officeDocument/2006/relationships/slide" Target="/ppt/slides/slide12.xml" Id="R3cd672bdbfe84224" /><Relationship Type="http://schemas.openxmlformats.org/officeDocument/2006/relationships/slide" Target="/ppt/slides/slide13.xml" Id="Rc504a98649c84cf5" /><Relationship Type="http://schemas.openxmlformats.org/officeDocument/2006/relationships/slide" Target="/ppt/slides/slide14.xml" Id="Rb0356ec8c0824384" /><Relationship Type="http://schemas.openxmlformats.org/officeDocument/2006/relationships/slide" Target="/ppt/slides/slide15.xml" Id="Rc359b43a49754918" /><Relationship Type="http://schemas.openxmlformats.org/officeDocument/2006/relationships/slide" Target="/ppt/slides/slide16.xml" Id="R7d9ced1f16f743c4" /><Relationship Type="http://schemas.openxmlformats.org/officeDocument/2006/relationships/slide" Target="/ppt/slides/slide17.xml" Id="Re029856011e643cf" /><Relationship Type="http://schemas.openxmlformats.org/officeDocument/2006/relationships/slide" Target="/ppt/slides/slide18.xml" Id="R82308461faee4c98" /><Relationship Type="http://schemas.openxmlformats.org/officeDocument/2006/relationships/slide" Target="/ppt/slides/slide19.xml" Id="Rb91b6ba20be4492f" /><Relationship Type="http://schemas.openxmlformats.org/officeDocument/2006/relationships/slide" Target="/ppt/slides/slide20.xml" Id="R3d104e3b7b2d41cd" /><Relationship Type="http://schemas.openxmlformats.org/officeDocument/2006/relationships/slide" Target="/ppt/slides/slide21.xml" Id="R3af8234b6b1e4077" /><Relationship Type="http://schemas.openxmlformats.org/officeDocument/2006/relationships/slide" Target="/ppt/slides/slide22.xml" Id="Rf1c22d8221e14693" /><Relationship Type="http://schemas.openxmlformats.org/officeDocument/2006/relationships/slide" Target="/ppt/slides/slide23.xml" Id="R6b06d92abf4b40b2" /><Relationship Type="http://schemas.openxmlformats.org/officeDocument/2006/relationships/slide" Target="/ppt/slides/slide24.xml" Id="R54d710ef4c154760" /><Relationship Type="http://schemas.openxmlformats.org/officeDocument/2006/relationships/slide" Target="/ppt/slides/slide25.xml" Id="R1f82152221ff4328" /><Relationship Type="http://schemas.openxmlformats.org/officeDocument/2006/relationships/slide" Target="/ppt/slides/slide26.xml" Id="R47540cf7df8d461c" /><Relationship Type="http://schemas.openxmlformats.org/officeDocument/2006/relationships/slide" Target="/ppt/slides/slide27.xml" Id="Rf9c07ce25926423c" /><Relationship Type="http://schemas.openxmlformats.org/officeDocument/2006/relationships/slide" Target="/ppt/slides/slide28.xml" Id="R76673b835a3c42d3" /><Relationship Type="http://schemas.openxmlformats.org/officeDocument/2006/relationships/slide" Target="/ppt/slides/slide29.xml" Id="Ra7905b069fd14c20" /><Relationship Type="http://schemas.openxmlformats.org/officeDocument/2006/relationships/slide" Target="/ppt/slides/slide30.xml" Id="Rf28fe97a9e954373" /><Relationship Type="http://schemas.openxmlformats.org/officeDocument/2006/relationships/slide" Target="/ppt/slides/slide31.xml" Id="R890c452af6714107" /><Relationship Type="http://schemas.openxmlformats.org/officeDocument/2006/relationships/slide" Target="/ppt/slides/slide32.xml" Id="Rc5e8318be16d45c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7efc346c9664e7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a584abc85ec46cb" /><Relationship Type="http://schemas.openxmlformats.org/officeDocument/2006/relationships/notesMaster" Target="/ppt/notesMasters/notesMaster1.xml" Id="R4f793486e78d49c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fe1f6dbcbe5451d" /><Relationship Type="http://schemas.openxmlformats.org/officeDocument/2006/relationships/notesMaster" Target="/ppt/notesMasters/notesMaster1.xml" Id="R45e2164600de4f8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cd586c73d3b48f3" /><Relationship Type="http://schemas.openxmlformats.org/officeDocument/2006/relationships/notesMaster" Target="/ppt/notesMasters/notesMaster1.xml" Id="R7780ed58a59b460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ba5751c31c746d5" /><Relationship Type="http://schemas.openxmlformats.org/officeDocument/2006/relationships/notesMaster" Target="/ppt/notesMasters/notesMaster1.xml" Id="Rea51e65095e04a7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967db6f6e474027" /><Relationship Type="http://schemas.openxmlformats.org/officeDocument/2006/relationships/notesMaster" Target="/ppt/notesMasters/notesMaster1.xml" Id="Re97532298c5542a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8bebac387714e98" /><Relationship Type="http://schemas.openxmlformats.org/officeDocument/2006/relationships/notesMaster" Target="/ppt/notesMasters/notesMaster1.xml" Id="R9b4e4fd8bd424ba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fa973ff809643cb" /><Relationship Type="http://schemas.openxmlformats.org/officeDocument/2006/relationships/notesMaster" Target="/ppt/notesMasters/notesMaster1.xml" Id="R1486b9c310114f0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00c8796621a4f1a" /><Relationship Type="http://schemas.openxmlformats.org/officeDocument/2006/relationships/notesMaster" Target="/ppt/notesMasters/notesMaster1.xml" Id="Rea36e9944e3247f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b040d9f514b4914" /><Relationship Type="http://schemas.openxmlformats.org/officeDocument/2006/relationships/notesMaster" Target="/ppt/notesMasters/notesMaster1.xml" Id="Ra53480154d2e44e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87f12fc9aad4c73" /><Relationship Type="http://schemas.openxmlformats.org/officeDocument/2006/relationships/notesMaster" Target="/ppt/notesMasters/notesMaster1.xml" Id="R4fa9caeff6444e4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55573cf88e6425d" /><Relationship Type="http://schemas.openxmlformats.org/officeDocument/2006/relationships/notesMaster" Target="/ppt/notesMasters/notesMaster1.xml" Id="Ra7c2b99039d14bd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33da2c27f9d4916" /><Relationship Type="http://schemas.openxmlformats.org/officeDocument/2006/relationships/notesMaster" Target="/ppt/notesMasters/notesMaster1.xml" Id="Re72b330bcfd24ae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d5c4a1aee9b4d2a" /><Relationship Type="http://schemas.openxmlformats.org/officeDocument/2006/relationships/notesMaster" Target="/ppt/notesMasters/notesMaster1.xml" Id="R19e2d4fba8ef4b6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57c3a213279428c" /><Relationship Type="http://schemas.openxmlformats.org/officeDocument/2006/relationships/notesMaster" Target="/ppt/notesMasters/notesMaster1.xml" Id="R4ae8c07932ba4569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ab19d1bb623458f" /><Relationship Type="http://schemas.openxmlformats.org/officeDocument/2006/relationships/notesMaster" Target="/ppt/notesMasters/notesMaster1.xml" Id="Rcf6c1bb9608b4896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c9133f4299664cc1" /><Relationship Type="http://schemas.openxmlformats.org/officeDocument/2006/relationships/notesMaster" Target="/ppt/notesMasters/notesMaster1.xml" Id="R6554a590006b400b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5dddbc8356d04929" /><Relationship Type="http://schemas.openxmlformats.org/officeDocument/2006/relationships/notesMaster" Target="/ppt/notesMasters/notesMaster1.xml" Id="Race4f78212d54e0f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fb888f32dbdf4738" /><Relationship Type="http://schemas.openxmlformats.org/officeDocument/2006/relationships/notesMaster" Target="/ppt/notesMasters/notesMaster1.xml" Id="Rbfdb458aefe84b91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7e6dd925e0da450b" /><Relationship Type="http://schemas.openxmlformats.org/officeDocument/2006/relationships/notesMaster" Target="/ppt/notesMasters/notesMaster1.xml" Id="Rad89a2ce3e35479a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bff278c2dc914d9a" /><Relationship Type="http://schemas.openxmlformats.org/officeDocument/2006/relationships/notesMaster" Target="/ppt/notesMasters/notesMaster1.xml" Id="R7ceafbf31dfb43ec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c959c5e8cee04690" /><Relationship Type="http://schemas.openxmlformats.org/officeDocument/2006/relationships/notesMaster" Target="/ppt/notesMasters/notesMaster1.xml" Id="R92ff3ef28f964dd7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b132e5d1e32a4e40" /><Relationship Type="http://schemas.openxmlformats.org/officeDocument/2006/relationships/notesMaster" Target="/ppt/notesMasters/notesMaster1.xml" Id="R7570fd5e10fb475b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51a093afda794847" /><Relationship Type="http://schemas.openxmlformats.org/officeDocument/2006/relationships/notesMaster" Target="/ppt/notesMasters/notesMaster1.xml" Id="R5ea7449f37924391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83e0eeb97c58498e" /><Relationship Type="http://schemas.openxmlformats.org/officeDocument/2006/relationships/notesMaster" Target="/ppt/notesMasters/notesMaster1.xml" Id="Raef2fc91c7de4125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0cab5d6e71bc4449" /><Relationship Type="http://schemas.openxmlformats.org/officeDocument/2006/relationships/notesMaster" Target="/ppt/notesMasters/notesMaster1.xml" Id="R23728b7be9c24d1e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31cae6219da145c8" /><Relationship Type="http://schemas.openxmlformats.org/officeDocument/2006/relationships/notesMaster" Target="/ppt/notesMasters/notesMaster1.xml" Id="R28fd3f98da81451f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44191e51b0cc4210" /><Relationship Type="http://schemas.openxmlformats.org/officeDocument/2006/relationships/notesMaster" Target="/ppt/notesMasters/notesMaster1.xml" Id="R5fe4b5cf70e347c5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06dc243f6d8445b8" /><Relationship Type="http://schemas.openxmlformats.org/officeDocument/2006/relationships/notesMaster" Target="/ppt/notesMasters/notesMaster1.xml" Id="R5af0fad206bc462d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42232d442fa442a5" /><Relationship Type="http://schemas.openxmlformats.org/officeDocument/2006/relationships/notesMaster" Target="/ppt/notesMasters/notesMaster1.xml" Id="R5742efa5380f4d50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b30daafc9e394e91" /><Relationship Type="http://schemas.openxmlformats.org/officeDocument/2006/relationships/notesMaster" Target="/ppt/notesMasters/notesMaster1.xml" Id="R1f720e8565e84a5a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5f94ee24be174000" /><Relationship Type="http://schemas.openxmlformats.org/officeDocument/2006/relationships/notesMaster" Target="/ppt/notesMasters/notesMaster1.xml" Id="Rd8a36ea910044a05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949ba6304d9243b0" /><Relationship Type="http://schemas.openxmlformats.org/officeDocument/2006/relationships/notesMaster" Target="/ppt/notesMasters/notesMaster1.xml" Id="R300b67e867e5445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两课时，各50分钟。学生使用配套互动学习单。课前已初步学习词语。第1课至任务4；第2课从传统年菜与任务5开始。所有问题的参考解释在后一页，学生先回答再翻页。</a:t>
            </a:r>
          </a:p>
          <a:p xmlns:a="http://schemas.openxmlformats.org/drawingml/2006/main">
            <a:r>
              <a:t>资料：用户提供《团圆饭》全文及教学参考。漫画由用户原图校订。新迁移短文与教学问题为本课设计。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0—5分钟，导入。不判断猜测对错。隐藏第5格上方解说，仅观察画面。</a:t>
            </a:r>
          </a:p>
          <a:p xmlns:a="http://schemas.openxmlformats.org/drawingml/2006/main">
            <a:r>
              <a:t>资料：用户提供《团圆饭》全文及教学参考。漫画由用户原图校订。新迁移短文与教学问题为本课设计。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5—13分钟，连贯初读全文。每页只读1—3段，不在每一页插入测验。读后口头说今年团圆饭的特别之处。</a:t>
            </a:r>
          </a:p>
          <a:p xmlns:a="http://schemas.openxmlformats.org/drawingml/2006/main">
            <a:r>
              <a:t>资料：用户提供《团圆饭》全文及教学参考。漫画由用户原图校订。新迁移短文与教学问题为本课设计。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5—13分钟，连贯初读全文。每页只读1—3段，不在每一页插入测验。读后口头说今年团圆饭的特别之处。</a:t>
            </a:r>
          </a:p>
          <a:p xmlns:a="http://schemas.openxmlformats.org/drawingml/2006/main">
            <a:r>
              <a:t>资料：用户提供《团圆饭》全文及教学参考。漫画由用户原图校订。新迁移短文与教学问题为本课设计。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5—13分钟，连贯初读全文。每页只读1—3段，不在每一页插入测验。读后口头说今年团圆饭的特别之处。</a:t>
            </a:r>
          </a:p>
          <a:p xmlns:a="http://schemas.openxmlformats.org/drawingml/2006/main">
            <a:r>
              <a:t>资料：用户提供《团圆饭》全文及教学参考。漫画由用户原图校订。新迁移短文与教学问题为本课设计。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5—13分钟，连贯初读全文。每页只读1—3段，不在每一页插入测验。读后口头说今年团圆饭的特别之处。</a:t>
            </a:r>
          </a:p>
          <a:p xmlns:a="http://schemas.openxmlformats.org/drawingml/2006/main">
            <a:r>
              <a:t>资料：用户提供《团圆饭》全文及教学参考。漫画由用户原图校订。新迁移短文与教学问题为本课设计。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5—13分钟，连贯初读全文。每页只读1—3段，不在每一页插入测验。读后口头说今年团圆饭的特别之处。</a:t>
            </a:r>
          </a:p>
          <a:p xmlns:a="http://schemas.openxmlformats.org/drawingml/2006/main">
            <a:r>
              <a:t>资料：用户提供《团圆饭》全文及教学参考。漫画由用户原图校订。新迁移短文与教学问题为本课设计。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5—13分钟，连贯初读全文。每页只读1—3段，不在每一页插入测验。读后口头说今年团圆饭的特别之处。</a:t>
            </a:r>
          </a:p>
          <a:p xmlns:a="http://schemas.openxmlformats.org/drawingml/2006/main">
            <a:r>
              <a:t>资料：用户提供《团圆饭》全文及教学参考。漫画由用户原图校订。新迁移短文与教学问题为本课设计。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先让学生作答与说明依据，再展示讲解。题目、原文与参考答案对应互动学习单。</a:t>
            </a:r>
          </a:p>
          <a:p xmlns:a="http://schemas.openxmlformats.org/drawingml/2006/main">
            <a:r>
              <a:t>资料：用户提供《团圆饭》全文及教学参考。漫画由用户原图校订。新迁移短文与教学问题为本课设计。</a:t>
            </a:r>
          </a:p>
          <a:p xmlns:a="http://schemas.openxmlformats.org/drawingml/2006/main">
            <a:r>
              <a:t>配套学习单任务1。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先让学生作答与说明依据，再展示讲解。题目、原文与参考答案对应互动学习单。</a:t>
            </a:r>
          </a:p>
          <a:p xmlns:a="http://schemas.openxmlformats.org/drawingml/2006/main">
            <a:r>
              <a:t>资料：用户提供《团圆饭》全文及教学参考。漫画由用户原图校订。新迁移短文与教学问题为本课设计。</a:t>
            </a:r>
          </a:p>
          <a:p xmlns:a="http://schemas.openxmlformats.org/drawingml/2006/main">
            <a:r>
              <a:t>配套学习单任务1。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先让学生作答与说明依据，再展示讲解。题目、原文与参考答案对应互动学习单。</a:t>
            </a:r>
          </a:p>
          <a:p xmlns:a="http://schemas.openxmlformats.org/drawingml/2006/main">
            <a:r>
              <a:t>资料：用户提供《团圆饭》全文及教学参考。漫画由用户原图校订。新迁移短文与教学问题为本课设计。</a:t>
            </a:r>
          </a:p>
          <a:p xmlns:a="http://schemas.openxmlformats.org/drawingml/2006/main">
            <a:r>
              <a:t>配套学习单任务2。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先让学生作答与说明依据，再展示讲解。题目、原文与参考答案对应互动学习单。</a:t>
            </a:r>
          </a:p>
          <a:p xmlns:a="http://schemas.openxmlformats.org/drawingml/2006/main">
            <a:r>
              <a:t>资料：用户提供《团圆饭》全文及教学参考。漫画由用户原图校订。新迁移短文与教学问题为本课设计。</a:t>
            </a:r>
          </a:p>
          <a:p xmlns:a="http://schemas.openxmlformats.org/drawingml/2006/main">
            <a:r>
              <a:t>配套学习单任务2。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先让学生作答与说明依据，再展示讲解。题目、原文与参考答案对应互动学习单。</a:t>
            </a:r>
          </a:p>
          <a:p xmlns:a="http://schemas.openxmlformats.org/drawingml/2006/main">
            <a:r>
              <a:t>资料：用户提供《团圆饭》全文及教学参考。漫画由用户原图校订。新迁移短文与教学问题为本课设计。</a:t>
            </a:r>
          </a:p>
          <a:p xmlns:a="http://schemas.openxmlformats.org/drawingml/2006/main">
            <a:r>
              <a:t>配套学习单任务3。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先让学生作答与说明依据，再展示讲解。题目、原文与参考答案对应互动学习单。</a:t>
            </a:r>
          </a:p>
          <a:p xmlns:a="http://schemas.openxmlformats.org/drawingml/2006/main">
            <a:r>
              <a:t>资料：用户提供《团圆饭》全文及教学参考。漫画由用户原图校订。新迁移短文与教学问题为本课设计。</a:t>
            </a:r>
          </a:p>
          <a:p xmlns:a="http://schemas.openxmlformats.org/drawingml/2006/main">
            <a:r>
              <a:t>配套学习单任务3。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任务3之内的短讲解，不增加一道测验。区别叙述者判断与人物原话。</a:t>
            </a:r>
          </a:p>
          <a:p xmlns:a="http://schemas.openxmlformats.org/drawingml/2006/main">
            <a:r>
              <a:t>资料：用户提供《团圆饭》全文及教学参考。漫画由用户原图校订。新迁移短文与教学问题为本课设计。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先让学生作答与说明依据，再展示讲解。题目、原文与参考答案对应互动学习单。</a:t>
            </a:r>
          </a:p>
          <a:p xmlns:a="http://schemas.openxmlformats.org/drawingml/2006/main">
            <a:r>
              <a:t>资料：用户提供《团圆饭》全文及教学参考。漫画由用户原图校订。新迁移短文与教学问题为本课设计。</a:t>
            </a:r>
          </a:p>
          <a:p xmlns:a="http://schemas.openxmlformats.org/drawingml/2006/main">
            <a:r>
              <a:t>配套学习单任务4。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先让学生作答与说明依据，再展示讲解。题目、原文与参考答案对应互动学习单。</a:t>
            </a:r>
          </a:p>
          <a:p xmlns:a="http://schemas.openxmlformats.org/drawingml/2006/main">
            <a:r>
              <a:t>资料：用户提供《团圆饭》全文及教学参考。漫画由用户原图校订。新迁移短文与教学问题为本课设计。</a:t>
            </a:r>
          </a:p>
          <a:p xmlns:a="http://schemas.openxmlformats.org/drawingml/2006/main">
            <a:r>
              <a:t>配套学习单任务4。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第2课0—4分钟口头回顾兄姐缺席原因。4—7分钟读第13段。年菜寓意按教师参考说明；未提供香菇寓意，不自行补造。</a:t>
            </a:r>
          </a:p>
          <a:p xmlns:a="http://schemas.openxmlformats.org/drawingml/2006/main">
            <a:r>
              <a:t>资料：用户提供《团圆饭》全文及教学参考。漫画由用户原图校订。新迁移短文与教学问题为本课设计。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先让学生作答与说明依据，再展示讲解。题目、原文与参考答案对应互动学习单。</a:t>
            </a:r>
          </a:p>
          <a:p xmlns:a="http://schemas.openxmlformats.org/drawingml/2006/main">
            <a:r>
              <a:t>资料：用户提供《团圆饭》全文及教学参考。漫画由用户原图校订。新迁移短文与教学问题为本课设计。</a:t>
            </a:r>
          </a:p>
          <a:p xmlns:a="http://schemas.openxmlformats.org/drawingml/2006/main">
            <a:r>
              <a:t>配套学习单任务5。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先让学生作答与说明依据，再展示讲解。题目、原文与参考答案对应互动学习单。</a:t>
            </a:r>
          </a:p>
          <a:p xmlns:a="http://schemas.openxmlformats.org/drawingml/2006/main">
            <a:r>
              <a:t>资料：用户提供《团圆饭》全文及教学参考。漫画由用户原图校订。新迁移短文与教学问题为本课设计。</a:t>
            </a:r>
          </a:p>
          <a:p xmlns:a="http://schemas.openxmlformats.org/drawingml/2006/main">
            <a:r>
              <a:t>配套学习单任务5。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先让学生作答与说明依据，再展示讲解。题目、原文与参考答案对应互动学习单。</a:t>
            </a:r>
          </a:p>
          <a:p xmlns:a="http://schemas.openxmlformats.org/drawingml/2006/main">
            <a:r>
              <a:t>资料：用户提供《团圆饭》全文及教学参考。漫画由用户原图校订。新迁移短文与教学问题为本课设计。</a:t>
            </a:r>
          </a:p>
          <a:p xmlns:a="http://schemas.openxmlformats.org/drawingml/2006/main">
            <a:r>
              <a:t>配套学习单任务6。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先让学生作答与说明依据，再展示讲解。题目、原文与参考答案对应互动学习单。</a:t>
            </a:r>
          </a:p>
          <a:p xmlns:a="http://schemas.openxmlformats.org/drawingml/2006/main">
            <a:r>
              <a:t>资料：用户提供《团圆饭》全文及教学参考。漫画由用户原图校订。新迁移短文与教学问题为本课设计。</a:t>
            </a:r>
          </a:p>
          <a:p xmlns:a="http://schemas.openxmlformats.org/drawingml/2006/main">
            <a:r>
              <a:t>配套学习单任务6。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先让学生作答与说明依据，再展示讲解。题目、原文与参考答案对应互动学习单。</a:t>
            </a:r>
          </a:p>
          <a:p xmlns:a="http://schemas.openxmlformats.org/drawingml/2006/main">
            <a:r>
              <a:t>资料：用户提供《团圆饭》全文及教学参考。漫画由用户原图校订。新迁移短文与教学问题为本课设计。</a:t>
            </a:r>
          </a:p>
          <a:p xmlns:a="http://schemas.openxmlformats.org/drawingml/2006/main">
            <a:r>
              <a:t>配套学习单任务7。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先让学生作答与说明依据，再展示讲解。题目、原文与参考答案对应互动学习单。</a:t>
            </a:r>
          </a:p>
          <a:p xmlns:a="http://schemas.openxmlformats.org/drawingml/2006/main">
            <a:r>
              <a:t>资料：用户提供《团圆饭》全文及教学参考。漫画由用户原图校订。新迁移短文与教学问题为本课设计。</a:t>
            </a:r>
          </a:p>
          <a:p xmlns:a="http://schemas.openxmlformats.org/drawingml/2006/main">
            <a:r>
              <a:t>配套学习单任务7。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任务7内回扣开头。这是联系全文的解释，不是原文明说的标准唯一措辞。不能说亲情已经消失。</a:t>
            </a:r>
          </a:p>
          <a:p xmlns:a="http://schemas.openxmlformats.org/drawingml/2006/main">
            <a:r>
              <a:t>资料：用户提供《团圆饭》全文及教学参考。漫画由用户原图校订。新迁移短文与教学问题为本课设计。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先让学生作答与说明依据，再展示讲解。题目、原文与参考答案对应互动学习单。</a:t>
            </a:r>
          </a:p>
          <a:p xmlns:a="http://schemas.openxmlformats.org/drawingml/2006/main">
            <a:r>
              <a:t>资料：用户提供《团圆饭》全文及教学参考。漫画由用户原图校订。新迁移短文与教学问题为本课设计。</a:t>
            </a:r>
          </a:p>
          <a:p xmlns:a="http://schemas.openxmlformats.org/drawingml/2006/main">
            <a:r>
              <a:t>配套学习单任务8。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先让学生作答与说明依据，再展示讲解。题目、原文与参考答案对应互动学习单。</a:t>
            </a:r>
          </a:p>
          <a:p xmlns:a="http://schemas.openxmlformats.org/drawingml/2006/main">
            <a:r>
              <a:t>资料：用户提供《团圆饭》全文及教学参考。漫画由用户原图校订。新迁移短文与教学问题为本课设计。</a:t>
            </a:r>
          </a:p>
          <a:p xmlns:a="http://schemas.openxmlformats.org/drawingml/2006/main">
            <a:r>
              <a:t>配套学习单任务8。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先让学生作答与说明依据，再展示讲解。题目、原文与参考答案对应互动学习单。</a:t>
            </a:r>
          </a:p>
          <a:p xmlns:a="http://schemas.openxmlformats.org/drawingml/2006/main">
            <a:r>
              <a:t>资料：用户提供《团圆饭》全文及教学参考。漫画由用户原图校订。新迁移短文与教学问题为本课设计。</a:t>
            </a:r>
          </a:p>
          <a:p xmlns:a="http://schemas.openxmlformats.org/drawingml/2006/main">
            <a:r>
              <a:t>配套学习单任务9。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先让学生作答与说明依据，再展示讲解。题目、原文与参考答案对应互动学习单。</a:t>
            </a:r>
          </a:p>
          <a:p xmlns:a="http://schemas.openxmlformats.org/drawingml/2006/main">
            <a:r>
              <a:t>资料：用户提供《团圆饭》全文及教学参考。漫画由用户原图校订。新迁移短文与教学问题为本课设计。</a:t>
            </a:r>
          </a:p>
          <a:p xmlns:a="http://schemas.openxmlformats.org/drawingml/2006/main">
            <a:r>
              <a:t>配套学习单任务9。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45—50分钟，学生独立作答，不提前展示下一页。短文为自编。收起漫画。先保存首次答案，下一页可留至下一课讲评。不要按输入速度扣分。</a:t>
            </a:r>
          </a:p>
          <a:p xmlns:a="http://schemas.openxmlformats.org/drawingml/2006/main">
            <a:r>
              <a:t>资料：用户提供《团圆饭》全文及教学参考。漫画由用户原图校订。新迁移短文与教学问题为本课设计。</a:t>
            </a:r>
          </a:p>
          <a:p xmlns:a="http://schemas.openxmlformats.org/drawingml/2006/main">
            <a:r>
              <a:t>配套学习单任务10。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先让学生作答与说明依据，再展示讲解。题目、原文与参考答案对应互动学习单。</a:t>
            </a:r>
          </a:p>
          <a:p xmlns:a="http://schemas.openxmlformats.org/drawingml/2006/main">
            <a:r>
              <a:t>资料：用户提供《团圆饭》全文及教学参考。漫画由用户原图校订。新迁移短文与教学问题为本课设计。</a:t>
            </a:r>
          </a:p>
          <a:p xmlns:a="http://schemas.openxmlformats.org/drawingml/2006/main">
            <a:r>
              <a:t>配套学习单任务10。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若时间不足，将电子红包讨论移到下一课，保留线索主题和独立短答。作业依教参指向第27—29页词语及第35—38页阅读理解一，布置前核对版本。</a:t>
            </a:r>
          </a:p>
          <a:p xmlns:a="http://schemas.openxmlformats.org/drawingml/2006/main">
            <a:r>
              <a:t>资料：用户提供《团圆饭》全文及教学参考。漫画由用户原图校订。新迁移短文与教学问题为本课设计。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b7130527ef2486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8de5065e9324e2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9c945310f81439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fd9eff801e3467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e10686cb8eb4db1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8dda380a5734c4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3E6D7DA-D863-48B1-870F-F021DAA991B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E38771C9-A1F6-4BE7-95E8-D7F1950EB86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D6948230-E2B8-4053-A6ED-AC200EE7B77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3BA50C2-C991-4552-8673-41875829DC9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FA20B3C0-EED1-4123-9341-AA64FD70C55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00AC8DD4-06C0-41A2-A599-492C2EDEE18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B1585E4-D228-431E-B3C7-12503A841A7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2C7D543B-8F3D-4554-9C21-6FF57B5DE11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9595471-D368-4FFC-963B-B59E06CEB62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67EAB8B-C983-4272-B0C0-DEC39C11444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327ddc710f7465b" /><Relationship Type="http://schemas.openxmlformats.org/officeDocument/2006/relationships/slideLayout" Target="/ppt/slideLayouts/slideLayout1.xml" Id="R8c4367a682724ad4" /><Relationship Type="http://schemas.openxmlformats.org/officeDocument/2006/relationships/slideLayout" Target="/ppt/slideLayouts/slideLayout2.xml" Id="R36010dae4c9c48b5" /><Relationship Type="http://schemas.openxmlformats.org/officeDocument/2006/relationships/slideLayout" Target="/ppt/slideLayouts/slideLayout3.xml" Id="R0e54b62aaec74567" /><Relationship Type="http://schemas.openxmlformats.org/officeDocument/2006/relationships/slideLayout" Target="/ppt/slideLayouts/slideLayout4.xml" Id="Rbdb259855a334f6d" /><Relationship Type="http://schemas.openxmlformats.org/officeDocument/2006/relationships/slideLayout" Target="/ppt/slideLayouts/slideLayout5.xml" Id="R65441f818d334190" /><Relationship Type="http://schemas.openxmlformats.org/officeDocument/2006/relationships/slideLayout" Target="/ppt/slideLayouts/slideLayout6.xml" Id="Rfe1c99acba2a423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c4367a682724ad4"/>
    <p:sldLayoutId xmlns:r="http://schemas.openxmlformats.org/officeDocument/2006/relationships" id="2147483650" r:id="R36010dae4c9c48b5"/>
    <p:sldLayoutId xmlns:r="http://schemas.openxmlformats.org/officeDocument/2006/relationships" id="2147483651" r:id="R0e54b62aaec74567"/>
    <p:sldLayoutId xmlns:r="http://schemas.openxmlformats.org/officeDocument/2006/relationships" id="2147483652" r:id="Rbdb259855a334f6d"/>
    <p:sldLayoutId xmlns:r="http://schemas.openxmlformats.org/officeDocument/2006/relationships" id="2147483653" r:id="R65441f818d334190"/>
    <p:sldLayoutId xmlns:r="http://schemas.openxmlformats.org/officeDocument/2006/relationships" id="2147483654" r:id="Rfe1c99acba2a423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9797b8e874a43c7" /><Relationship Type="http://schemas.openxmlformats.org/officeDocument/2006/relationships/image" Target="/ppt/media/image.png" Id="Rcef8aed634554721" /><Relationship Type="http://schemas.openxmlformats.org/officeDocument/2006/relationships/notesSlide" Target="/ppt/notesSlides/notesSlide1.xml" Id="R9228c037cd7d404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a187ff177394bad" /><Relationship Type="http://schemas.openxmlformats.org/officeDocument/2006/relationships/image" Target="/ppt/media/image2.png" Id="R462c240ed84d47fb" /><Relationship Type="http://schemas.openxmlformats.org/officeDocument/2006/relationships/notesSlide" Target="/ppt/notesSlides/notesSlide2.xml" Id="R896a185128cf41f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8c9d2f3b6dd463d" /><Relationship Type="http://schemas.openxmlformats.org/officeDocument/2006/relationships/notesSlide" Target="/ppt/notesSlides/notesSlide3.xml" Id="R5150b4b874f3444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3c834d876dc488f" /><Relationship Type="http://schemas.openxmlformats.org/officeDocument/2006/relationships/notesSlide" Target="/ppt/notesSlides/notesSlide4.xml" Id="Rc62422c98e5e447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d1cc9270e50487b" /><Relationship Type="http://schemas.openxmlformats.org/officeDocument/2006/relationships/notesSlide" Target="/ppt/notesSlides/notesSlide5.xml" Id="Rdefaa3a17e7544b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8c8c1795bdb45e0" /><Relationship Type="http://schemas.openxmlformats.org/officeDocument/2006/relationships/notesSlide" Target="/ppt/notesSlides/notesSlide6.xml" Id="Rf29c83d2a4014e5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5da7c770e824a7b" /><Relationship Type="http://schemas.openxmlformats.org/officeDocument/2006/relationships/notesSlide" Target="/ppt/notesSlides/notesSlide7.xml" Id="R9fc869928e5d47f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90edfee828441e6" /><Relationship Type="http://schemas.openxmlformats.org/officeDocument/2006/relationships/notesSlide" Target="/ppt/notesSlides/notesSlide8.xml" Id="Rbf3b23c313354c9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1e15075e8764643" /><Relationship Type="http://schemas.openxmlformats.org/officeDocument/2006/relationships/image" Target="/ppt/media/image2.png" Id="R089fc47f2e574f3e" /><Relationship Type="http://schemas.openxmlformats.org/officeDocument/2006/relationships/notesSlide" Target="/ppt/notesSlides/notesSlide9.xml" Id="R4100c1c1f290451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3201b0e63344d1c" /><Relationship Type="http://schemas.openxmlformats.org/officeDocument/2006/relationships/notesSlide" Target="/ppt/notesSlides/notesSlide10.xml" Id="R4ad273d7dd91487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1d1ab4065a8421d" /><Relationship Type="http://schemas.openxmlformats.org/officeDocument/2006/relationships/image" Target="/ppt/media/image2.png" Id="R6a635db0ffc643c6" /><Relationship Type="http://schemas.openxmlformats.org/officeDocument/2006/relationships/notesSlide" Target="/ppt/notesSlides/notesSlide11.xml" Id="R4147ac0c5ad04d3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337b4ddc6644b5a" /><Relationship Type="http://schemas.openxmlformats.org/officeDocument/2006/relationships/notesSlide" Target="/ppt/notesSlides/notesSlide12.xml" Id="R6b4858cb4f57419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b3168460f724eb9" /><Relationship Type="http://schemas.openxmlformats.org/officeDocument/2006/relationships/image" Target="/ppt/media/image5.png" Id="Ra49025df2fa74178" /><Relationship Type="http://schemas.openxmlformats.org/officeDocument/2006/relationships/notesSlide" Target="/ppt/notesSlides/notesSlide13.xml" Id="Rf9d36db3ac2a4b0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3f3fad089674a87" /><Relationship Type="http://schemas.openxmlformats.org/officeDocument/2006/relationships/notesSlide" Target="/ppt/notesSlides/notesSlide14.xml" Id="R604199f23ffe4724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723dd163ea84916" /><Relationship Type="http://schemas.openxmlformats.org/officeDocument/2006/relationships/notesSlide" Target="/ppt/notesSlides/notesSlide15.xml" Id="R04da3cac70d6437e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4cb5e55352b4bcc" /><Relationship Type="http://schemas.openxmlformats.org/officeDocument/2006/relationships/notesSlide" Target="/ppt/notesSlides/notesSlide16.xml" Id="R2acc1a7709594943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69023a7ad2c4b3a" /><Relationship Type="http://schemas.openxmlformats.org/officeDocument/2006/relationships/notesSlide" Target="/ppt/notesSlides/notesSlide17.xml" Id="R87146056ed5e4fbd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6f39374b54045e0" /><Relationship Type="http://schemas.openxmlformats.org/officeDocument/2006/relationships/image" Target="/ppt/media/image.png" Id="R1eb32256b8d44d34" /><Relationship Type="http://schemas.openxmlformats.org/officeDocument/2006/relationships/notesSlide" Target="/ppt/notesSlides/notesSlide18.xml" Id="Re0132ac110a341ce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c14b054b9c543e2" /><Relationship Type="http://schemas.openxmlformats.org/officeDocument/2006/relationships/image" Target="/ppt/media/image.png" Id="R961cac084be64b83" /><Relationship Type="http://schemas.openxmlformats.org/officeDocument/2006/relationships/notesSlide" Target="/ppt/notesSlides/notesSlide19.xml" Id="R92665dc4fd514307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287036e98ce4b45" /><Relationship Type="http://schemas.openxmlformats.org/officeDocument/2006/relationships/notesSlide" Target="/ppt/notesSlides/notesSlide20.xml" Id="Ra540b1b0343848f6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3e52d71500a4828" /><Relationship Type="http://schemas.openxmlformats.org/officeDocument/2006/relationships/image" Target="/ppt/media/image.png" Id="Raba3d72dbcd2464c" /><Relationship Type="http://schemas.openxmlformats.org/officeDocument/2006/relationships/notesSlide" Target="/ppt/notesSlides/notesSlide21.xml" Id="R287a3b8ead48473a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4874d2b0e5e4beb" /><Relationship Type="http://schemas.openxmlformats.org/officeDocument/2006/relationships/notesSlide" Target="/ppt/notesSlides/notesSlide22.xml" Id="Rfe7b4f37055448c2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90dd3ee45be4fe3" /><Relationship Type="http://schemas.openxmlformats.org/officeDocument/2006/relationships/notesSlide" Target="/ppt/notesSlides/notesSlide23.xml" Id="R57c21dfe44014b6b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023642d5c9645af" /><Relationship Type="http://schemas.openxmlformats.org/officeDocument/2006/relationships/notesSlide" Target="/ppt/notesSlides/notesSlide24.xml" Id="R56a9400dc2274dd6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2f60ce7770b4e08" /><Relationship Type="http://schemas.openxmlformats.org/officeDocument/2006/relationships/notesSlide" Target="/ppt/notesSlides/notesSlide25.xml" Id="Ra60338ff595c4d38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acc790d6efb465f" /><Relationship Type="http://schemas.openxmlformats.org/officeDocument/2006/relationships/notesSlide" Target="/ppt/notesSlides/notesSlide26.xml" Id="R95ccf40d73a04680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1b6abd6811d4148" /><Relationship Type="http://schemas.openxmlformats.org/officeDocument/2006/relationships/notesSlide" Target="/ppt/notesSlides/notesSlide27.xml" Id="R65f6a1bb87184fd5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7471dd6d583400b" /><Relationship Type="http://schemas.openxmlformats.org/officeDocument/2006/relationships/notesSlide" Target="/ppt/notesSlides/notesSlide28.xml" Id="R5e391eb56d994b77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9dbecff083e420c" /><Relationship Type="http://schemas.openxmlformats.org/officeDocument/2006/relationships/notesSlide" Target="/ppt/notesSlides/notesSlide29.xml" Id="R13527dead337463d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ac237f9dfc64cf4" /><Relationship Type="http://schemas.openxmlformats.org/officeDocument/2006/relationships/notesSlide" Target="/ppt/notesSlides/notesSlide30.xml" Id="R7b6c7922412444d0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abc21766af04312" /><Relationship Type="http://schemas.openxmlformats.org/officeDocument/2006/relationships/notesSlide" Target="/ppt/notesSlides/notesSlide31.xml" Id="Ra36e8e008bcd4981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0b4466e3b1a456b" /><Relationship Type="http://schemas.openxmlformats.org/officeDocument/2006/relationships/notesSlide" Target="/ppt/notesSlides/notesSlide32.xml" Id="R5810473887994f2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2C03EE7F-AF1C-47ED-92BA-80DA1C34E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590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8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8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8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8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8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8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8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8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8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8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华文通 · 阅读工作坊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EA767BD0-0AF1-406D-A0EE-CD5106FC3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5524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6450" b="1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6450" b="1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6450" b="1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6450" b="1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6450" b="1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6450" b="1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6450" b="1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6450" b="1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6450" b="1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6450" b="1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6450" b="1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6450" b="1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团圆饭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21DFA8BD-1BAE-4AEB-BB63-6C0E1F21F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81375"/>
            <a:ext cx="4762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27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27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27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27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27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27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27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27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27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27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7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rPr>
              <a:t>漫画阅读课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3BF507D8-8AFF-4BAB-A98F-9C4238525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52950"/>
            <a:ext cx="476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一次团圆饭，藏着哪些心事？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D5C905-74FB-450E-BB7B-B9D6C5969D1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f8aed634554721"/>
          <a:srcRect xmlns:a="http://schemas.openxmlformats.org/drawingml/2006/main" l="50488" t="76432" r="391" b="716"/>
          <a:stretch xmlns:a="http://schemas.openxmlformats.org/drawingml/2006/main"/>
        </p:blipFill>
        <p:spPr>
          <a:xfrm xmlns:a="http://schemas.openxmlformats.org/drawingml/2006/main">
            <a:off x="6238875" y="1743075"/>
            <a:ext cx="5429250" cy="3788602"/>
          </a:xfrm>
          <a:prstGeom xmlns:a="http://schemas.openxmlformats.org/drawingml/2006/main" prst="rect">
            <a:avLst/>
          </a:prstGeom>
        </p:spPr>
      </p:pic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A3FD269D-5193-4FD3-BAED-7E363938B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000750"/>
            <a:ext cx="952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80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80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80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80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80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80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80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80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80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80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rPr>
              <a:t>两课时 · 看图设疑，回到原文找依据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75A3668B-D79F-4406-BDF9-1A9CBC3E5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770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2473738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6CA429DD-5F3F-4897-8DB0-B57EBD5F6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第一课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1F0FA5F1-5891-40E9-A9D3-10D6A5444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rPr>
              <a:t>过年前的妈妈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F0BA5F-063A-490C-9CC8-DD66CDD858F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2c240ed84d47fb"/>
          <a:srcRect xmlns:a="http://schemas.openxmlformats.org/drawingml/2006/main" l="488" t="45898" r="50391" b="38477"/>
          <a:stretch xmlns:a="http://schemas.openxmlformats.org/drawingml/2006/main"/>
        </p:blipFill>
        <p:spPr>
          <a:xfrm xmlns:a="http://schemas.openxmlformats.org/drawingml/2006/main">
            <a:off x="609600" y="1762125"/>
            <a:ext cx="5619750" cy="2681392"/>
          </a:xfrm>
          <a:prstGeom xmlns:a="http://schemas.openxmlformats.org/drawingml/2006/main" prst="rect">
            <a:avLst/>
          </a:prstGeom>
        </p:spPr>
      </p:pic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FA4E5A06-44B2-46CF-94F3-7023E3BBC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809750"/>
            <a:ext cx="48768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家里准备过年时，你见过哪些忙碌的</a:t>
            </a:r>
          </a:p>
          <a:p xmlns:a="http://schemas.openxmlformats.org/drawingml/2006/main">
            <a: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身影？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快过年了，妈妈为什么看起来不开</a:t>
            </a:r>
          </a:p>
          <a:p xmlns:a="http://schemas.openxmlformats.org/drawingml/2006/main">
            <a: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心？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2086A5D6-BD14-43EF-8C26-5134EF822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143500"/>
            <a:ext cx="4857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rPr>
              <a:t>Look at the picture. Keep your guess and check it against the text.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9E7F5F4B-4DB5-4F56-B579-0C69332DD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770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22374397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37B65C66-0048-47BB-8D46-EABB47BA2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初读全文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4154DEF4-C476-4EDB-A0FC-9F49D2CD2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rPr>
              <a:t>初读  第1—3段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9222D486-0333-42FE-A3EC-AA6DAC7F4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342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1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A88B65CB-E559-4532-9B48-FC014A78D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695450"/>
            <a:ext cx="10515600" cy="9624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时间真是个贼，而且还是个神偷。今年妈妈头上的白发看起来更多了，眼</a:t>
            </a:r>
          </a:p>
          <a:p xmlns:a="http://schemas.openxmlformats.org/drawingml/2006/main">
            <a: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角也添了新的鱼尾纹。岁月除了偷走青春，还偷走什么呢？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537B096E-B158-4560-AE24-874794054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48356"/>
            <a:ext cx="342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2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80F7BEBD-90D0-416D-80CE-659120472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10256"/>
            <a:ext cx="10515600" cy="13769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年尾的街市上到处都是红色的装饰。送走圣诞老人，过了元旦，农历新年</a:t>
            </a:r>
          </a:p>
          <a:p xmlns:a="http://schemas.openxmlformats.org/drawingml/2006/main">
            <a: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也悄悄地走近了。家家户户都开始忙碌起来，大扫除，买年货，准备除夕</a:t>
            </a:r>
          </a:p>
          <a:p xmlns:a="http://schemas.openxmlformats.org/drawingml/2006/main">
            <a: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夜的团圆饭。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4474FE4A-5202-4CE2-A3D7-8C60C26DC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77690"/>
            <a:ext cx="342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3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8CB3BA40-2F92-42C1-9307-2C3043EBF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39590"/>
            <a:ext cx="10515600" cy="9624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妈妈喜欢大红色，她说红色显得喜庆。已上中学的我却不太喜欢，甚至觉</a:t>
            </a:r>
          </a:p>
          <a:p xmlns:a="http://schemas.openxmlformats.org/drawingml/2006/main">
            <a: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得有点儿土气。这或许就是成长的定律吧？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16A9058B-4C7B-4D19-BC36-5EB62FFE8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770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7940349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4BFAE71F-08E1-424A-8F50-4D7E2BAF3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初读全文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A141EF99-5521-46B2-AFAE-7797E173B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rPr>
              <a:t>初读  第4—5段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2D02EF52-CA2B-434B-BC77-7D1CF2808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342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4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24BCA8AF-2432-4651-B2D7-EFEA40B94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695450"/>
            <a:ext cx="10515600" cy="17914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几天前，妈妈买年货时看起来不是很开心，铁青着脸，像全天下的人都得</a:t>
            </a:r>
          </a:p>
          <a:p xmlns:a="http://schemas.openxmlformats.org/drawingml/2006/main">
            <a: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罪了她似的。回家处理鱼时，妈妈也一直皱着眉，此时的她和墙上新贴的</a:t>
            </a:r>
          </a:p>
          <a:p xmlns:a="http://schemas.openxmlformats.org/drawingml/2006/main">
            <a: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“年年有余”显得格格不入。鱼是做团圆饭时要用的，现在先处理，冻起</a:t>
            </a:r>
          </a:p>
          <a:p xmlns:a="http://schemas.openxmlformats.org/drawingml/2006/main">
            <a: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来备用。妈妈说，鱼要早点儿买，不然越靠近农历新年越贵。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D1698DEC-92F8-4ADC-A881-05271F8D4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77412"/>
            <a:ext cx="342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5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F5AA01D0-8753-419A-942D-9030C0C6D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639312"/>
            <a:ext cx="10515600" cy="9624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我知道妈妈是因为姐姐的事心里在闹别扭。她的眼睛红红的，不知是因为</a:t>
            </a:r>
          </a:p>
          <a:p xmlns:a="http://schemas.openxmlformats.org/drawingml/2006/main">
            <a: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睡得不够，还是因为在切洋葱。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5A2879E8-4A6B-40F7-8EA3-B18A10515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770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85939930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6E86159E-A6EA-4234-8381-237C098B1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初读全文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80FAE7D2-ADC6-42FF-A271-15C9BD21E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rPr>
              <a:t>初读  第6—8段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E0E4D421-648D-48A2-97E5-10EDFCCA4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342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6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CF5CE2F3-BFF7-428E-80AC-DE4C8D6EB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695450"/>
            <a:ext cx="10515600" cy="13769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去年年初，姐姐结婚，嫁到英国去了。上个月视讯时她告诉我们一件事，</a:t>
            </a:r>
          </a:p>
          <a:p xmlns:a="http://schemas.openxmlformats.org/drawingml/2006/main">
            <a: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话说得吞吞吐吐的：“爸、妈，对不起……看来今年……没办法跟你们一</a:t>
            </a:r>
          </a:p>
          <a:p xmlns:a="http://schemas.openxmlformats.org/drawingml/2006/main">
            <a: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起吃团圆饭了。”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1AA58590-83B7-4027-827B-E0D8B5A03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62884"/>
            <a:ext cx="342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7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9C10485E-4976-493C-BA3C-F9CACB3F9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224784"/>
            <a:ext cx="10515600" cy="5478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“嗯。”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6C9B3A24-8E58-467B-98F3-A9B8C6BCC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63162"/>
            <a:ext cx="342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8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29E57840-A219-43EA-877E-AADDBF3BD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925062"/>
            <a:ext cx="10515600" cy="5478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“这里……假期不好拿。我提前跟你们拜年！”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756325D5-BD24-4759-AAC5-06261320E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770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40341560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E58961AE-892E-434B-ADB8-34098B5CB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初读全文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5FB10279-1B89-4798-8A47-F53677F7B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rPr>
              <a:t>初读  第9—11段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B53A8B3F-0A7E-4C73-B08C-AADE2C7FB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342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9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A2467CD3-F07C-41D6-857A-64C5E66A1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695450"/>
            <a:ext cx="10515600" cy="5478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“好吧。”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EE131978-979B-497C-ADE8-51E54A2EE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33828"/>
            <a:ext cx="342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10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D8021C35-BABA-4A56-8ADC-EA93E5B9F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95728"/>
            <a:ext cx="10515600" cy="9624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一个“嗯”，一个“好吧”，其实也只能这样了。妈妈一定在想，女儿可</a:t>
            </a:r>
          </a:p>
          <a:p xmlns:a="http://schemas.openxmlformats.org/drawingml/2006/main">
            <a: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能以后都不能回来过年了。沉默寡言的爸爸还是那副酷酷的表情。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64A55D48-3927-4CA4-8C14-1A632947F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8634"/>
            <a:ext cx="342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11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98D4F81D-031D-46A9-B6DB-BA1ACB801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510534"/>
            <a:ext cx="10515600" cy="9624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“我们会给你们一个大大的电子红包！”姐姐和姐夫的承诺中带着几分歉</a:t>
            </a:r>
          </a:p>
          <a:p xmlns:a="http://schemas.openxmlformats.org/drawingml/2006/main">
            <a: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意。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F15148F7-97D1-4160-B191-6DEA0B7D0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770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212372281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BD39EFBD-B9F5-4F21-A91F-45AF3D482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初读全文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67C2CA57-32DD-4665-846B-44665B50E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rPr>
              <a:t>初读  第12—14段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A951A1EB-5A10-40DF-B28A-C194A223A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342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12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30C157CE-5E57-4E51-A937-BFEA4CD1F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695450"/>
            <a:ext cx="10515600" cy="13769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这是姐姐第一次不和爸妈一起过新年。除了姐姐，剃了光头正在当兵的哥</a:t>
            </a:r>
          </a:p>
          <a:p xmlns:a="http://schemas.openxmlformats.org/drawingml/2006/main">
            <a: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哥因为出国受训，也不能回来吃团圆饭。以前他们在家，虽然经常斗嘴，</a:t>
            </a:r>
          </a:p>
          <a:p xmlns:a="http://schemas.openxmlformats.org/drawingml/2006/main">
            <a: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却很热闹。今年两个“冤家”无法在圆桌上聚头，团圆饭也会冷清不少。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0EDE4F5D-0FCD-4FEE-9971-1B2B781A7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62884"/>
            <a:ext cx="342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13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E4464D6A-60F8-4327-8D36-CD0EC0D7A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224784"/>
            <a:ext cx="10515600" cy="13769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几年前，我们家的团圆饭已经改为吃火锅。因为妈妈觉得，一家人围炉很</a:t>
            </a:r>
          </a:p>
          <a:p xmlns:a="http://schemas.openxmlformats.org/drawingml/2006/main">
            <a: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热闹，而且吃不完的食物也不会浪费。不过，除了准备火锅料，她还是会</a:t>
            </a:r>
          </a:p>
          <a:p xmlns:a="http://schemas.openxmlformats.org/drawingml/2006/main">
            <a: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煮几道菜，鱼一定会有，海参、香菇和发菜也必不可少。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41F76D31-F07F-4325-B893-E79B0E58E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92218"/>
            <a:ext cx="342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14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F23F4056-071D-4B76-9816-13463FAA1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754118"/>
            <a:ext cx="10515600" cy="13769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火锅的热气蒸腾起来，围着满满一桌美味佳肴，我们的团圆饭开始了。我</a:t>
            </a:r>
          </a:p>
          <a:p xmlns:a="http://schemas.openxmlformats.org/drawingml/2006/main">
            <a: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一边帮爸妈夹菜，一边不停地讲着学校里的种种新闻旧事，希望我的叽叽</a:t>
            </a:r>
          </a:p>
          <a:p xmlns:a="http://schemas.openxmlformats.org/drawingml/2006/main">
            <a: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喳喳能够冲淡哥哥姐姐的缺席带来的冷清。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4AC5CB18-8490-4C51-9953-C1CC911C8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770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6000188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CDA107AD-DD5D-40A9-B90E-8F369884E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初读全文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39E96142-416F-4627-894A-5C5DD4FDC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rPr>
              <a:t>初读  第15—16段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ADD44802-F79F-4A41-BE2C-F73A75295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342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15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55643828-8B58-4BC1-A9F4-F78C59441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695450"/>
            <a:ext cx="10515600" cy="9624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突然，一阵悦耳的门铃声响起。大家的目光齐齐投向门口，家里的贵宾狗</a:t>
            </a:r>
          </a:p>
          <a:p xmlns:a="http://schemas.openxmlformats.org/drawingml/2006/main">
            <a: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小瘦开心地叫了起来，摇着尾巴，冲向大门。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A505A927-FE35-4EA4-9DF3-39B836A58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48356"/>
            <a:ext cx="342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16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9BB4E5B8-BA6D-4BA8-AF29-308781B1C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10256"/>
            <a:ext cx="10515600" cy="5478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火锅还在滚着，似乎在期待着全家的大团圆。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ADC6622A-F98C-4029-9472-BF837778B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770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90695413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97D10784-85D3-4C34-885B-3F58A0525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课堂任务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F7AD4B95-9B4C-4F89-9E6A-ACB6DE387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rPr>
              <a:t>任务1  时间与成长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EAE5E3E8-2687-4809-AC14-23786FCED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作者</a:t>
            </a:r>
            <a:r>
              <a:rPr sz="2700" b="1">
                <a:solidFill>
                  <a:srgbClr val="9B3024"/>
                </a:solidFill>
                <a:latin typeface="LXGW WenKai TC"/>
                <a:ea typeface="LXGW WenKai TC"/>
                <a:cs typeface="LXGW WenKai TC"/>
              </a:rPr>
              <a:t>为什么</a:t>
            </a:r>
            <a:r>
              <a: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把时间说成“</a:t>
            </a:r>
            <a:r>
              <a:rPr sz="2700" b="1">
                <a:solidFill>
                  <a:srgbClr val="9B3024"/>
                </a:solidFill>
                <a:latin typeface="LXGW WenKai TC"/>
                <a:ea typeface="LXGW WenKai TC"/>
                <a:cs typeface="LXGW WenKai TC"/>
              </a:rPr>
              <a:t>神偷</a:t>
            </a:r>
            <a:r>
              <a: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”？请联系</a:t>
            </a:r>
            <a:r>
              <a:rPr sz="2700" b="1">
                <a:solidFill>
                  <a:srgbClr val="9B3024"/>
                </a:solidFill>
                <a:latin typeface="LXGW WenKai TC"/>
                <a:ea typeface="LXGW WenKai TC"/>
                <a:cs typeface="LXGW WenKai TC"/>
              </a:rPr>
              <a:t>妈妈的变化</a:t>
            </a:r>
            <a:r>
              <a: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理解。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AF085A-2A9F-47AF-8A28-9704133C6C5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9fc47f2e574f3e"/>
          <a:srcRect xmlns:a="http://schemas.openxmlformats.org/drawingml/2006/main" l="488" t="6641" r="50391" b="76172"/>
          <a:stretch xmlns:a="http://schemas.openxmlformats.org/drawingml/2006/main"/>
        </p:blipFill>
        <p:spPr>
          <a:xfrm xmlns:a="http://schemas.openxmlformats.org/drawingml/2006/main">
            <a:off x="609600" y="2505075"/>
            <a:ext cx="5219700" cy="2739564"/>
          </a:xfrm>
          <a:prstGeom xmlns:a="http://schemas.openxmlformats.org/drawingml/2006/main" prst="rect">
            <a:avLst/>
          </a:prstGeom>
        </p:spPr>
      </p:pic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7582E5E4-9938-4A54-8A70-AB85EBB0D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543175"/>
            <a:ext cx="508635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22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22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22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22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22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22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22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22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22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2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rPr>
              <a:t>找变化，再解释这个比喻。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FF6D8BAD-E30E-413D-BD16-53A6FDA37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038600"/>
            <a:ext cx="50863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rPr>
              <a:t>Find the changes, then explain the comparison.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9FC1E1AB-5911-4C88-BE49-3D524B011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5715000"/>
            <a:ext cx="5086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8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8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8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8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8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8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8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8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8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8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在学习单完成选择或证据任务。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1F8D4108-0311-4ACB-AA4A-53243AD0C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770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69180268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CA65E962-2819-4BF7-A11E-A4A666CB7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比较与订正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172EF145-F70B-41BE-9530-FD1EFA190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rPr>
              <a:t>任务1  讲解与比较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20208B6C-D775-49CB-8B71-F39296166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rPr>
              <a:t>作者把时间比作厉害的小偷，突出岁月不知不觉使妈妈衰老，带走她的青</a:t>
            </a:r>
          </a:p>
          <a:p xmlns:a="http://schemas.openxmlformats.org/drawingml/2006/main">
            <a: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rPr>
              <a:t>春。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646FA627-6E5E-4727-B6D2-4056F63ED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6227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rPr>
              <a:t>第1段的白发、鱼尾纹是直接依据。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23E7B33A-00AF-4771-AD9A-D06E28F6F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480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rPr>
              <a:t>Grey hair and wrinkles in paragraph 1 are direct evidence.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0795D23A-103E-4D34-8D46-6B8956E01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57650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rPr>
              <a:t>由这些变化解释“悄悄偷走青春”，属于语境与表达分析。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58D2247F-6EFC-4C5C-A661-4C99A11E7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43425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rPr>
              <a:t>The comparison suggests that youth slips away unnoticed.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FC778282-FA72-4C14-9E75-3105D0223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你有没有解释“不知不觉”，而不只说“妈妈变老”？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4115414D-76B4-449D-A1BA-AA8BCF732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770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30724585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1F2BE3C9-5376-46F4-A379-D2F3AC041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课堂任务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67587825-3D6D-4348-8783-DF3B8174D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rPr>
              <a:t>任务2  喜庆与愁容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38B2D1DB-F22E-4F8D-8552-B7D104A68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为什么说</a:t>
            </a:r>
            <a:r>
              <a:rPr sz="2700" b="1">
                <a:solidFill>
                  <a:srgbClr val="9B3024"/>
                </a:solidFill>
                <a:latin typeface="LXGW WenKai TC"/>
                <a:ea typeface="LXGW WenKai TC"/>
                <a:cs typeface="LXGW WenKai TC"/>
              </a:rPr>
              <a:t>此时的妈妈</a:t>
            </a:r>
            <a:r>
              <a: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与“</a:t>
            </a:r>
            <a:r>
              <a:rPr sz="2700" b="1">
                <a:solidFill>
                  <a:srgbClr val="9B3024"/>
                </a:solidFill>
                <a:latin typeface="LXGW WenKai TC"/>
                <a:ea typeface="LXGW WenKai TC"/>
                <a:cs typeface="LXGW WenKai TC"/>
              </a:rPr>
              <a:t>年年有余</a:t>
            </a:r>
            <a:r>
              <a: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”</a:t>
            </a:r>
            <a:r>
              <a:rPr sz="2700" b="1">
                <a:solidFill>
                  <a:srgbClr val="9B3024"/>
                </a:solidFill>
                <a:latin typeface="LXGW WenKai TC"/>
                <a:ea typeface="LXGW WenKai TC"/>
                <a:cs typeface="LXGW WenKai TC"/>
              </a:rPr>
              <a:t>格格不入</a:t>
            </a:r>
            <a:r>
              <a: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？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3E3F7B-FE5B-41D2-A99E-BAC9305854E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635db0ffc643c6"/>
          <a:srcRect xmlns:a="http://schemas.openxmlformats.org/drawingml/2006/main" l="50488" t="43164" r="391" b="38477"/>
          <a:stretch xmlns:a="http://schemas.openxmlformats.org/drawingml/2006/main"/>
        </p:blipFill>
        <p:spPr>
          <a:xfrm xmlns:a="http://schemas.openxmlformats.org/drawingml/2006/main">
            <a:off x="609600" y="2505075"/>
            <a:ext cx="5219700" cy="2926353"/>
          </a:xfrm>
          <a:prstGeom xmlns:a="http://schemas.openxmlformats.org/drawingml/2006/main" prst="rect">
            <a:avLst/>
          </a:prstGeom>
        </p:spPr>
      </p:pic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50C03111-B624-42B0-BDCD-6F7808055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543175"/>
            <a:ext cx="508635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22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22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22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22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22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22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22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22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22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2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rPr>
              <a:t>分别找两边的特点，再说它们是否协</a:t>
            </a:r>
          </a:p>
          <a:p xmlns:a="http://schemas.openxmlformats.org/drawingml/2006/main">
            <a:pPr>
              <a:defRPr sz="22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2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rPr>
              <a:t>调。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4DD2086D-B618-4031-822C-4E39E1159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038600"/>
            <a:ext cx="50863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rPr>
              <a:t>Describe both sides, then explain the contrast.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5DC35773-7187-4CBF-9A7C-0A804A2CF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5715000"/>
            <a:ext cx="5086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8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8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8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8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8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8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8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8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8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8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在学习单完成选择或证据任务。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69326546-1E1A-4A84-9260-469A52A63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770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74717917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7C715EA5-5D8D-4C42-8174-886C08FE3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比较与订正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21D2F581-A80B-48FC-AC0A-884C0F419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rPr>
              <a:t>任务2  讲解与比较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544B17AC-979D-4709-B682-2877B8589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rPr>
              <a:t>“年年有余”的字样充满新年的喜庆和祝福，妈妈却铁青着脸、一直皱</a:t>
            </a:r>
          </a:p>
          <a:p xmlns:a="http://schemas.openxmlformats.org/drawingml/2006/main">
            <a: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rPr>
              <a:t>眉，显得很不开心，两者很不协调。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C0BF8F5C-F38E-4B27-A18A-1FBD25398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6227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rPr>
              <a:t>神态与墙上字样来自第4段，属于直接信息。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31FA2072-B3F7-4E1B-BECA-CC63D15D3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480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rPr>
              <a:t>Both details come directly from paragraph 4.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41C60AAB-E24A-4998-A40C-96F965F85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57650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rPr>
              <a:t>说明两边的反差，才解释了“格格不入”。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CFFD506D-E330-4604-AFA8-FBA09780C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43425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rPr>
              <a:t>Explaining the contrast clarifies the phrase’s meaning.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E66C457E-3ECA-4CDD-BC5F-C0AAE5A64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你的解释有没有写出两边，而不是只写“妈妈不开心”？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9DDA8369-B3E2-4225-9E72-349C1BDF3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770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54533445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9613C7D6-DC7D-4CF7-B1F8-ACB9FB84B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课堂任务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2C47E17E-63B9-44EF-BC0E-8CBFD3B77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rPr>
              <a:t>任务3  缺席原因与人物心理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B1457F55-875C-4FC9-8339-C6198A3AA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姐姐</a:t>
            </a:r>
            <a:r>
              <a:rPr sz="2700" b="1">
                <a:solidFill>
                  <a:srgbClr val="9B3024"/>
                </a:solidFill>
                <a:latin typeface="LXGW WenKai TC"/>
                <a:ea typeface="LXGW WenKai TC"/>
                <a:cs typeface="LXGW WenKai TC"/>
              </a:rPr>
              <a:t>为什么</a:t>
            </a:r>
            <a:r>
              <a:rPr sz="2700" b="1">
                <a:solidFill>
                  <a:srgbClr val="9B3024"/>
                </a:solidFill>
                <a:latin typeface="LXGW WenKai TC"/>
                <a:ea typeface="LXGW WenKai TC"/>
                <a:cs typeface="LXGW WenKai TC"/>
              </a:rPr>
              <a:t>不能回来</a:t>
            </a:r>
            <a:r>
              <a: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？她为什么说得</a:t>
            </a:r>
            <a:r>
              <a:rPr sz="2700" b="1">
                <a:solidFill>
                  <a:srgbClr val="9B3024"/>
                </a:solidFill>
                <a:latin typeface="LXGW WenKai TC"/>
                <a:ea typeface="LXGW WenKai TC"/>
                <a:cs typeface="LXGW WenKai TC"/>
              </a:rPr>
              <a:t>吞吞吐吐</a:t>
            </a:r>
            <a:r>
              <a: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？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708E2B-32C7-4521-814A-158E3D7E650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9025df2fa74178"/>
          <a:srcRect xmlns:a="http://schemas.openxmlformats.org/drawingml/2006/main" l="488" t="24219" r="50391" b="59375"/>
          <a:stretch xmlns:a="http://schemas.openxmlformats.org/drawingml/2006/main"/>
        </p:blipFill>
        <p:spPr>
          <a:xfrm xmlns:a="http://schemas.openxmlformats.org/drawingml/2006/main">
            <a:off x="609600" y="2505075"/>
            <a:ext cx="5219700" cy="2615039"/>
          </a:xfrm>
          <a:prstGeom xmlns:a="http://schemas.openxmlformats.org/drawingml/2006/main" prst="rect">
            <a:avLst/>
          </a:prstGeom>
        </p:spPr>
      </p:pic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3F1BFA93-B1F3-47CA-A4CA-22A9DE850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543175"/>
            <a:ext cx="508635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22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22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22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22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22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22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22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22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22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2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rPr>
              <a:t>实际困难与难以开口的心理，要分开处</a:t>
            </a:r>
          </a:p>
          <a:p xmlns:a="http://schemas.openxmlformats.org/drawingml/2006/main">
            <a:pPr>
              <a:defRPr sz="22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2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rPr>
              <a:t>理。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AE377C7B-162A-464F-9FBE-8B8F18866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038600"/>
            <a:ext cx="50863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rPr>
              <a:t>Separate the practical reason from her feelings.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556D1229-B1EE-48A5-8994-A22A546BD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5715000"/>
            <a:ext cx="5086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8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8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8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8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8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8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8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8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8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8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在学习单完成选择或证据任务。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838FA983-0CC6-4C84-AA1F-2A44D227E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770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84819463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84320323-A8DD-460C-8E1E-05B8137B6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比较与订正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CD968132-8EBE-44A0-A02E-837C98446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rPr>
              <a:t>任务3  讲解与比较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E3078814-AE4C-45E2-897A-B6B28F457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rPr>
              <a:t>姐姐不能回来，是因为英国的假期不好拿。她知道不能回家团聚会使父母</a:t>
            </a:r>
          </a:p>
          <a:p xmlns:a="http://schemas.openxmlformats.org/drawingml/2006/main">
            <a: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rPr>
              <a:t>难过，心里感到歉疚，因此说得吞吞吐吐。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7163958F-0389-49E0-A6A0-2C885D914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6227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rPr>
              <a:t>假期不好拿是第8段的直接信息。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BA2A7BD5-6E71-49CC-92D9-7BE896B7E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480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rPr>
              <a:t>The difficulty getting leave is stated in paragraph 8.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D8141616-2C27-474A-A77E-51B6BA8AE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57650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rPr>
              <a:t>由妈妈的心事与姐姐的歉意，推断她担心使父母失望。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CBF76C3C-04A1-4EF4-86A0-CCEEDDBFF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43425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rPr>
              <a:t>Her hesitation and regret support the inference that she fears disappointing her parents.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495A53D8-2A85-4BCC-B6CE-76B92CE97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有没有把“不能回来”和“难以开口”的原因混在一起？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AD67DD8D-E4E2-425C-9AEA-63CE076CC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770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8683559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C40AD448-FF2C-42F1-9B3E-254A1E6F7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第一课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22A6A4C1-DF59-4BBD-B389-B71E1589E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rPr>
              <a:t>谁在判断妈妈的心事？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93D4B0FD-5595-4347-8C2D-15F400237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550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550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550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550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550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550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550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550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550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550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550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rPr>
              <a:t>“妈妈一定在想，女儿可能以后都不能回来过年了。”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2AC1A2AB-D353-4C5A-A845-4AC9ED0DB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0325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“妈妈一定在想”是叙述者“我”的判断。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1FD7026B-0216-4FC6-9795-A325FFBFA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67075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“女儿可能……”表达对未来的担忧。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C7CB53C1-1657-46AE-B44C-EA1AF9145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33825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原文没有明确“嗯”“好吧”各是谁说的。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A28B788F-F7CA-467C-9A47-A1DD969F4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rPr>
              <a:t>Whose judgement is this? A narrator’s interpretation is not the mother’s spoken statement.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16AEB988-FECB-4333-9A87-51ACB07CC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770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47117603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592D8965-FD0E-4A9C-842B-F74877F3E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课堂任务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43BCDE65-05BB-4FD2-AA09-584E7C0AF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rPr>
              <a:t>任务4  往年与今年的气氛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B1763056-35E8-43B0-8580-E56D8570E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700" b="1">
                <a:solidFill>
                  <a:srgbClr val="9B3024"/>
                </a:solidFill>
                <a:latin typeface="LXGW WenKai TC"/>
                <a:ea typeface="LXGW WenKai TC"/>
                <a:cs typeface="LXGW WenKai TC"/>
              </a:rPr>
              <a:t>以前</a:t>
            </a:r>
            <a:r>
              <a: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兄姐在家与</a:t>
            </a:r>
            <a:r>
              <a:rPr sz="2700" b="1">
                <a:solidFill>
                  <a:srgbClr val="9B3024"/>
                </a:solidFill>
                <a:latin typeface="LXGW WenKai TC"/>
                <a:ea typeface="LXGW WenKai TC"/>
                <a:cs typeface="LXGW WenKai TC"/>
              </a:rPr>
              <a:t>今年</a:t>
            </a:r>
            <a:r>
              <a: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不能回来，家中</a:t>
            </a:r>
            <a:r>
              <a:rPr sz="2700" b="1">
                <a:solidFill>
                  <a:srgbClr val="9B3024"/>
                </a:solidFill>
                <a:latin typeface="LXGW WenKai TC"/>
                <a:ea typeface="LXGW WenKai TC"/>
                <a:cs typeface="LXGW WenKai TC"/>
              </a:rPr>
              <a:t>气氛</a:t>
            </a:r>
            <a:r>
              <a: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有什么</a:t>
            </a:r>
            <a:r>
              <a:rPr sz="2700" b="1">
                <a:solidFill>
                  <a:srgbClr val="9B3024"/>
                </a:solidFill>
                <a:latin typeface="LXGW WenKai TC"/>
                <a:ea typeface="LXGW WenKai TC"/>
                <a:cs typeface="LXGW WenKai TC"/>
              </a:rPr>
              <a:t>不同</a:t>
            </a:r>
            <a:r>
              <a: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？这样的</a:t>
            </a:r>
            <a:r>
              <a:rPr sz="2700" b="1">
                <a:solidFill>
                  <a:srgbClr val="9B3024"/>
                </a:solidFill>
                <a:latin typeface="LXGW WenKai TC"/>
                <a:ea typeface="LXGW WenKai TC"/>
                <a:cs typeface="LXGW WenKai TC"/>
              </a:rPr>
              <a:t>对比</a:t>
            </a:r>
            <a:r>
              <a: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突出</a:t>
            </a:r>
          </a:p>
          <a:p xmlns:a="http://schemas.openxmlformats.org/drawingml/2006/main">
            <a: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了什么？（3分）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E0AE1526-EBE3-4D7A-91BD-2E190497B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这是姐姐第一次不和爸妈一起过新年。除了姐姐，剃了光头正在当兵的哥哥因为出国</a:t>
            </a:r>
          </a:p>
          <a:p xmlns:a="http://schemas.openxmlformats.org/drawingml/2006/main">
            <a: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受训，也不能回来吃团圆饭。以前他们在家，虽然经常斗嘴，却很热闹。今年两个“</a:t>
            </a:r>
          </a:p>
          <a:p xmlns:a="http://schemas.openxmlformats.org/drawingml/2006/main">
            <a: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冤家”无法在圆桌上聚头，团圆饭也会冷清不少。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9D369434-63F0-4E1D-B631-BE678D35B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76875"/>
            <a:ext cx="1095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rPr>
              <a:t>写齐两边的气氛，再说明对比的意义。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232052C9-FCFD-47D3-9B69-4D5656CD4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8170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rPr>
              <a:t>Describe both atmospheres and explain what the contrast highlights.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A301EC6D-A078-49E9-B459-D5B931464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770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53387022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43927A63-96C8-4189-9918-376CBE2F2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比较与订正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AE428FFA-58E8-42F1-B1DD-237C1FBF2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rPr>
              <a:t>任务4  讲解与比较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14B18952-E188-4B0A-B10E-E6E04ED4B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rPr>
              <a:t>以前兄姐虽然经常斗嘴，家里却很热闹。今年他们不能回来，团圆饭变得</a:t>
            </a:r>
          </a:p>
          <a:p xmlns:a="http://schemas.openxmlformats.org/drawingml/2006/main">
            <a: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rPr>
              <a:t>冷清。这样的对比突出家人相聚的重要，以及团聚带来的温暖和热闹。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0BC07004-6AA7-4824-BE6F-29DA2D5D2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62275"/>
            <a:ext cx="108204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1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1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1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1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1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1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1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1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1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1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要点1（1分）  以前虽然常斗嘴，却很热闹。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A691A783-EE4F-41A5-B4E5-7977CA0CE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86150"/>
            <a:ext cx="108204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1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1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1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1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1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1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1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1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1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1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要点2（1分）  今年兄姐缺席，团圆饭冷清。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442418D7-8EDB-46B2-AC76-E3BB7C7FB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10025"/>
            <a:ext cx="108204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1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1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1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1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1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1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1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1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1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1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要点3（1分）  对比突出家人相聚的重要或温暖。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F4B418A7-99A9-4CB0-B86F-2C137D23E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只写“少了两个人”还未说明气氛，只写“形成对比”还未说明作用。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27E1E085-8ADD-42CD-9EDC-614291CC4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770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463443980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20E04666-CFF9-4A4F-A1F6-C4F7A0C00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第二课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F7210066-03DA-4E3F-9AF9-CC31E0D13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rPr>
              <a:t>第二课  围炉与传统年菜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1C616A-CFB8-4821-9A4E-24DEF1C2853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b32256b8d44d34"/>
          <a:srcRect xmlns:a="http://schemas.openxmlformats.org/drawingml/2006/main" l="488" t="24284" r="50391" b="59115"/>
          <a:stretch xmlns:a="http://schemas.openxmlformats.org/drawingml/2006/main"/>
        </p:blipFill>
        <p:spPr>
          <a:xfrm xmlns:a="http://schemas.openxmlformats.org/drawingml/2006/main">
            <a:off x="609600" y="1762125"/>
            <a:ext cx="5619750" cy="2848979"/>
          </a:xfrm>
          <a:prstGeom xmlns:a="http://schemas.openxmlformats.org/drawingml/2006/main" prst="rect">
            <a:avLst/>
          </a:prstGeom>
        </p:spPr>
      </p:pic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A45624CE-AADF-49CE-B314-C6527AF0B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809750"/>
            <a:ext cx="48768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一家人围炉很热闹，剩下的食物也不</a:t>
            </a:r>
          </a:p>
          <a:p xmlns:a="http://schemas.openxmlformats.org/drawingml/2006/main">
            <a: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浪费。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鱼：年年有余</a:t>
            </a:r>
          </a:p>
          <a:p xmlns:a="http://schemas.openxmlformats.org/drawingml/2006/main">
            <a: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海参：步步高升</a:t>
            </a:r>
          </a:p>
          <a:p xmlns:a="http://schemas.openxmlformats.org/drawingml/2006/main">
            <a: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发菜：发财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AD084B02-9957-46A5-94FD-D4FA046B1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143500"/>
            <a:ext cx="4857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rPr>
              <a:t>Traditional dishes express good wishes.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C68D0FC5-C3AC-4B6B-A1FC-FE5FC524D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770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45884941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1A42F1EA-2225-4531-890B-EA20FBAC4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课堂任务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9C71245F-A221-461E-B98C-86AB1648D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rPr>
              <a:t>任务5  行动、目的与特点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DCA4D744-BAED-4A6E-86A7-D260234B5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“我”为缓和冷清做了</a:t>
            </a:r>
            <a:r>
              <a:rPr sz="2700" b="1">
                <a:solidFill>
                  <a:srgbClr val="9B3024"/>
                </a:solidFill>
                <a:latin typeface="LXGW WenKai TC"/>
                <a:ea typeface="LXGW WenKai TC"/>
                <a:cs typeface="LXGW WenKai TC"/>
              </a:rPr>
              <a:t>哪两件事</a:t>
            </a:r>
            <a:r>
              <a: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？</a:t>
            </a:r>
            <a:r>
              <a:rPr sz="2700" b="1">
                <a:solidFill>
                  <a:srgbClr val="9B3024"/>
                </a:solidFill>
                <a:latin typeface="LXGW WenKai TC"/>
                <a:ea typeface="LXGW WenKai TC"/>
                <a:cs typeface="LXGW WenKai TC"/>
              </a:rPr>
              <a:t>这些行为</a:t>
            </a:r>
            <a:r>
              <a: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表现了</a:t>
            </a:r>
            <a:r>
              <a:rPr sz="2700" b="1">
                <a:solidFill>
                  <a:srgbClr val="9B3024"/>
                </a:solidFill>
                <a:latin typeface="LXGW WenKai TC"/>
                <a:ea typeface="LXGW WenKai TC"/>
                <a:cs typeface="LXGW WenKai TC"/>
              </a:rPr>
              <a:t>怎样的特点</a:t>
            </a:r>
            <a:r>
              <a: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？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2A960F-E28E-4807-9C52-C65A7F71107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1cac084be64b83"/>
          <a:srcRect xmlns:a="http://schemas.openxmlformats.org/drawingml/2006/main" l="488" t="41276" r="50391" b="42057"/>
          <a:stretch xmlns:a="http://schemas.openxmlformats.org/drawingml/2006/main"/>
        </p:blipFill>
        <p:spPr>
          <a:xfrm xmlns:a="http://schemas.openxmlformats.org/drawingml/2006/main">
            <a:off x="609600" y="2505075"/>
            <a:ext cx="5219700" cy="2656547"/>
          </a:xfrm>
          <a:prstGeom xmlns:a="http://schemas.openxmlformats.org/drawingml/2006/main" prst="rect">
            <a:avLst/>
          </a:prstGeom>
        </p:spPr>
      </p:pic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6EF3B3A3-5182-4CA8-8020-0FE710088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543175"/>
            <a:ext cx="508635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22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22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22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22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22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22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22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22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22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2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rPr>
              <a:t>点原文，再点证据框。先找行为，再概</a:t>
            </a:r>
          </a:p>
          <a:p xmlns:a="http://schemas.openxmlformats.org/drawingml/2006/main">
            <a:pPr>
              <a:defRPr sz="22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2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rPr>
              <a:t>括特点。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210093EF-CF22-4940-896C-04F3D0363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038600"/>
            <a:ext cx="50863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rPr>
              <a:t>Tap a sentence, then an evidence box. Use actions to infer a trait.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E33F00B9-0AFA-4235-B1DE-16A2ADADC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5715000"/>
            <a:ext cx="5086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8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8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8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8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8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8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8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8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8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8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在学习单完成选择或证据任务。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986719BC-BE16-49D1-9FF8-95A47DBD0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770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025448642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F445A89F-B0F4-4E68-A7DA-C7127880F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比较与订正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33537A99-FFB0-4CA8-9521-3A0590062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rPr>
              <a:t>任务5  讲解与比较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B690845E-C152-4013-AB52-447DE20C9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rPr>
              <a:t>“我”帮爸妈夹菜，又不停地讲学校的新闻旧事，希望冲淡兄姐缺席带来</a:t>
            </a:r>
          </a:p>
          <a:p xmlns:a="http://schemas.openxmlformats.org/drawingml/2006/main">
            <a: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rPr>
              <a:t>的冷清。这表现了“我”体贴、关心父母。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11BD18C4-3CF4-4BD9-8AB1-7BA19E155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6227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rPr>
              <a:t>夹菜、讲学校的事及冲淡冷清的目的，都由第14段直接写明。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176D6F79-6BEF-488C-B722-4314EDF26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480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rPr>
              <a:t>The actions and purpose are directly stated in paragraph 14.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B601E6F9-3A89-4C8D-BBCF-2B9447BAB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57650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rPr>
              <a:t>从行为和目的概括“体贴”，才是人物分析。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E4473631-3801-4E34-B877-45CABFCC0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43425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rPr>
              <a:t>Inferring considerateness from actions and purpose is character analysis.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3048819A-F261-4FFB-AFD4-D13C727AE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你选的依据能不能支持“关心父母”，而不只是“爱说话”？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D3894FDB-1BDF-4A9E-8804-0FEDA1576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770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854565160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E1B28071-CBA9-4828-9DC3-432FE42F3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课堂任务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947D7DEC-A114-42DE-9487-3181C2428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rPr>
              <a:t>任务6  门铃与开放结局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94B4959F-F19F-4E1B-8042-4E3F46B74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哪些是课文</a:t>
            </a:r>
            <a:r>
              <a:rPr sz="2700" b="1">
                <a:solidFill>
                  <a:srgbClr val="9B3024"/>
                </a:solidFill>
                <a:latin typeface="LXGW WenKai TC"/>
                <a:ea typeface="LXGW WenKai TC"/>
                <a:cs typeface="LXGW WenKai TC"/>
              </a:rPr>
              <a:t>已经写明</a:t>
            </a:r>
            <a:r>
              <a: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的，哪些</a:t>
            </a:r>
            <a:r>
              <a:rPr sz="2700" b="1">
                <a:solidFill>
                  <a:srgbClr val="9B3024"/>
                </a:solidFill>
                <a:latin typeface="LXGW WenKai TC"/>
                <a:ea typeface="LXGW WenKai TC"/>
                <a:cs typeface="LXGW WenKai TC"/>
              </a:rPr>
              <a:t>只是可能</a:t>
            </a:r>
            <a:r>
              <a: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？</a:t>
            </a:r>
            <a:r>
              <a:rPr sz="2700" b="1">
                <a:solidFill>
                  <a:srgbClr val="9B3024"/>
                </a:solidFill>
                <a:latin typeface="LXGW WenKai TC"/>
                <a:ea typeface="LXGW WenKai TC"/>
                <a:cs typeface="LXGW WenKai TC"/>
              </a:rPr>
              <a:t>最后一句</a:t>
            </a:r>
            <a:r>
              <a: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表达</a:t>
            </a:r>
            <a:r>
              <a:rPr sz="2700" b="1">
                <a:solidFill>
                  <a:srgbClr val="9B3024"/>
                </a:solidFill>
                <a:latin typeface="LXGW WenKai TC"/>
                <a:ea typeface="LXGW WenKai TC"/>
                <a:cs typeface="LXGW WenKai TC"/>
              </a:rPr>
              <a:t>怎样的愿望</a:t>
            </a:r>
            <a:r>
              <a: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？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705839-AF14-4628-B946-BE40BBDBA17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a3d72dbcd2464c"/>
          <a:srcRect xmlns:a="http://schemas.openxmlformats.org/drawingml/2006/main" l="488" t="76432" r="50391" b="716"/>
          <a:stretch xmlns:a="http://schemas.openxmlformats.org/drawingml/2006/main"/>
        </p:blipFill>
        <p:spPr>
          <a:xfrm xmlns:a="http://schemas.openxmlformats.org/drawingml/2006/main">
            <a:off x="609600" y="2505075"/>
            <a:ext cx="5219700" cy="3642375"/>
          </a:xfrm>
          <a:prstGeom xmlns:a="http://schemas.openxmlformats.org/drawingml/2006/main" prst="rect">
            <a:avLst/>
          </a:prstGeom>
        </p:spPr>
      </p:pic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6AA31DF5-9AA6-4C37-95BD-96CB3BEA7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543175"/>
            <a:ext cx="508635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22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22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22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22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22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22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22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22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22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2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rPr>
              <a:t>根据证据判断确定程度，再口头解释末</a:t>
            </a:r>
          </a:p>
          <a:p xmlns:a="http://schemas.openxmlformats.org/drawingml/2006/main">
            <a:pPr>
              <a:defRPr sz="22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2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rPr>
              <a:t>句。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22B2FA90-A1BA-49C4-B53E-5EB8FB0A5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038600"/>
            <a:ext cx="50863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rPr>
              <a:t>Judge certainty from the text, then explain the final sentence aloud.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C0E9E053-E87B-4CCF-B3D6-4462E0A49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5715000"/>
            <a:ext cx="5086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8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8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8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8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8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8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8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8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8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8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在学习单完成选择或证据任务。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8831B97E-8F82-4A6B-AB01-9ADE96E33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770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228561207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F7C383B8-9254-4D00-8554-1E0688C28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比较与订正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39002278-3C86-46B2-8F3F-BF0E31C02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rPr>
              <a:t>任务6  讲解与比较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9954D090-BEF7-428F-93E1-3C3F8C8B2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1457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rPr>
              <a:t>小瘦开心地冲向门口，可使我们猜测来人可能是家人或熟人，但不能确认</a:t>
            </a:r>
          </a:p>
          <a:p xmlns:a="http://schemas.openxmlformats.org/drawingml/2006/main">
            <a: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rPr>
              <a:t>是谁。最后一句把火锅写得像人一样会“期待”，寄托了全家团圆的愿</a:t>
            </a:r>
          </a:p>
          <a:p xmlns:a="http://schemas.openxmlformats.org/drawingml/2006/main">
            <a: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rPr>
              <a:t>望，也留下想象空间。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1608EA8F-731A-42B3-8A5B-3FEFAED61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04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rPr>
              <a:t>门铃及人物、狗的反应是直接信息，来人身份仍未揭晓。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44B085EF-8DF8-4989-B6CF-799DD437E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8620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rPr>
              <a:t>The reactions are stated; the visitor’s identity remains unknown.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58FD3EC4-2072-46C6-B815-91AAE3CDD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rPr>
              <a:t>“期待”赋予火锅人的心理，是拟人，表达团圆愿望。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759F9E0B-EA2D-44F1-85EA-D3B9DD7AE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81575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rPr>
              <a:t>Personification gives the hotpot human feelings and conveys the wish for reunion.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ADB88CC5-064A-44A0-8003-5D91090F8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你的猜测有文字依据吗？有没有把“可能”写成“已经”？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3040BAAB-0B03-4527-86A0-4767ECB27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770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1361206627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9F144FFB-BCC6-44DE-BBA2-606F34072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课堂任务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2406A9F8-8FAD-403D-814A-4333D80E6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rPr>
              <a:t>任务7  团圆饭怎样串联全文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35705106-31CE-45C0-AFE6-F2F43B3AA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按</a:t>
            </a:r>
            <a:r>
              <a:rPr sz="2700" b="1">
                <a:solidFill>
                  <a:srgbClr val="9B3024"/>
                </a:solidFill>
                <a:latin typeface="LXGW WenKai TC"/>
                <a:ea typeface="LXGW WenKai TC"/>
                <a:cs typeface="LXGW WenKai TC"/>
              </a:rPr>
              <a:t>文章展开方式</a:t>
            </a:r>
            <a:r>
              <a: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排列</a:t>
            </a:r>
            <a:r>
              <a:rPr sz="2700" b="1">
                <a:solidFill>
                  <a:srgbClr val="9B3024"/>
                </a:solidFill>
                <a:latin typeface="LXGW WenKai TC"/>
                <a:ea typeface="LXGW WenKai TC"/>
                <a:cs typeface="LXGW WenKai TC"/>
              </a:rPr>
              <a:t>四部分</a:t>
            </a:r>
            <a:r>
              <a: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，并解释“</a:t>
            </a:r>
            <a:r>
              <a:rPr sz="2700" b="1">
                <a:solidFill>
                  <a:srgbClr val="9B3024"/>
                </a:solidFill>
                <a:latin typeface="LXGW WenKai TC"/>
                <a:ea typeface="LXGW WenKai TC"/>
                <a:cs typeface="LXGW WenKai TC"/>
              </a:rPr>
              <a:t>团圆饭</a:t>
            </a:r>
            <a:r>
              <a: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”这条</a:t>
            </a:r>
            <a:r>
              <a:rPr sz="2700" b="1">
                <a:solidFill>
                  <a:srgbClr val="9B3024"/>
                </a:solidFill>
                <a:latin typeface="LXGW WenKai TC"/>
                <a:ea typeface="LXGW WenKai TC"/>
                <a:cs typeface="LXGW WenKai TC"/>
              </a:rPr>
              <a:t>线索</a:t>
            </a:r>
            <a:r>
              <a: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怎样表现主</a:t>
            </a:r>
          </a:p>
          <a:p xmlns:a="http://schemas.openxmlformats.org/drawingml/2006/main">
            <a: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题。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49D170CD-E2D6-44FC-AF67-D44970F7D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952750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4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4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4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4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4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4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4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4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4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4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A. 门铃后的期待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064D2719-FCAD-458A-9E06-AA4AD6964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71875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4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4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4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4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4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4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4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4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4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4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B. 准备团圆饭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BB70504A-3EF5-4A50-A2E1-8F38D498B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191000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4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4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4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4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4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4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4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4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4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4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C. 饭桌上的关心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45C9B531-A3FF-465A-880F-FE8264726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10125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4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4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4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4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4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4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4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4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4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4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D. 缺席引起的失落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2D8E608B-F49B-44CC-BF1D-279F5DB36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97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87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87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87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87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87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87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87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87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87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87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rPr>
              <a:t>依次点卡片排序。再选择最能概括全文的主题。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19D6170F-4C8A-43D9-BEF8-B07B3259F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7695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57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57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57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57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57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57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57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57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57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7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rPr>
              <a:t>Tap cards in the text’s order, then choose its main idea.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C6BFE81A-CF41-4139-94E5-08412E249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770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565398777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7B9AED64-687B-49B1-A06E-63A99F59C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比较与订正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28F02CAF-C32D-4894-9407-54EDFEAB8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rPr>
              <a:t>任务7  讲解与比较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87CC2D22-F189-4692-8BB9-4F0547843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1457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rPr>
              <a:t>文章围绕团圆饭，写准备、兄姐缺席带来的失落、饭桌上的关心和对团聚</a:t>
            </a:r>
          </a:p>
          <a:p xmlns:a="http://schemas.openxmlformats.org/drawingml/2006/main">
            <a: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rPr>
              <a:t>的期待。“团圆饭”串联这些内容，表现家人珍惜团聚、互相牵挂的亲</a:t>
            </a:r>
          </a:p>
          <a:p xmlns:a="http://schemas.openxmlformats.org/drawingml/2006/main">
            <a: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rPr>
              <a:t>情。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9BC91164-D26C-4266-B65A-CC780E9D8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0425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1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1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1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1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1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1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1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1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1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1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准备团圆饭  ·  缺席的失落  ·  饭桌的关心  ·  门铃后的期待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19856A78-1530-496B-A141-29F7095E4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你能说出线索连接了哪些内容吗？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8664112A-D4D5-477B-9CDD-7180617C3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770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153137139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3A8B1715-8BAA-4A16-81D7-5445D54DB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第二课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6B7292F7-E662-46A2-B28F-DE7F4DFC5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rPr>
              <a:t>岁月还“偷走”了什么？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F038BC89-6F13-4BC1-B4B2-6ECF729C5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550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550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550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550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550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550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550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550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550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550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550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rPr>
              <a:t>时间真是个贼，而且还是个神偷。今年妈妈头上的白发看起来更多了，眼角</a:t>
            </a:r>
          </a:p>
          <a:p xmlns:a="http://schemas.openxmlformats.org/drawingml/2006/main">
            <a:pPr>
              <a:defRPr sz="2550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550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rPr>
              <a:t>也添了新的鱼尾纹。岁月除了偷走青春，还偷走什么呢？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C602D027-3777-4F48-B69E-6397952DB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289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姐姐成家远嫁，哥哥出国受训。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14611700-8624-45D1-BF85-53BCB2C7F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9570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岁月可能“偷走”经常相聚的时光。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3B1F00A8-7624-4EC6-B8D5-8B6BFD779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624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歉意、关怀和期待仍表明亲情存在。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50A27570-E3AA-44A2-BFB8-477F70228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rPr>
              <a:t>Time may take away frequent togetherness, while care and longing remain.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6C244929-7946-468F-A77B-AA28A127E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770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1212488385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173C317C-CC6D-43FA-B39B-BCADB23EB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课堂任务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96F1D81D-CBA1-4D63-B8DB-D2453E086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rPr>
              <a:t>任务8  引号中的意思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8D1D22AE-4048-4222-8C62-5D546270D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700" b="1">
                <a:solidFill>
                  <a:srgbClr val="9B3024"/>
                </a:solidFill>
                <a:latin typeface="LXGW WenKai TC"/>
                <a:ea typeface="LXGW WenKai TC"/>
                <a:cs typeface="LXGW WenKai TC"/>
              </a:rPr>
              <a:t>三处引号</a:t>
            </a:r>
            <a:r>
              <a: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各有什么</a:t>
            </a:r>
            <a:r>
              <a:rPr sz="2700" b="1">
                <a:solidFill>
                  <a:srgbClr val="9B3024"/>
                </a:solidFill>
                <a:latin typeface="LXGW WenKai TC"/>
                <a:ea typeface="LXGW WenKai TC"/>
                <a:cs typeface="LXGW WenKai TC"/>
              </a:rPr>
              <a:t>作用</a:t>
            </a:r>
            <a:r>
              <a: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？“</a:t>
            </a:r>
            <a:r>
              <a:rPr sz="2700" b="1">
                <a:solidFill>
                  <a:srgbClr val="9B3024"/>
                </a:solidFill>
                <a:latin typeface="LXGW WenKai TC"/>
                <a:ea typeface="LXGW WenKai TC"/>
                <a:cs typeface="LXGW WenKai TC"/>
              </a:rPr>
              <a:t>冤家</a:t>
            </a:r>
            <a:r>
              <a: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”为什么</a:t>
            </a:r>
            <a:r>
              <a:rPr sz="2700" b="1">
                <a:solidFill>
                  <a:srgbClr val="9B3024"/>
                </a:solidFill>
                <a:latin typeface="LXGW WenKai TC"/>
                <a:ea typeface="LXGW WenKai TC"/>
                <a:cs typeface="LXGW WenKai TC"/>
              </a:rPr>
              <a:t>不能按字面</a:t>
            </a:r>
            <a:r>
              <a: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理解？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E0112F0A-D236-400D-B8F7-D501DD11F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86025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4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4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4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4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4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4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4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4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4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4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“这里……假期不好拿。”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3D49FE69-C5BE-4912-9AD6-326769423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05150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4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4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4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4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4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4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4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4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4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4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墙上的“年年有余”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8681E219-C5DE-43CE-9F28-4656B4685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724275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4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4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4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4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4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4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4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4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4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4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两个“冤家”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333E65D4-037B-467B-8F74-3AA70B16D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97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87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87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87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87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87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87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87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87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87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87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rPr>
              <a:t>先看引号里是谁说的、哪里写的，或有什么特殊含义。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690418DF-1C20-4AF8-9AD0-67EB36E4E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7695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57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57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57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57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57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57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57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57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57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7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rPr>
              <a:t>Check whether the marks quote speech, written words or a special meaning.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6DF120A8-DFF4-4290-B8CB-CB1397312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770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832199137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50834129-7CF9-4848-B561-E68CF8A07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比较与订正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1E60ACA0-0978-4493-8FA0-B15B47A3F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rPr>
              <a:t>任务8  讲解与比较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EE8DF4AE-23ED-409C-8CF4-5967810ED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rPr>
              <a:t>姐姐的话是直接引用；“年年有余”引用墙上的吉祥字样；“冤家”是对</a:t>
            </a:r>
          </a:p>
          <a:p xmlns:a="http://schemas.openxmlformats.org/drawingml/2006/main">
            <a: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rPr>
              <a:t>常斗嘴的兄姐的戏称，具有特殊含义，并非真正的仇敌。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26C95FAD-DE1E-4EBD-9756-89609B1C4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6227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rPr>
              <a:t>第8段为人物原话，第4段为墙上字样。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34CA3AB8-7BD2-4CF1-B434-B01FA1ED2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480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rPr>
              <a:t>Paragraphs 8 and 4 quote speech and written words.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3D054EB4-C586-4E00-AB29-90D287093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57650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rPr>
              <a:t>第12段的家庭关系及“虽然……却……”帮助解释“冤家”。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9AE2281A-84F0-436C-B356-B858E66AD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43425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rPr>
              <a:t>The family context and contrast in paragraph 12 explain the affectionate nickname.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C8514B03-6A2F-4B13-948A-BBCEE1D26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有没有联系兄姐的关系解释“冤家”，而不只写“特殊含义”？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4CACB32C-758E-49F0-85D8-97E9DE5F2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770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54207469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87902416-E271-443D-B55F-7D0978CDF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课堂任务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9B29E4B9-172D-4F1C-8E3E-3C2B2C2EF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rPr>
              <a:t>任务9  电子红包与关心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CFA73236-C212-43D3-B046-E934D367F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你</a:t>
            </a:r>
            <a:r>
              <a:rPr sz="2700" b="1">
                <a:solidFill>
                  <a:srgbClr val="9B3024"/>
                </a:solidFill>
                <a:latin typeface="LXGW WenKai TC"/>
                <a:ea typeface="LXGW WenKai TC"/>
                <a:cs typeface="LXGW WenKai TC"/>
              </a:rPr>
              <a:t>认同</a:t>
            </a:r>
            <a:r>
              <a: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姐姐</a:t>
            </a:r>
            <a:r>
              <a:rPr sz="2700" b="1">
                <a:solidFill>
                  <a:srgbClr val="9B3024"/>
                </a:solidFill>
                <a:latin typeface="LXGW WenKai TC"/>
                <a:ea typeface="LXGW WenKai TC"/>
                <a:cs typeface="LXGW WenKai TC"/>
              </a:rPr>
              <a:t>送电子红包</a:t>
            </a:r>
            <a:r>
              <a: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的做法吗？请</a:t>
            </a:r>
            <a:r>
              <a:rPr sz="2700" b="1">
                <a:solidFill>
                  <a:srgbClr val="9B3024"/>
                </a:solidFill>
                <a:latin typeface="LXGW WenKai TC"/>
                <a:ea typeface="LXGW WenKai TC"/>
                <a:cs typeface="LXGW WenKai TC"/>
              </a:rPr>
              <a:t>结合课文</a:t>
            </a:r>
            <a:r>
              <a: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说明，并提出一个可行的</a:t>
            </a:r>
          </a:p>
          <a:p xmlns:a="http://schemas.openxmlformats.org/drawingml/2006/main">
            <a:pPr>
              <a:def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7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关心方式。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0D3AD331-6A76-4035-AE7B-E197A55FC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“我们会给你们一个大大的电子红包！”</a:t>
            </a:r>
          </a:p>
          <a:p xmlns:a="http://schemas.openxmlformats.org/drawingml/2006/main">
            <a: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姐姐和姐夫的承诺中带着几分歉意。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B445363F-C541-46D4-B83C-35DC70331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76875"/>
            <a:ext cx="1095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rPr>
              <a:t>先选立场，再结合课文口头说明。这里没有唯一立场。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FB44193C-6249-423E-9F49-DE92896EF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8170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rPr>
              <a:t>Choose a view and explain it using the text. More than one position is reasonable.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C8691545-EBEF-47D5-A53B-E8365EA86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770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1425481171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B1D92EB2-C04B-4717-A136-747314089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比较与订正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5ACA5C0A-3DE3-4050-8A15-129F7610D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rPr>
              <a:t>任务9  讲解与比较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7F1F512A-971C-4C6E-AF3A-6B336BC90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1457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rPr>
              <a:t>示例：我部分认同。姐姐假期不好拿，送电子红包能表达心意；但父母仍</a:t>
            </a:r>
          </a:p>
          <a:p xmlns:a="http://schemas.openxmlformats.org/drawingml/2006/main">
            <a: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rPr>
              <a:t>盼望相聚。她还可以约定视频团年，并在方便时另择时间探望。其他立场</a:t>
            </a:r>
          </a:p>
          <a:p xmlns:a="http://schemas.openxmlformats.org/drawingml/2006/main">
            <a: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rPr>
              <a:t>只要有依据、建议可行，也可以成立。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FEB9F09F-D356-48B8-A732-DAB671BEA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04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rPr>
              <a:t>假期困难与歉意是课文依据，立场和建议属于个人回应。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8E203888-9611-4766-8601-90522E784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8620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rPr>
              <a:t>The text supplies the circumstances; the view and proposal are your response.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E8B351A7-F67E-47CD-9117-162CFBE6C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025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rPr>
              <a:t>不把不能回家直接判为不孝，也不认定红包能完全代替陪伴。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7CBA34B9-FB27-4DC4-8C1C-57918E0BD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81575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6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rPr>
              <a:t>Avoid judging absence as unfilial or assuming money fully replaces company.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1DB92827-88F9-493F-8415-B26B2145C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我的理由联系了课文吗？建议回应了父母的需要吗？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2D6225EB-0AB8-4290-8B93-FABAAB734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770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655451129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282D29EE-1322-4118-ACDC-6B6FB3C46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课堂任务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3F3B5C40-A5B5-4185-8B44-D963E347E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rPr>
              <a:t>任务10  无图新文迁移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9904F873-9D6B-4CA5-9FF2-38DA446D3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95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rPr>
              <a:t>自编短文 · 独立阅读，不看提示先作答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A9022A9D-004F-430A-8341-D7EDF5BA5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05025"/>
            <a:ext cx="10972800" cy="1781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校际比赛结束了，大家围着奖杯合照。阿凯站在人群外，低头摆弄没有上场机会</a:t>
            </a:r>
          </a:p>
          <a:p xmlns:a="http://schemas.openxmlformats.org/drawingml/2006/main">
            <a: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的替补号码牌。小文正要跟着队友离开，看了看阿凯，又走回去，把奖杯递到他</a:t>
            </a:r>
          </a:p>
          <a:p xmlns:a="http://schemas.openxmlformats.org/drawingml/2006/main">
            <a: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手里：“刚才你一直帮我们记录对手的打法，来，一起拍！”阿凯先是一愣，随</a:t>
            </a:r>
          </a:p>
          <a:p xmlns:a="http://schemas.openxmlformats.org/drawingml/2006/main">
            <a: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后抱着奖杯走进队伍。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C4FD6FEC-2E5A-4C54-9084-33FD36CF9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38650"/>
            <a:ext cx="109728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6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6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6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6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6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6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6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6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6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6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6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6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小文</a:t>
            </a:r>
            <a:r>
              <a:rPr sz="2625" b="1">
                <a:solidFill>
                  <a:srgbClr val="9B3024"/>
                </a:solidFill>
                <a:latin typeface="LXGW WenKai TC"/>
                <a:ea typeface="LXGW WenKai TC"/>
                <a:cs typeface="LXGW WenKai TC"/>
              </a:rPr>
              <a:t>为什么</a:t>
            </a:r>
            <a:r>
              <a:rPr sz="26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把奖杯</a:t>
            </a:r>
            <a:r>
              <a:rPr sz="2625" b="1">
                <a:solidFill>
                  <a:srgbClr val="9B3024"/>
                </a:solidFill>
                <a:latin typeface="LXGW WenKai TC"/>
                <a:ea typeface="LXGW WenKai TC"/>
                <a:cs typeface="LXGW WenKai TC"/>
              </a:rPr>
              <a:t>递给阿凯</a:t>
            </a:r>
            <a:r>
              <a:rPr sz="26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，并</a:t>
            </a:r>
            <a:r>
              <a:rPr sz="2625" b="1">
                <a:solidFill>
                  <a:srgbClr val="9B3024"/>
                </a:solidFill>
                <a:latin typeface="LXGW WenKai TC"/>
                <a:ea typeface="LXGW WenKai TC"/>
                <a:cs typeface="LXGW WenKai TC"/>
              </a:rPr>
              <a:t>邀请他一起拍照</a:t>
            </a:r>
            <a:r>
              <a:rPr sz="26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？请</a:t>
            </a:r>
            <a:r>
              <a:rPr sz="2625" b="1">
                <a:solidFill>
                  <a:srgbClr val="9B3024"/>
                </a:solidFill>
                <a:latin typeface="LXGW WenKai TC"/>
                <a:ea typeface="LXGW WenKai TC"/>
                <a:cs typeface="LXGW WenKai TC"/>
              </a:rPr>
              <a:t>结合上文</a:t>
            </a:r>
            <a:r>
              <a:rPr sz="26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说明。（3</a:t>
            </a:r>
          </a:p>
          <a:p xmlns:a="http://schemas.openxmlformats.org/drawingml/2006/main">
            <a:pPr>
              <a:defRPr sz="26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6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分）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BEB5E472-824F-4836-8374-24CE2F4B3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1095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87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87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87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87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87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87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87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87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87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87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rPr>
              <a:t>保存首次答案，再对照意义点订正。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4BDB5DB6-E59D-43E7-976B-79AF593F1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770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95041260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2C3058EC-B4D8-48C9-895B-4D8817D73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比较与订正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023FC300-E87A-4CAF-98D7-BFB5BE67D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rPr>
              <a:t>任务10  讲解与比较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6C55CEC1-CC80-446F-B8C4-9971D71FE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1457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rPr>
              <a:t>阿凯没有上场机会，独自站在一旁，显得失落；但他曾帮助记录对手打</a:t>
            </a:r>
          </a:p>
          <a:p xmlns:a="http://schemas.openxmlformats.org/drawingml/2006/main">
            <a: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rPr>
              <a:t>法，为团队出力。小文希望肯定他的贡献，让他也参与合照、分享胜利的</a:t>
            </a:r>
          </a:p>
          <a:p xmlns:a="http://schemas.openxmlformats.org/drawingml/2006/main">
            <a: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rPr>
              <a:t>喜悦，感到被重视。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62696A79-8FEC-49A7-BD9A-019F6548E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00425"/>
            <a:ext cx="108204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1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1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1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1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1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1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1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1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1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1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要点1（1分）  阿凯未能上场，独站一旁，显得失落。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1B8A7287-9648-4E0D-8D30-FA557C9B0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24300"/>
            <a:ext cx="108204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1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1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1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1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1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1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1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1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1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1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要点2（1分）  阿凯记录对手打法，也为团队作出贡献。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0E97331E-59BD-40E8-A559-9FE9DA417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48175"/>
            <a:ext cx="108204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1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1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1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1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1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1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1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1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1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1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要点3（1分）  小文希望肯定贡献，让他参与、分享喜悦或感到被接纳。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93452CFD-636A-4B37-819D-BB7885258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95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只写“小文很善良”没有回答为什么。有没有写出阿凯的处境、贡献与小文的目的？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7EB1B6F8-0694-43D9-A26F-D8CD5215E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770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1368594405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64C7279C-1E28-44FC-8125-8003A1182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第二课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E9762415-C804-4037-B07F-74A945A90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rPr>
              <a:t>阅读后的自检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600C0129-1AEB-4F34-B661-27908E319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我能从原文找出回答问题的依据。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5E4798A8-78D4-4659-B43C-477340FFF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我能说明依据与判断之间的联系。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90B03AC0-1450-45A1-807C-DC80434E4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我能区分已经写明和有依据的猜测。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A871718C-F099-433A-A6D0-A020201AE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我能用“团圆饭”连接内容并解释主题。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E40536F9-00C2-46B7-83FC-C3D680D61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rPr>
              <a:t>Check the evidence, explain the link and keep guesses uncertain.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C9FF00C3-B8E0-4EBF-A81A-A38EF2189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770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60586697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2026-10-19T02:29:39.4300000Z</dcterms:created>
  <dcterms:modified xsi:type="dcterms:W3CDTF">2026-10-19T02:29:39.4300000Z</dcterms:modified>
</coreProperties>
</file>