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278f9de9974a6a" /><Relationship Type="http://schemas.openxmlformats.org/officeDocument/2006/relationships/extended-properties" Target="/docProps/app.xml" Id="R726f6a3ae081433b" /><Relationship Type="http://schemas.openxmlformats.org/officeDocument/2006/relationships/officeDocument" Target="/ppt/presentation.xml" Id="Rb94c29a0ed1449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4f71b1ab304342"/>
  </p:sldMasterIdLst>
  <p:notesMasterIdLst>
    <p:notesMasterId xmlns:r="http://schemas.openxmlformats.org/officeDocument/2006/relationships" r:id="R4b05427d96ec4da0"/>
  </p:notesMasterIdLst>
  <p:sldIdLst>
    <p:sldId xmlns:r="http://schemas.openxmlformats.org/officeDocument/2006/relationships" id="256" r:id="R8d6a9fb171ab450c"/>
    <p:sldId xmlns:r="http://schemas.openxmlformats.org/officeDocument/2006/relationships" id="257" r:id="R5b8fcc0a795146a0"/>
    <p:sldId xmlns:r="http://schemas.openxmlformats.org/officeDocument/2006/relationships" id="258" r:id="Rdb65451ad4b547ec"/>
    <p:sldId xmlns:r="http://schemas.openxmlformats.org/officeDocument/2006/relationships" id="259" r:id="R21a65632ab784353"/>
    <p:sldId xmlns:r="http://schemas.openxmlformats.org/officeDocument/2006/relationships" id="260" r:id="R2040a21e3d48463c"/>
    <p:sldId xmlns:r="http://schemas.openxmlformats.org/officeDocument/2006/relationships" id="261" r:id="R9a7fe6d8c76041ba"/>
    <p:sldId xmlns:r="http://schemas.openxmlformats.org/officeDocument/2006/relationships" id="262" r:id="Re2dccaef842b4057"/>
    <p:sldId xmlns:r="http://schemas.openxmlformats.org/officeDocument/2006/relationships" id="263" r:id="R4aae5abefda94a15"/>
    <p:sldId xmlns:r="http://schemas.openxmlformats.org/officeDocument/2006/relationships" id="264" r:id="R47ada253e0b9459e"/>
    <p:sldId xmlns:r="http://schemas.openxmlformats.org/officeDocument/2006/relationships" id="265" r:id="R54ef4fdfb0f749cf"/>
    <p:sldId xmlns:r="http://schemas.openxmlformats.org/officeDocument/2006/relationships" id="266" r:id="R442a858f735944c9"/>
    <p:sldId xmlns:r="http://schemas.openxmlformats.org/officeDocument/2006/relationships" id="267" r:id="R25609c423b1446a5"/>
    <p:sldId xmlns:r="http://schemas.openxmlformats.org/officeDocument/2006/relationships" id="268" r:id="Rfc748ff5148b4664"/>
    <p:sldId xmlns:r="http://schemas.openxmlformats.org/officeDocument/2006/relationships" id="269" r:id="Re0978d89f9664317"/>
    <p:sldId xmlns:r="http://schemas.openxmlformats.org/officeDocument/2006/relationships" id="270" r:id="Rcf7c1668e2b04ffd"/>
    <p:sldId xmlns:r="http://schemas.openxmlformats.org/officeDocument/2006/relationships" id="271" r:id="Rd1e4289c8f8a4f77"/>
    <p:sldId xmlns:r="http://schemas.openxmlformats.org/officeDocument/2006/relationships" id="272" r:id="Rd46a2821a10349bd"/>
    <p:sldId xmlns:r="http://schemas.openxmlformats.org/officeDocument/2006/relationships" id="273" r:id="Re7ab565278df473f"/>
    <p:sldId xmlns:r="http://schemas.openxmlformats.org/officeDocument/2006/relationships" id="274" r:id="R02e6b5f58263406e"/>
    <p:sldId xmlns:r="http://schemas.openxmlformats.org/officeDocument/2006/relationships" id="275" r:id="R8c837d3ae88e4d6a"/>
    <p:sldId xmlns:r="http://schemas.openxmlformats.org/officeDocument/2006/relationships" id="276" r:id="R0f3bf7397e724ad1"/>
    <p:sldId xmlns:r="http://schemas.openxmlformats.org/officeDocument/2006/relationships" id="277" r:id="Rc14c5a60343b4d1b"/>
    <p:sldId xmlns:r="http://schemas.openxmlformats.org/officeDocument/2006/relationships" id="278" r:id="R2330cb22e4d54a2f"/>
    <p:sldId xmlns:r="http://schemas.openxmlformats.org/officeDocument/2006/relationships" id="279" r:id="R98fbf2d58ae84c0e"/>
    <p:sldId xmlns:r="http://schemas.openxmlformats.org/officeDocument/2006/relationships" id="280" r:id="R381f6e736040416b"/>
    <p:sldId xmlns:r="http://schemas.openxmlformats.org/officeDocument/2006/relationships" id="281" r:id="R9c7f11892bcb45b4"/>
    <p:sldId xmlns:r="http://schemas.openxmlformats.org/officeDocument/2006/relationships" id="282" r:id="R51b7ef7f39794bc4"/>
    <p:sldId xmlns:r="http://schemas.openxmlformats.org/officeDocument/2006/relationships" id="283" r:id="R41bd3f8a9eee4b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739bf60d704fbe" /><Relationship Type="http://schemas.openxmlformats.org/officeDocument/2006/relationships/slideMaster" Target="/ppt/slideMasters/slideMaster1.xml" Id="R684f71b1ab304342" /><Relationship Type="http://schemas.openxmlformats.org/officeDocument/2006/relationships/notesMaster" Target="/ppt/notesMasters/notesMaster1.xml" Id="R4b05427d96ec4da0" /><Relationship Type="http://schemas.openxmlformats.org/officeDocument/2006/relationships/presProps" Target="/ppt/presProps.xml" Id="Ra01731cc78124770" /><Relationship Type="http://schemas.openxmlformats.org/officeDocument/2006/relationships/tableStyles" Target="/ppt/tableStyles.xml" Id="R0cb9824fa37142fa" /><Relationship Type="http://schemas.openxmlformats.org/officeDocument/2006/relationships/slide" Target="/ppt/slides/slide1.xml" Id="R8d6a9fb171ab450c" /><Relationship Type="http://schemas.openxmlformats.org/officeDocument/2006/relationships/slide" Target="/ppt/slides/slide2.xml" Id="R5b8fcc0a795146a0" /><Relationship Type="http://schemas.openxmlformats.org/officeDocument/2006/relationships/slide" Target="/ppt/slides/slide3.xml" Id="Rdb65451ad4b547ec" /><Relationship Type="http://schemas.openxmlformats.org/officeDocument/2006/relationships/slide" Target="/ppt/slides/slide4.xml" Id="R21a65632ab784353" /><Relationship Type="http://schemas.openxmlformats.org/officeDocument/2006/relationships/slide" Target="/ppt/slides/slide5.xml" Id="R2040a21e3d48463c" /><Relationship Type="http://schemas.openxmlformats.org/officeDocument/2006/relationships/slide" Target="/ppt/slides/slide6.xml" Id="R9a7fe6d8c76041ba" /><Relationship Type="http://schemas.openxmlformats.org/officeDocument/2006/relationships/slide" Target="/ppt/slides/slide7.xml" Id="Re2dccaef842b4057" /><Relationship Type="http://schemas.openxmlformats.org/officeDocument/2006/relationships/slide" Target="/ppt/slides/slide8.xml" Id="R4aae5abefda94a15" /><Relationship Type="http://schemas.openxmlformats.org/officeDocument/2006/relationships/slide" Target="/ppt/slides/slide9.xml" Id="R47ada253e0b9459e" /><Relationship Type="http://schemas.openxmlformats.org/officeDocument/2006/relationships/slide" Target="/ppt/slides/slide10.xml" Id="R54ef4fdfb0f749cf" /><Relationship Type="http://schemas.openxmlformats.org/officeDocument/2006/relationships/slide" Target="/ppt/slides/slide11.xml" Id="R442a858f735944c9" /><Relationship Type="http://schemas.openxmlformats.org/officeDocument/2006/relationships/slide" Target="/ppt/slides/slide12.xml" Id="R25609c423b1446a5" /><Relationship Type="http://schemas.openxmlformats.org/officeDocument/2006/relationships/slide" Target="/ppt/slides/slide13.xml" Id="Rfc748ff5148b4664" /><Relationship Type="http://schemas.openxmlformats.org/officeDocument/2006/relationships/slide" Target="/ppt/slides/slide14.xml" Id="Re0978d89f9664317" /><Relationship Type="http://schemas.openxmlformats.org/officeDocument/2006/relationships/slide" Target="/ppt/slides/slide15.xml" Id="Rcf7c1668e2b04ffd" /><Relationship Type="http://schemas.openxmlformats.org/officeDocument/2006/relationships/slide" Target="/ppt/slides/slide16.xml" Id="Rd1e4289c8f8a4f77" /><Relationship Type="http://schemas.openxmlformats.org/officeDocument/2006/relationships/slide" Target="/ppt/slides/slide17.xml" Id="Rd46a2821a10349bd" /><Relationship Type="http://schemas.openxmlformats.org/officeDocument/2006/relationships/slide" Target="/ppt/slides/slide18.xml" Id="Re7ab565278df473f" /><Relationship Type="http://schemas.openxmlformats.org/officeDocument/2006/relationships/slide" Target="/ppt/slides/slide19.xml" Id="R02e6b5f58263406e" /><Relationship Type="http://schemas.openxmlformats.org/officeDocument/2006/relationships/slide" Target="/ppt/slides/slide20.xml" Id="R8c837d3ae88e4d6a" /><Relationship Type="http://schemas.openxmlformats.org/officeDocument/2006/relationships/slide" Target="/ppt/slides/slide21.xml" Id="R0f3bf7397e724ad1" /><Relationship Type="http://schemas.openxmlformats.org/officeDocument/2006/relationships/slide" Target="/ppt/slides/slide22.xml" Id="Rc14c5a60343b4d1b" /><Relationship Type="http://schemas.openxmlformats.org/officeDocument/2006/relationships/slide" Target="/ppt/slides/slide23.xml" Id="R2330cb22e4d54a2f" /><Relationship Type="http://schemas.openxmlformats.org/officeDocument/2006/relationships/slide" Target="/ppt/slides/slide24.xml" Id="R98fbf2d58ae84c0e" /><Relationship Type="http://schemas.openxmlformats.org/officeDocument/2006/relationships/slide" Target="/ppt/slides/slide25.xml" Id="R381f6e736040416b" /><Relationship Type="http://schemas.openxmlformats.org/officeDocument/2006/relationships/slide" Target="/ppt/slides/slide26.xml" Id="R9c7f11892bcb45b4" /><Relationship Type="http://schemas.openxmlformats.org/officeDocument/2006/relationships/slide" Target="/ppt/slides/slide27.xml" Id="R51b7ef7f39794bc4" /><Relationship Type="http://schemas.openxmlformats.org/officeDocument/2006/relationships/slide" Target="/ppt/slides/slide28.xml" Id="R41bd3f8a9eee4b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987db5d01a46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a2376d46e743d4" /><Relationship Type="http://schemas.openxmlformats.org/officeDocument/2006/relationships/notesMaster" Target="/ppt/notesMasters/notesMaster1.xml" Id="R3cde4959020543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d4d4304be147b8" /><Relationship Type="http://schemas.openxmlformats.org/officeDocument/2006/relationships/notesMaster" Target="/ppt/notesMasters/notesMaster1.xml" Id="Re7107aa78c1146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5424d905834280" /><Relationship Type="http://schemas.openxmlformats.org/officeDocument/2006/relationships/notesMaster" Target="/ppt/notesMasters/notesMaster1.xml" Id="Rdd091eeeaa4847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305144b42344b6" /><Relationship Type="http://schemas.openxmlformats.org/officeDocument/2006/relationships/notesMaster" Target="/ppt/notesMasters/notesMaster1.xml" Id="R1bc60be7bb7a4d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04b920c800456d" /><Relationship Type="http://schemas.openxmlformats.org/officeDocument/2006/relationships/notesMaster" Target="/ppt/notesMasters/notesMaster1.xml" Id="R235fa92426f04f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2bf288d4eb4426" /><Relationship Type="http://schemas.openxmlformats.org/officeDocument/2006/relationships/notesMaster" Target="/ppt/notesMasters/notesMaster1.xml" Id="Rc874aed5a9ad49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18392dd449454e" /><Relationship Type="http://schemas.openxmlformats.org/officeDocument/2006/relationships/notesMaster" Target="/ppt/notesMasters/notesMaster1.xml" Id="R8bd05af99d214b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e81483b11c4d51" /><Relationship Type="http://schemas.openxmlformats.org/officeDocument/2006/relationships/notesMaster" Target="/ppt/notesMasters/notesMaster1.xml" Id="Rcd81bd6a2c3943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6a3a9ff2cf4774" /><Relationship Type="http://schemas.openxmlformats.org/officeDocument/2006/relationships/notesMaster" Target="/ppt/notesMasters/notesMaster1.xml" Id="Ra3ed5e70a59b4d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9f97baddcd4e84" /><Relationship Type="http://schemas.openxmlformats.org/officeDocument/2006/relationships/notesMaster" Target="/ppt/notesMasters/notesMaster1.xml" Id="R09cb26a15e3545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5083f7a53141a8" /><Relationship Type="http://schemas.openxmlformats.org/officeDocument/2006/relationships/notesMaster" Target="/ppt/notesMasters/notesMaster1.xml" Id="Rbce8cf689ebc49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9e0cf2ca1847f9" /><Relationship Type="http://schemas.openxmlformats.org/officeDocument/2006/relationships/notesMaster" Target="/ppt/notesMasters/notesMaster1.xml" Id="Ra9ebe9deeb344d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b0f09bc1324d7d" /><Relationship Type="http://schemas.openxmlformats.org/officeDocument/2006/relationships/notesMaster" Target="/ppt/notesMasters/notesMaster1.xml" Id="R9b5bde6099384d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bd8eda0346494e" /><Relationship Type="http://schemas.openxmlformats.org/officeDocument/2006/relationships/notesMaster" Target="/ppt/notesMasters/notesMaster1.xml" Id="Rf2333064cbae44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4fd06572f946c2" /><Relationship Type="http://schemas.openxmlformats.org/officeDocument/2006/relationships/notesMaster" Target="/ppt/notesMasters/notesMaster1.xml" Id="R81bf0300162245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1d84dece744999" /><Relationship Type="http://schemas.openxmlformats.org/officeDocument/2006/relationships/notesMaster" Target="/ppt/notesMasters/notesMaster1.xml" Id="R0c8aea5880f544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bf286be0ff4990" /><Relationship Type="http://schemas.openxmlformats.org/officeDocument/2006/relationships/notesMaster" Target="/ppt/notesMasters/notesMaster1.xml" Id="Rfe868518a43c46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50c8974c814b31" /><Relationship Type="http://schemas.openxmlformats.org/officeDocument/2006/relationships/notesMaster" Target="/ppt/notesMasters/notesMaster1.xml" Id="R0d1190fa017d4c7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1934d72acb64350" /><Relationship Type="http://schemas.openxmlformats.org/officeDocument/2006/relationships/notesMaster" Target="/ppt/notesMasters/notesMaster1.xml" Id="R11fc929f51fd4e2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176ad8d1234770" /><Relationship Type="http://schemas.openxmlformats.org/officeDocument/2006/relationships/notesMaster" Target="/ppt/notesMasters/notesMaster1.xml" Id="R37cb0362d08d412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6d644f10f784012" /><Relationship Type="http://schemas.openxmlformats.org/officeDocument/2006/relationships/notesMaster" Target="/ppt/notesMasters/notesMaster1.xml" Id="R3bb8f874b93d4d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db5b1a95df2467c" /><Relationship Type="http://schemas.openxmlformats.org/officeDocument/2006/relationships/notesMaster" Target="/ppt/notesMasters/notesMaster1.xml" Id="Ra8e50a5b71a84a7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4f33457d2224e69" /><Relationship Type="http://schemas.openxmlformats.org/officeDocument/2006/relationships/notesMaster" Target="/ppt/notesMasters/notesMaster1.xml" Id="R3f3d0cf8104047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bb1d04e254c488a" /><Relationship Type="http://schemas.openxmlformats.org/officeDocument/2006/relationships/notesMaster" Target="/ppt/notesMasters/notesMaster1.xml" Id="R7a39803a4e78433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155d35626d94349" /><Relationship Type="http://schemas.openxmlformats.org/officeDocument/2006/relationships/notesMaster" Target="/ppt/notesMasters/notesMaster1.xml" Id="Rc4d11f39220d474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8aa33378bf4c21" /><Relationship Type="http://schemas.openxmlformats.org/officeDocument/2006/relationships/notesMaster" Target="/ppt/notesMasters/notesMaster1.xml" Id="R93f661959447475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2b17ead36534b2a" /><Relationship Type="http://schemas.openxmlformats.org/officeDocument/2006/relationships/notesMaster" Target="/ppt/notesMasters/notesMaster1.xml" Id="R84a547f05fdc476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2edda711338411b" /><Relationship Type="http://schemas.openxmlformats.org/officeDocument/2006/relationships/notesMaster" Target="/ppt/notesMasters/notesMaster1.xml" Id="R058b4b9bce3741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两课时各50分钟。第一课1—16页，对应任务1—4；第二课17—28页，对应任务5—7。开放题必须完成。没有新短文练习。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0—5分钟，导入。不判断猜测对错。隐藏第5格上方解说，仅观察画面。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连贯初读原文，不在每组后插入测验。学生可听读、收藏词语；需要时看一格漫画，然后回到文字。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课本第42页：两个原因问题。先独立找文字依据，再讲解。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参考解释。接受符合证据的等义答案，不以关键词数量或答案长度自动评分。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课本第42页：两个反应问题。先独立找文字依据，再讲解。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参考解释。接受符合证据的等义答案，不以关键词数量或答案长度自动评分。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课本第42页原题。先独立找文字依据，再讲解。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参考解释。接受符合证据的等义答案，不以关键词数量或答案长度自动评分。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按教师要求补充；人物题课本截图待提供。先独立找文字依据，再讲解。本题必须自写，不提供特点选项。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参考解释。接受符合证据的等义答案，不以关键词数量或答案长度自动评分。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任务5—7；开放题留足独立表达和比较的时间。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依据课本第43页。段号与内容逐一对应。请学生寻找反复出现并贯穿事情的事物，不只凭词频判断。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先独立写“本文的线索”“本文的主题”，再显示下一页解释。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结尾是期待，不是已确认的结果。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严格沿用课本第42页分类。“年年有余”是强调的词语，不改分为特别名称。用法须结合语境。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先完成课本两句标点练习，再显示讲解。网页允许点选应加引号的部分，不要求反复输入整句。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规范标点：第二句的句号属于整个陈述句，在引号外。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课本第43页读后说原题。认同、部分认同、不认同都可以；先独立回答，不先显示示范立场。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框架为立场、理由、例子、回扣。理由可以从人的需要、现实限制或可能影响中选一个角度。不要求每个角度全部写。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这是示范而非唯一立场。认同者可解释现实限制与表达心意的价值；不认同者可强调父母的具体情感需要，但不能无证据断定姐姐不孝。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不让学生机械填“因为……所以……”却只重复观点。引导其解释需要、限制或影响。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没有新短文或课后一周小测。词语复习按个人需要进行。词语本只在本机保存，可导出和导入备份；未匹配的词须补充释义。</a:t>
            </a:r>
          </a:p>
          <a:p xmlns:a="http://schemas.openxmlformats.org/drawingml/2006/main">
            <a:r>
              <a:t>资料：教师提供《团圆饭》全文及课本第42—43页截图。人物分析题按教师明确要求补充。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e991d89b743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d82f19e2bb4b6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1f7394510245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fa3ec7c17b42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e3e9ebbcf45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6b7151b084e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D509E9-D5A2-4D6C-9AD6-5812BC13FF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1CFCB2-9E99-4C70-8CBE-D4FDF7AFDC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5C5B8EA-8E66-428D-9722-4337094472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AE23A2-51AF-47DC-B8A2-DA07851F0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6DC478-AF7A-4CC7-A997-67EC5DF872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9F1A73F-9995-4E3E-AA2F-13D722E2E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C541813-D1D1-4245-862B-A1D2B88771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27D8799-1D83-4708-9ED7-809A2FD974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94CB6A-120A-4ECE-AB14-1D4387474E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8B51467-D22F-4AB9-A6F7-CD7672659F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28380d05d14c4f" /><Relationship Type="http://schemas.openxmlformats.org/officeDocument/2006/relationships/slideLayout" Target="/ppt/slideLayouts/slideLayout1.xml" Id="Rfa53c88a23d74a67" /><Relationship Type="http://schemas.openxmlformats.org/officeDocument/2006/relationships/slideLayout" Target="/ppt/slideLayouts/slideLayout2.xml" Id="Rd42cb15422664a8a" /><Relationship Type="http://schemas.openxmlformats.org/officeDocument/2006/relationships/slideLayout" Target="/ppt/slideLayouts/slideLayout3.xml" Id="R02c7e55e9f9e418f" /><Relationship Type="http://schemas.openxmlformats.org/officeDocument/2006/relationships/slideLayout" Target="/ppt/slideLayouts/slideLayout4.xml" Id="R73c03ad3aa49479e" /><Relationship Type="http://schemas.openxmlformats.org/officeDocument/2006/relationships/slideLayout" Target="/ppt/slideLayouts/slideLayout5.xml" Id="R621ef7f46b044956" /><Relationship Type="http://schemas.openxmlformats.org/officeDocument/2006/relationships/slideLayout" Target="/ppt/slideLayouts/slideLayout6.xml" Id="Rf244339eae6844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53c88a23d74a67"/>
    <p:sldLayoutId xmlns:r="http://schemas.openxmlformats.org/officeDocument/2006/relationships" id="2147483650" r:id="Rd42cb15422664a8a"/>
    <p:sldLayoutId xmlns:r="http://schemas.openxmlformats.org/officeDocument/2006/relationships" id="2147483651" r:id="R02c7e55e9f9e418f"/>
    <p:sldLayoutId xmlns:r="http://schemas.openxmlformats.org/officeDocument/2006/relationships" id="2147483652" r:id="R73c03ad3aa49479e"/>
    <p:sldLayoutId xmlns:r="http://schemas.openxmlformats.org/officeDocument/2006/relationships" id="2147483653" r:id="R621ef7f46b044956"/>
    <p:sldLayoutId xmlns:r="http://schemas.openxmlformats.org/officeDocument/2006/relationships" id="2147483654" r:id="Rf244339eae6844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bcb299ef7a41ab" /><Relationship Type="http://schemas.openxmlformats.org/officeDocument/2006/relationships/image" Target="/ppt/media/image.png" Id="Ra5326778d1884d9f" /><Relationship Type="http://schemas.openxmlformats.org/officeDocument/2006/relationships/notesSlide" Target="/ppt/notesSlides/notesSlide1.xml" Id="Rdeb3382af61a4d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4737561842447b" /><Relationship Type="http://schemas.openxmlformats.org/officeDocument/2006/relationships/image" Target="/ppt/media/image2.png" Id="Rfc20e1eee7bf4428" /><Relationship Type="http://schemas.openxmlformats.org/officeDocument/2006/relationships/notesSlide" Target="/ppt/notesSlides/notesSlide2.xml" Id="R2c4046a6549749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5ad88f30a4186" /><Relationship Type="http://schemas.openxmlformats.org/officeDocument/2006/relationships/notesSlide" Target="/ppt/notesSlides/notesSlide3.xml" Id="Rd23fcf65c07048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ff7eb8fa84877" /><Relationship Type="http://schemas.openxmlformats.org/officeDocument/2006/relationships/notesSlide" Target="/ppt/notesSlides/notesSlide4.xml" Id="Rc684b72d15ac4a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623e0e8a144649" /><Relationship Type="http://schemas.openxmlformats.org/officeDocument/2006/relationships/notesSlide" Target="/ppt/notesSlides/notesSlide5.xml" Id="R650cfb2a944845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8146f7c3fb41d1" /><Relationship Type="http://schemas.openxmlformats.org/officeDocument/2006/relationships/notesSlide" Target="/ppt/notesSlides/notesSlide6.xml" Id="R2c4c27e6f6e34d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e71e2c6c44a6f" /><Relationship Type="http://schemas.openxmlformats.org/officeDocument/2006/relationships/notesSlide" Target="/ppt/notesSlides/notesSlide7.xml" Id="R9ce66eb7f5b943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d84fcba828408a" /><Relationship Type="http://schemas.openxmlformats.org/officeDocument/2006/relationships/notesSlide" Target="/ppt/notesSlides/notesSlide8.xml" Id="R5b5f8741b95043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754aa66571403b" /><Relationship Type="http://schemas.openxmlformats.org/officeDocument/2006/relationships/notesSlide" Target="/ppt/notesSlides/notesSlide9.xml" Id="Rd144da47e77349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c9bd51704d4dd5" /><Relationship Type="http://schemas.openxmlformats.org/officeDocument/2006/relationships/notesSlide" Target="/ppt/notesSlides/notesSlide10.xml" Id="Rcda4749a0eae42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6f73cc46ea426b" /><Relationship Type="http://schemas.openxmlformats.org/officeDocument/2006/relationships/notesSlide" Target="/ppt/notesSlides/notesSlide11.xml" Id="R9e2a4732688a4a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08922e2a414ea9" /><Relationship Type="http://schemas.openxmlformats.org/officeDocument/2006/relationships/notesSlide" Target="/ppt/notesSlides/notesSlide12.xml" Id="R955d7dd59b1544d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99b202a5e243f8" /><Relationship Type="http://schemas.openxmlformats.org/officeDocument/2006/relationships/notesSlide" Target="/ppt/notesSlides/notesSlide13.xml" Id="R3c6f28aa99d743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9dd7eb48b4feb" /><Relationship Type="http://schemas.openxmlformats.org/officeDocument/2006/relationships/notesSlide" Target="/ppt/notesSlides/notesSlide14.xml" Id="R81e764fed9b548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fd3be90f545b8" /><Relationship Type="http://schemas.openxmlformats.org/officeDocument/2006/relationships/notesSlide" Target="/ppt/notesSlides/notesSlide15.xml" Id="Re9465e90d4ee4fc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61b211870649cd" /><Relationship Type="http://schemas.openxmlformats.org/officeDocument/2006/relationships/notesSlide" Target="/ppt/notesSlides/notesSlide16.xml" Id="R580fa319ff0d465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acaaa8fb0848eb" /><Relationship Type="http://schemas.openxmlformats.org/officeDocument/2006/relationships/notesSlide" Target="/ppt/notesSlides/notesSlide17.xml" Id="Rf434a67133d14b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d2b0e7f41b481d" /><Relationship Type="http://schemas.openxmlformats.org/officeDocument/2006/relationships/notesSlide" Target="/ppt/notesSlides/notesSlide18.xml" Id="Re047a153f7eb4f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c2517f9a8d4948" /><Relationship Type="http://schemas.openxmlformats.org/officeDocument/2006/relationships/notesSlide" Target="/ppt/notesSlides/notesSlide19.xml" Id="R70b3806779c84a9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1517f085bb4f23" /><Relationship Type="http://schemas.openxmlformats.org/officeDocument/2006/relationships/notesSlide" Target="/ppt/notesSlides/notesSlide20.xml" Id="Rd1ed9e0b7be944a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25b8ddb1ef45c9" /><Relationship Type="http://schemas.openxmlformats.org/officeDocument/2006/relationships/notesSlide" Target="/ppt/notesSlides/notesSlide21.xml" Id="R9d7dc4dc434f43b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4fb9e942e14da3" /><Relationship Type="http://schemas.openxmlformats.org/officeDocument/2006/relationships/notesSlide" Target="/ppt/notesSlides/notesSlide22.xml" Id="Rbe0873c1e8ff426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07efca0b754c0a" /><Relationship Type="http://schemas.openxmlformats.org/officeDocument/2006/relationships/notesSlide" Target="/ppt/notesSlides/notesSlide23.xml" Id="R08bfecbce8e54b4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7ac16f5d14d70" /><Relationship Type="http://schemas.openxmlformats.org/officeDocument/2006/relationships/notesSlide" Target="/ppt/notesSlides/notesSlide24.xml" Id="R15f8ce6566f6481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e32f20176c4bd6" /><Relationship Type="http://schemas.openxmlformats.org/officeDocument/2006/relationships/notesSlide" Target="/ppt/notesSlides/notesSlide25.xml" Id="R39e190cd8599426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fababcef084524" /><Relationship Type="http://schemas.openxmlformats.org/officeDocument/2006/relationships/notesSlide" Target="/ppt/notesSlides/notesSlide26.xml" Id="Rb42a0e2a95ed4d1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40f34a8da74016" /><Relationship Type="http://schemas.openxmlformats.org/officeDocument/2006/relationships/notesSlide" Target="/ppt/notesSlides/notesSlide27.xml" Id="R43d5aaea22f0487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0eb1f882ed423a" /><Relationship Type="http://schemas.openxmlformats.org/officeDocument/2006/relationships/notesSlide" Target="/ppt/notesSlides/notesSlide28.xml" Id="R14aaee0fbabb49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0EFA2DD-E6EB-437B-99DF-B3B62A4B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华文通 · 阅读工作坊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0CA9A32-FFA9-403D-8ECA-218D3222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524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6450" b="1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团圆饭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77F09AF-28FB-49FE-BBF1-66EF35BD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课本阅读与表达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152F8FF-9695-4082-B54B-8F1CFD51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一次团圆饭，藏着哪些心事？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4A230-93F8-4C75-9A6E-C832594769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26778d1884d9f"/>
          <a:srcRect xmlns:a="http://schemas.openxmlformats.org/drawingml/2006/main" l="50488" t="76432" r="391" b="716"/>
          <a:stretch xmlns:a="http://schemas.openxmlformats.org/drawingml/2006/main"/>
        </p:blipFill>
        <p:spPr>
          <a:xfrm xmlns:a="http://schemas.openxmlformats.org/drawingml/2006/main">
            <a:off x="6238875" y="1743075"/>
            <a:ext cx="5429250" cy="3788602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0A45F32-A568-4837-A890-A8C30E6A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两课时 · 看图设疑，回到原文找依据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BE4FE2E-E1B5-4DA6-AB8D-DA175CDD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39984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270C6BC-A060-4E4C-ACED-9E52CC9D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ED151BD-9FFC-417C-ABDF-22EF2F05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过年前的妈妈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AC2D9-C147-4B02-885E-BCAB4C43DE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0e1eee7bf4428"/>
          <a:srcRect xmlns:a="http://schemas.openxmlformats.org/drawingml/2006/main" l="488" t="45898" r="50391" b="38477"/>
          <a:stretch xmlns:a="http://schemas.openxmlformats.org/drawingml/2006/main"/>
        </p:blipFill>
        <p:spPr>
          <a:xfrm xmlns:a="http://schemas.openxmlformats.org/drawingml/2006/main">
            <a:off x="609600" y="1762125"/>
            <a:ext cx="5619750" cy="2681392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5D1F248-2580-4C90-B6FE-12CAD600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09750"/>
            <a:ext cx="48768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家里准备过年时，你见过哪些忙碌的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身影？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快过年了，妈妈为什么看起来不开</a:t>
            </a:r>
          </a:p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心？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22EBA2A-EE5C-45B9-A621-167DB29F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Look at the picture. Keep your guess and check it against the text.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0D5118F-C9D7-406D-BD09-EE860E15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02754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F38EE0F-98D7-4001-8ABA-2B52F0F2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46A4152-12B8-4812-B09E-5F6BD10D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第1—3段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30343F3-83DA-46B8-9015-658830E8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887FFF1-220F-4B5C-9C6D-124694FC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时间真是个贼，而且还是个神偷。今年妈妈头上的白发看起来更多了，眼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角也添了新的鱼尾纹。岁月除了偷走青春，还偷走什么呢？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6CAFFDD-96BB-49EE-AB4E-2B5F37C0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8356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2F0B900-A543-452B-B550-60EFE592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0256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年尾的街市上到处都是红色的装饰。送走圣诞老人，过了元旦，农历新年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也悄悄地走近了。家家户户都开始忙碌起来，大扫除，买年货，准备除夕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夜的团圆饭。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B4DD3BD-3FB1-47C1-B42A-DCBA04DA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769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F469CA3-9734-4661-A5A5-5E5FFB75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3959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妈妈喜欢大红色，她说红色显得喜庆。已上中学的我却不太喜欢，甚至觉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得有点儿土气。这或许就是成长的定律吧？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5B02739-D7FB-4518-BE8B-229138E1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27259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18C80E0-AFCA-472D-9F79-FA38AF2C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F459C06-5AF2-4146-B72B-E92EFFD9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第4—5段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E74727F-708F-410B-9F67-D525D0FB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4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4F07F59-5C5C-4F30-BD0C-EFE9BA90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791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几天前，妈妈买年货时看起来不是很开心，铁青着脸，像全天下的人都得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罪了她似的。回家处理鱼时，妈妈也一直皱着眉，此时的她和墙上新贴的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“年年有余”显得格格不入。鱼是做团圆饭时要用的，现在先处理，冻起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来备用。妈妈说，鱼要早点儿买，不然越靠近农历新年越贵。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AD9A3A6-91DC-4BC7-8924-2CF8C6A8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7412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A60C739-68EC-47AC-B370-A3AA5C3B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9312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我知道妈妈是因为姐姐的事心里在闹别扭。她的眼睛红红的，不知是因为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睡得不够，还是因为在切洋葱。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5FA65A9-302C-453F-B0D2-49C2494F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77382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6F617D1-CB80-4425-A25B-C10A85DE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A39F252-6F28-43CF-9336-63D7B84F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第6—8段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EA05EEB-D34A-4DF3-B04B-73899F04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50E02C1-C90D-4233-ABB5-4F73D09A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去年年初，姐姐结婚，嫁到英国去了。上个月视讯时她告诉我们一件事，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话说得吞吞吐吐的：“爸、妈，对不起……看来今年……没办法跟你们一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起吃团圆饭了。”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7015F38-9ED8-4BA0-B2B2-BC50C4D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288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7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58E52CE-8389-480D-8A97-8EDE5E4E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24784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“嗯。”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C699157-64A9-443B-A4F7-3A6F675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3162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8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5F4558D-D405-4DE2-A1ED-479B9A6D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5062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“这里……假期不好拿。我提前跟你们拜年！”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EE6FC12-E0D6-4435-860E-D9814CCA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35221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F151903-2F34-4B03-ACF6-A2A1CE8B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23E0772-5E40-4465-AB1A-1BD6863A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第9—11段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239C64D-9441-4961-98C1-37A0EA1F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9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6F60701-1FE5-421A-A539-2AED4ACC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“好吧。”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209D199-229D-4AF5-A208-616A660E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3828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10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21D86FC-77CC-4C26-AF28-74603609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5728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一个“嗯”，一个“好吧”，其实也只能这样了。妈妈一定在想，女儿可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能以后都不能回来过年了。沉默寡言的爸爸还是那副酷酷的表情。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219AC03-50C8-47FC-A94F-DC11F9ED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863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0BD894F-5797-46D1-9109-FFA3EECB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10534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“我们会给你们一个大大的电子红包！”姐姐和姐夫的承诺中带着几分歉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意。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760BB7C-184C-478C-9B18-52D5D572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40816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03EA40C-DFE8-42DA-A2EC-04E8EA6E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BAE3896-7604-47C7-BF11-D82946A3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第12—14段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0739D62-D660-460E-904E-0934AE37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50B987D-619A-46C3-B72F-16D6AF8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这是姐姐第一次不和爸妈一起过新年。除了姐姐，剃了光头正在当兵的哥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哥因为出国受训，也不能回来吃团圆饭。以前他们在家，虽然经常斗嘴，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却很热闹。今年两个“冤家”无法在圆桌上聚头，团圆饭也会冷清不少。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1730061-B552-4608-B098-9F7FB31A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2884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13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76DF2F8-1D02-4D3D-92E2-C4F17A54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24784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几年前，我们家的团圆饭已经改为吃火锅。因为妈妈觉得，一家人围炉很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热闹，而且吃不完的食物也不会浪费。不过，除了准备火锅料，她还是会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煮几道菜，鱼一定会有，海参、香菇和发菜也必不可少。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8EE9E47-E61D-49F5-88AB-6935AFD0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2218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14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40E7E18-1A44-493C-A6E6-1E62B1A8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4118"/>
            <a:ext cx="10515600" cy="1376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火锅的热气蒸腾起来，围着满满一桌美味佳肴，我们的团圆饭开始了。我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一边帮爸妈夹菜，一边不停地讲着学校里的种种新闻旧事，希望我的叽叽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喳喳能够冲淡哥哥姐姐的缺席带来的冷清。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95AB05A-7E6C-4CD0-B666-83BA0991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90438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8425896-5AD8-4D31-B591-E9C1BC6C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初读全文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1A5C813-DB90-40C2-9D91-D68BE8DF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225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初读  第15—16段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7F61AB8-AB73-46E1-B535-7129221D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4592DB7-3DE4-4355-8E7A-790B6307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0515600" cy="962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突然，一阵悦耳的门铃声响起。大家的目光齐齐投向门口，家里的贵宾狗</a:t>
            </a:r>
          </a:p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小瘦开心地叫了起来，摇着尾巴，冲向大门。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2A79C54-D053-44EC-92EF-4FF23A8C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8356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16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E3EE16A-AD56-462B-89E6-F627EC35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0256"/>
            <a:ext cx="10515600" cy="54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5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火锅还在滚着，似乎在期待着全家的大团圆。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5FD348C-B397-49D0-921D-429AD739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32752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E5EAB-42AC-479F-AE3F-222842B2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0C865-072E-4C45-9BA7-6D347102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  姐姐和哥哥为何缺席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D49D9-C33B-4D61-8C58-2E38A7D5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姐姐为什么不回来吃团圆饭？哥哥为什么不能回来吃团圆饭？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9DA2-6C9A-4F2A-A4F8-4410F7D1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分清两个人的原因，各点入一句原文依据。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64657-C7F6-4D2E-820A-C0B41BAA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先独立回答，再比较与订正。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9EE07-6BEE-49CA-B417-414570AA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573454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8F41F-6289-47F2-8B1B-F46E7FFE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E73B0-B67E-4913-958F-548D262D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任务1  依据与解释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B5E34C-9851-46FA-9E08-1323B271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姐姐在英国，假期不好拿，所以无法回来。哥哥正在当兵，因为出国受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训，也不能回来吃团圆饭。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DB9FC-9B08-4ECF-8F13-71E9A39C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第8段“假期不好拿”说明姐姐的现实困难；第12段“出国受训”说明哥哥的原因。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EBF61-E4ED-4F50-A85A-2C3A4BAC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183113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D4B30-0956-4740-8DBE-D46158E8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0DD58-9339-4F92-A879-026731FF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任务2  父母有什么反应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4EE071-AC09-4AC0-B591-DACD4BBF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妈妈对姐姐不回来吃团圆饭有什么反应？听到姐姐不回来吃团圆饭，</a:t>
            </a:r>
          </a:p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爸爸是什么表情？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AFAFD-6FFA-468C-98C3-16D3F7D5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把神态和人物对应起来，依据必须来自原文。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46AED-6E3C-48F5-8B92-8FC57B5C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先独立回答，再比较与订正。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04B5F-1044-4F68-8CD2-E3CC050A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663311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0C476-8844-4351-B095-DB9059AA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93EDE-6415-4E7F-BB9D-F2C25550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任务2  依据与解释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C7354-80E2-49B6-937F-36855EBE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妈妈心里闹别扭，买年货时铁青着脸，处理鱼时一直皱着眉。爸爸沉默寡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言，还是那副酷酷的表情。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ED86B-C590-4973-A28C-AF7EB85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第4—5段写妈妈的神态和闹别扭；第10段直接写爸爸的表情。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EBAB2-6E33-4928-863A-54A16576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“不知”表示原因未确定；眼睛红不等于已经证实哭过。爸爸表情冷静，也不能推出他不关</a:t>
            </a:r>
          </a:p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心家人。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254D0-9080-4FC3-A736-F6E58C33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014769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3774F-B73D-4E47-95FB-409CCC85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18F77-9518-4F0A-BBB6-F6B80D43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任务3  “我”做了什么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9E0B9-B904-45CA-84F5-8FFDBCFC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吃团圆饭时，“我”做了什么？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0BB4F-E94B-422F-9E1C-5C4B3B00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把两项行为分别放入两个框；不要只选行为的目的。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901DE-3937-4CD6-A855-EBCB3286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先独立回答，再比较与订正。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F690B-898F-49C6-A93F-28334EA1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075139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F1F20-5C1D-44D4-AC8E-FE899CF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FDEF7-2C94-4118-9894-6EC46BF0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任务3  依据与解释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FAA68-74EE-49B8-8043-F17F935E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“我”一边帮爸妈夹菜，一边不停地讲学校里的新闻旧事。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5ADB0-C280-4D01-90CC-D72BAAAB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“一边……一边……”连着两项行为；“希望……”才说明目的。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3EB15-9510-4E90-BD1E-9D36FC63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517596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DBC9A-937D-47DE-A654-6A71F9BF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426C2-FD36-4DA0-AD6A-72C8E91C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任务4  从行为看人物特点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22876-4C24-4C00-9A3C-DD612E67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作者是一个怎样的人？请结合课文内容说明。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9A73C-D249-43C1-A563-1B0EBCA5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本题依据文中的“我”来分析。自己写特点、行为依据，以及行为为什么能说明这</a:t>
            </a:r>
          </a:p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个特点。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59EE3-09C3-4860-8C0F-25385D7E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3543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A1131-EC46-43EA-BC30-4044EC4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3276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特点是什么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E3304-73BB-411B-947C-7E814120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43550"/>
            <a:ext cx="3543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A2C70-703E-4418-94B1-F2EF39C5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657850"/>
            <a:ext cx="3276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哪些行为证明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B26DB-8CE9-4161-A20C-56C93BEA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43550"/>
            <a:ext cx="3543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71C6D-5B9B-4D04-BDB9-C713F21E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为什么能看出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14353-C954-400A-A2FF-197C99BA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794702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83529-3F81-452C-A98D-3186E93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第一课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9FE19-598C-4CF2-8BD2-9DAAF390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任务4  依据与解释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28F9B-5A2E-4F06-A56C-3316AA55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作者是一个体贴、关心父母的人。哥哥姐姐缺席时，“我”主动帮父母夹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菜，还不停地讲学校里的事，希望冲淡冷清。这说明“我”注意到父母的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失落，并愿意用行动安慰他们。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A8B0A-9525-4332-BE6B-BDE7982D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我概括了有依据的人物特点。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018D2-0763-4556-8DCA-E7A8C8B2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我写出了能支持特点的具体行为。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EAB27-900E-4B6B-9CB6-FB17AE7F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我解释了这些行为为什么能体现该特点。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0CFB8-0C10-499D-B49F-D5E57CE4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644328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F7B04-BACE-4B07-A783-08FE2585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24B50-EC23-4BD9-95A3-435B24F1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第二课  连接事情与观点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2439C-F2C4-4231-B34D-99DEB819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我们已经读懂了人物做什么、为什么。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55532-B962-456B-848D-7D6762C2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找事物线索，理解文章主题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2DB8A-169E-43E4-B021-512AD205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辨别引号用法，完成课本练习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C9769-C6F1-44CB-BB33-5B3D42CA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开放题必做：把“为什么”讲清楚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733F5E-D945-4FC9-9007-16A02C37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360602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77D9A2-01B7-4F0E-B379-97C4FC37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C2870-1C8B-412E-B84F-9C21B6FF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同一个事物  串起不同的事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ACB11-9E84-45D2-B0B1-15A2D27D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EF3D7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E192C-2F30-41E0-BDD1-7D8AAF8C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第2段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9BA34-6863-4F44-B802-14C3E7DE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52600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家家户户准备团圆饭。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90B4C-19F6-40E2-91A4-F64F16A9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71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准备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7D175-DCF3-403C-940C-2A90C0C9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EF3D7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20742-A51C-4B16-9309-538EB5DB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第4段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7C264-4078-42CD-9E71-68CD4F42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71725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妈妈先处理鱼，准备团圆饭时用。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26B92E-C755-44D1-80E0-27FD19E0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907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准备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E4880-289F-43B6-8882-D713836A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F9E8D6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60555A-567D-43CF-B411-2D1D226D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第6段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24A60-AE25-487D-8829-D95829A4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90850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姐姐无法回来吃团圆饭。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19E32C-DB41-4F00-B724-1FF7B8D9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099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姐姐缺席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DA8112-FC75-4402-ACF1-BEB74ADA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F9E8D6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2204F-277B-49C4-B729-B9A8866F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290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第12段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C42602-168D-4B83-A616-1F832F3F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09975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哥哥也无法回来吃团圆饭。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AD619A-BD40-4715-BF99-CF201F74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290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哥哥缺席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D2926-B1EE-470D-A4F2-9EE887AF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4F1EC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497472-834D-486E-BA0C-03CEF150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第13段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BCA63B-AC09-4B7A-BD52-205C91D3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29100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家里的团圆饭改为吃火锅。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601FD2-CA74-470C-893D-025ED5E0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2481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围炉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4655F-9F94-4124-BA43-B21F4F59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4F1EC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44670C-6EAA-44BD-8743-7B26AE00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第14段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ED3147-8FB4-4F4F-8535-7882904C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48225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三个人的团圆饭开始了。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8D08E0-6520-4AFB-9072-5E24DCC1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8672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关心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14D9D0-0A10-4C14-A391-7946F9A4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DE6F2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5632CF-8A67-473B-82F9-F2EE0E94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864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第16段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3BCC6-7BFC-43EE-B641-DB46259C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467350"/>
            <a:ext cx="776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25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期待全家人一起吃团圆饭。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8131E0-5A68-4028-A62E-088085DE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864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期待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571A85-E7BB-4407-9E71-6B04B4D8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找反复出现的事物，再看它怎样串起事情。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484495-D6DF-4F83-899A-3AD0EEFA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101408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6674A0-DE71-49F4-A701-8CCFE31F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7B512-1D54-41EF-8CD8-637C45FC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任务5  线索与主题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0F840-638B-45F7-B8B0-63AA6FA1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读课文，找出事物线索，理解文章主题。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212D4-585F-4FED-BAA7-EFA00D13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线索：用什么把事情串起来？</a:t>
            </a:r>
          </a:p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主题：这些事情表达什么感情或道理？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CEAA1-7499-459E-8EAE-DCDF6BDA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2614613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9F0BF-A17F-40D9-90EF-1808DDE5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23479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准备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F8397-77DC-4026-83C7-857F6442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5543550"/>
            <a:ext cx="2614613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710B8-243D-4CBB-ABD0-16C34FC1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57850"/>
            <a:ext cx="23479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缺席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7034C-BCD0-4D46-8E01-7F2191CD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43550"/>
            <a:ext cx="2614613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3DFCF-BD61-4A90-816A-740F36F7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657850"/>
            <a:ext cx="23479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围炉关心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DB635-C91F-43D5-BB80-A2C8226A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5543550"/>
            <a:ext cx="2614613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671121-D9BF-4832-BE4B-0F9A56B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657850"/>
            <a:ext cx="23479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1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期待团圆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73517-DA7B-49F5-9BEE-F4FEDB8F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7297081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7D13D-1C61-4495-A46E-4FC57DEC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B5335-ABB6-4741-914B-DD1DB7B3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任务5  线索与主题不同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50D26-D9DD-467B-B270-9724DA59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本文以“团圆饭”为事物线索，把准备团圆饭、兄姐缺席、围炉时的关心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和对团圆的期待串起来，表现一家人之间的关爱，以及对团聚的珍惜和期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70FEC-5155-430B-AC7C-64AB0044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线索：团圆饭这个具体事物。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2A3DD-7354-42F3-B20A-EABFE88C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主题：亲人间的关爱，对团聚的珍惜与期盼。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CB384-809B-4CD7-B32C-ED55487E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458986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FA784-7269-48F5-BC00-CC29616F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B504B0-723D-4711-AD0C-3B4304E7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引号的五种用法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6FFEE-87E6-4E48-B444-4C222C89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EF3D7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B8BCB-CF40-4F06-9EC4-B46A941B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对话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A82C7-CC80-4A5C-A839-4085CAD9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5260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话说得吞吞吐吐的：“爸、妈，对不起……”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CACE1-129C-423C-A07B-3870FFF7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6F2F6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CB9B6-9D8A-45F0-9030-4B1DA58E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引用别人的话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96DC0-4AAB-40FB-901A-E328E5F6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4795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一个“嗯”，一个“好吧”，其实也只能这样了。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7668A-50DB-45B8-A0A8-9292D067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FE8F6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5971F-CAC8-458A-AEC4-33FAF143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特别的说法、名称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81D4C-20FF-4978-8F66-E5B34EA3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4330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农历新年也叫“春节”。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CCD3D-4FA2-484B-B82A-B815A014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728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1D4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6FF3E-3F92-468C-BA96-69D74FD1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借用的词语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F70F9-0B3F-4471-B5AF-55A5A04E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3865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张老师做出最后的“判决”。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4DB9E-4D78-4591-8813-222ED0F8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7E7ED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BAD12-F8CD-4548-B0BA-B623DF0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强调的词语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D0B97B-638E-4FD3-9573-B89F48B9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33400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1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此时的她和墙上新贴的“年年有余”显得格格不入。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AB789-CD6B-4634-9751-6EC4B233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630366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4F3A8-5F67-4BDE-878A-89C4F8B9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9F1CA-8203-476D-9225-6B95BBF9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任务6  哪些文字加引号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1AFD1-2910-42E7-8BEF-FA1BF2E4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以下句子哪些地方应该加引号？你来试试吧。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42C50E-4B30-4180-AEB3-69D6184F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1. 门上倒贴着一个大大的福字。</a:t>
            </a:r>
          </a:p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2. 助人为快乐之本是他常说的一句话。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93188-B8FE-4719-BA75-11DBE0D0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先独立回答，再比较与订正。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50EB0-C082-4D3A-A02C-AD700357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59789766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31324-F321-4185-A2E4-E60E0321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EDB50-0B93-46C4-9A03-F151BB5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任务6  引号标出什么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DB730-D796-48F5-8C61-3F39B906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1. 门上倒贴着一个大大的“福”字。</a:t>
            </a:r>
          </a:p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2. “助人为快乐之本”是他常说的一句话。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5AFF9-BD55-4F61-8483-1D8C3EE7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“福”：特别标出这个字，不把“字”包括进去。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5BC5E-1AA7-4799-A94D-8D7CC5B2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“助人为快乐之本”：引用他说过的话。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BF2BE-F1DE-4CED-82EB-CDABB421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361741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87F4F-04DE-4D88-8581-5B1DA433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3246EB-0F08-4011-A851-58AC1FDC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任务7  开放题必须完成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F5A6D-0826-4368-8FA0-45D579EB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姐姐不能回家过年，决定给父母一个大大的电子红包。你认同这样的</a:t>
            </a:r>
          </a:p>
          <a:p xmlns:a="http://schemas.openxmlformats.org/drawingml/2006/main">
            <a:pPr>
              <a:def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77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做法吗？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8FFEB-325B-491C-BA9E-5E4C98BC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325" b="0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为什么这样想？请结合课文或生活中的具体情况说明。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0EC7F-CEF1-466C-81FD-D552C821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先独立回答，再比较与订正。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FD778-3219-44D9-81F1-081505F2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590301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362F3-2A53-42A6-B538-90F154AB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8C037-4E5A-43DA-B018-2AF9DF7C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开放题  把“为什么”讲清楚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03EF3-2AA1-4E77-A266-14896ABC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530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471F7-F911-4C47-BF57-E227DAAC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4933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1 立场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A4145-40E2-4823-83D0-183FD1C8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我怎么看？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49B8D-BB3D-4AF1-ADE4-3A15904C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认同、部分认同或不认同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E5AC91-D246-4B38-979C-D4DEAE34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14500"/>
            <a:ext cx="53530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66A40-62B1-41F7-8D73-0B04FE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4933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2 理由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E0B07-2A26-46D7-B2D8-B3BD0B38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为什么这样想？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FB195-D09C-4E23-A5D1-418C5590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5275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解释人的需要、限制或影响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98FC8-4A0A-4344-A65E-3E47FE11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3530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D0A88-D801-4F83-8325-CA0BC4A3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4933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3 例子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CCC6A-9B3D-4BD3-8B9F-1B4AAFBF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有什么具体依据？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AC0DC-2BC9-4458-8C12-04C632FD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9110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课文中的事或生活中的事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F733B6-FA12-492A-BD98-F3F51CFD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52850"/>
            <a:ext cx="53530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6C6CD8-E198-4CB6-9DF5-0789C836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4933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75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4 回扣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6328F-E581-40A7-9ADC-5D47F4D7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例子说明什么？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F1663B-6F2C-47A5-A17F-DA8EFF71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91100"/>
            <a:ext cx="4933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解释它怎样支持自己的立场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59751-E305-45B4-B76C-A36A3DF8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不只写“因为我认同”，要解释其中的关系。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D2E844-3345-4631-8E13-FC64B720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868610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77478E-78E0-48C3-A2F9-8274E9B0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03034-76AC-41D6-8763-91486FD6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一种合理回答  部分认同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7C08E-ADCE-48C7-86FD-8F7A61F7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23E1E-A5F2-4D8E-B206-B48F574B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立场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0B431-9B86-4CAF-A587-7BAFF0FA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18669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我部分认同。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EA5BC-3419-4126-836F-18F1C74F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BD666-5A10-419C-8148-B400673C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理由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21D49-0403-4E77-BFE3-7CC35049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337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姐姐假期不好拿，但父母也需要陪伴。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58E38-838C-45F9-939C-6170082C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972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09E6D-43A9-4776-A153-597E1524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例子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BA76D-D20F-483F-B083-54181F50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0005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妈妈为姐姐不能回来而闹别扭。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41D50-9677-4F99-8D06-C24BFF42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AF2EB"/>
          </a:solidFill>
          <a:ln xmlns:a="http://schemas.openxmlformats.org/drawingml/2006/main" w="9525">
            <a:solidFill>
              <a:srgbClr val="CBD8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E5179C-E272-48A3-9135-8A86A2D3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31695F"/>
                </a:solidFill>
                <a:latin typeface="Noto Serif CJK SC"/>
                <a:ea typeface="Noto Serif CJK SC"/>
                <a:cs typeface="Noto Serif CJK SC"/>
              </a:rPr>
              <a:t>回扣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38D53-9D8D-4423-A0A9-7C0729EE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0673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这说明红包可以表达心意，却不一定满足团聚的期待；还可以视讯或另</a:t>
            </a:r>
          </a:p>
          <a:p xmlns:a="http://schemas.openxmlformats.org/drawingml/2006/main">
            <a:pPr>
              <a:def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325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约时间相聚。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69446B-9334-445D-8321-A6135B9D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8627447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06DF2-E6BA-44B7-BBBD-9636313D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C3231-B250-44E2-8AB9-D32B7EDE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怎样把理由说得更清楚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7C9D0-DA76-41CA-AC3D-D30A3DF3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“因为红包很好。”还没有解释为什么。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0F0AA-71C4-47D0-BD9F-8F82DA69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追问：它能满足谁的什么需要？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F868C-EA7C-4651-9CCA-9B7AB195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举例：写出一件相关的具体事情。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F0FDB3-C542-4B9D-99BE-BEBECF3E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回扣：这件事怎样支持你的看法？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AC5A3-C590-49B5-80A8-0DDD1B76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59091035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03B93-38D8-47F1-AA5D-0F44E57F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75" b="0">
                <a:solidFill>
                  <a:srgbClr val="9B3024"/>
                </a:solidFill>
                <a:latin typeface="Noto Serif CJK SC"/>
                <a:ea typeface="Noto Serif CJK SC"/>
                <a:cs typeface="Noto Serif CJK SC"/>
              </a:rPr>
              <a:t>第二课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11D0C-7970-404B-872B-81ADD8C3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30291F"/>
                </a:solidFill>
                <a:latin typeface="Noto Serif CJK SC"/>
                <a:ea typeface="Noto Serif CJK SC"/>
                <a:cs typeface="Noto Serif CJK SC"/>
              </a:rPr>
              <a:t>完成作答  留下自己的积累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64099-816F-4E9F-ADFB-1F0EFC14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625" b="0">
                <a:solidFill>
                  <a:srgbClr val="31695F"/>
                </a:solidFill>
                <a:latin typeface="LXGW WenKai TC"/>
                <a:ea typeface="LXGW WenKai TC"/>
                <a:cs typeface="LXGW WenKai TC"/>
              </a:rPr>
              <a:t>检查人物短答和开放题：我有依据，也解释了关系吗？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8D345-8D7A-41B9-AE4A-FFEE439A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保留首次回答，在另一个框中订正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62403-AFCD-45B3-8392-2817B563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把不明白的词加入个人词语本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1813F-583A-49F3-902F-454DC943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defRPr>
            </a:pPr>
            <a:r>
              <a:rPr sz="2400" b="0">
                <a:solidFill>
                  <a:srgbClr val="30291F"/>
                </a:solidFill>
                <a:latin typeface="LXGW WenKai TC"/>
                <a:ea typeface="LXGW WenKai TC"/>
                <a:cs typeface="LXGW WenKai TC"/>
              </a:rPr>
              <a:t>翻卡先回想意思，再看释义和课文原句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C59830-CE30-48EB-BFFB-78DBC65C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defPPr>
            <a:lvl1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1pPr>
            <a:lvl2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2pPr>
            <a:lvl3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3pPr>
            <a:lvl4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4pPr>
            <a:lvl5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5pPr>
            <a:lvl6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6pPr>
            <a:lvl7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7pPr>
            <a:lvl8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8pPr>
            <a:lvl9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350" b="0">
                <a:solidFill>
                  <a:srgbClr val="776C60"/>
                </a:solidFill>
                <a:latin typeface="Noto Serif CJK SC"/>
                <a:ea typeface="Noto Serif CJK SC"/>
                <a:cs typeface="Noto Serif CJK S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536317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2026-10-19T03:56:25.5410000Z</dcterms:created>
  <dcterms:modified xsi:type="dcterms:W3CDTF">2026-10-19T03:56:25.5410000Z</dcterms:modified>
</coreProperties>
</file>