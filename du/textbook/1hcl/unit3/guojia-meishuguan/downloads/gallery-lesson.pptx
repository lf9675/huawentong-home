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bf6094e4334964" /><Relationship Type="http://schemas.openxmlformats.org/officeDocument/2006/relationships/extended-properties" Target="/docProps/app.xml" Id="R1a4203ba80de44be" /><Relationship Type="http://schemas.openxmlformats.org/officeDocument/2006/relationships/officeDocument" Target="/ppt/presentation.xml" Id="Rd7207eb917954b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6fd15df8ce4cd1"/>
  </p:sldMasterIdLst>
  <p:notesMasterIdLst>
    <p:notesMasterId xmlns:r="http://schemas.openxmlformats.org/officeDocument/2006/relationships" r:id="R3f00c50380124402"/>
  </p:notesMasterIdLst>
  <p:sldIdLst>
    <p:sldId xmlns:r="http://schemas.openxmlformats.org/officeDocument/2006/relationships" id="256" r:id="Rfe0a73bf158e427f"/>
    <p:sldId xmlns:r="http://schemas.openxmlformats.org/officeDocument/2006/relationships" id="257" r:id="Rdcec37292e2748ee"/>
    <p:sldId xmlns:r="http://schemas.openxmlformats.org/officeDocument/2006/relationships" id="258" r:id="Rf6fa2169d2ff49e0"/>
    <p:sldId xmlns:r="http://schemas.openxmlformats.org/officeDocument/2006/relationships" id="259" r:id="R8cca2a69eb0a4dc0"/>
    <p:sldId xmlns:r="http://schemas.openxmlformats.org/officeDocument/2006/relationships" id="260" r:id="R0ae20652c54b4b75"/>
    <p:sldId xmlns:r="http://schemas.openxmlformats.org/officeDocument/2006/relationships" id="261" r:id="Rf8d4c2fb4c6b4805"/>
    <p:sldId xmlns:r="http://schemas.openxmlformats.org/officeDocument/2006/relationships" id="262" r:id="R9c8661db7e6844d1"/>
    <p:sldId xmlns:r="http://schemas.openxmlformats.org/officeDocument/2006/relationships" id="263" r:id="R08d094baf8ed4cf7"/>
    <p:sldId xmlns:r="http://schemas.openxmlformats.org/officeDocument/2006/relationships" id="264" r:id="R08c3a1a3137a4119"/>
    <p:sldId xmlns:r="http://schemas.openxmlformats.org/officeDocument/2006/relationships" id="265" r:id="Rf33bfe0feca74de9"/>
    <p:sldId xmlns:r="http://schemas.openxmlformats.org/officeDocument/2006/relationships" id="266" r:id="Raa9909d8cb744848"/>
    <p:sldId xmlns:r="http://schemas.openxmlformats.org/officeDocument/2006/relationships" id="267" r:id="R4acc8423c64a4819"/>
    <p:sldId xmlns:r="http://schemas.openxmlformats.org/officeDocument/2006/relationships" id="268" r:id="Rdb1826f07f0e4fe5"/>
    <p:sldId xmlns:r="http://schemas.openxmlformats.org/officeDocument/2006/relationships" id="269" r:id="Refbe9eb7757d4c54"/>
    <p:sldId xmlns:r="http://schemas.openxmlformats.org/officeDocument/2006/relationships" id="270" r:id="Rd103f1b4caa045a0"/>
    <p:sldId xmlns:r="http://schemas.openxmlformats.org/officeDocument/2006/relationships" id="271" r:id="R83ffbbe09c8a493d"/>
    <p:sldId xmlns:r="http://schemas.openxmlformats.org/officeDocument/2006/relationships" id="272" r:id="Rf7c60bd662ab4915"/>
    <p:sldId xmlns:r="http://schemas.openxmlformats.org/officeDocument/2006/relationships" id="273" r:id="R379a34b4613546cb"/>
    <p:sldId xmlns:r="http://schemas.openxmlformats.org/officeDocument/2006/relationships" id="274" r:id="R7517f52dda084060"/>
    <p:sldId xmlns:r="http://schemas.openxmlformats.org/officeDocument/2006/relationships" id="275" r:id="Rd8323feeb9594acd"/>
    <p:sldId xmlns:r="http://schemas.openxmlformats.org/officeDocument/2006/relationships" id="276" r:id="R1fa9489b77ab48ac"/>
    <p:sldId xmlns:r="http://schemas.openxmlformats.org/officeDocument/2006/relationships" id="277" r:id="Rb17f4dc0065644e0"/>
    <p:sldId xmlns:r="http://schemas.openxmlformats.org/officeDocument/2006/relationships" id="278" r:id="R5237b69a26bc4ad4"/>
    <p:sldId xmlns:r="http://schemas.openxmlformats.org/officeDocument/2006/relationships" id="279" r:id="R2051fe2aff794550"/>
    <p:sldId xmlns:r="http://schemas.openxmlformats.org/officeDocument/2006/relationships" id="280" r:id="R305de6ba46e14bb2"/>
    <p:sldId xmlns:r="http://schemas.openxmlformats.org/officeDocument/2006/relationships" id="281" r:id="R351b67270ca94814"/>
    <p:sldId xmlns:r="http://schemas.openxmlformats.org/officeDocument/2006/relationships" id="282" r:id="R1d22e321f17641b4"/>
    <p:sldId xmlns:r="http://schemas.openxmlformats.org/officeDocument/2006/relationships" id="283" r:id="R2b56c4f001134638"/>
    <p:sldId xmlns:r="http://schemas.openxmlformats.org/officeDocument/2006/relationships" id="284" r:id="Ra5e730bc948440ac"/>
    <p:sldId xmlns:r="http://schemas.openxmlformats.org/officeDocument/2006/relationships" id="285" r:id="Rcc403240657246a4"/>
    <p:sldId xmlns:r="http://schemas.openxmlformats.org/officeDocument/2006/relationships" id="286" r:id="Rbba40076087349f2"/>
    <p:sldId xmlns:r="http://schemas.openxmlformats.org/officeDocument/2006/relationships" id="287" r:id="R7bf76e3902bc4e00"/>
    <p:sldId xmlns:r="http://schemas.openxmlformats.org/officeDocument/2006/relationships" id="288" r:id="R97dee14886924765"/>
    <p:sldId xmlns:r="http://schemas.openxmlformats.org/officeDocument/2006/relationships" id="289" r:id="R0a6113face4249f5"/>
    <p:sldId xmlns:r="http://schemas.openxmlformats.org/officeDocument/2006/relationships" id="290" r:id="R6ddb5a95939548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29cca3e1cc422c" /><Relationship Type="http://schemas.openxmlformats.org/officeDocument/2006/relationships/slideMaster" Target="/ppt/slideMasters/slideMaster1.xml" Id="Rc36fd15df8ce4cd1" /><Relationship Type="http://schemas.openxmlformats.org/officeDocument/2006/relationships/notesMaster" Target="/ppt/notesMasters/notesMaster1.xml" Id="R3f00c50380124402" /><Relationship Type="http://schemas.openxmlformats.org/officeDocument/2006/relationships/presProps" Target="/ppt/presProps.xml" Id="R695cffefdae54c9b" /><Relationship Type="http://schemas.openxmlformats.org/officeDocument/2006/relationships/tableStyles" Target="/ppt/tableStyles.xml" Id="R1d9d034718dc4b6a" /><Relationship Type="http://schemas.openxmlformats.org/officeDocument/2006/relationships/slide" Target="/ppt/slides/slide1.xml" Id="Rfe0a73bf158e427f" /><Relationship Type="http://schemas.openxmlformats.org/officeDocument/2006/relationships/slide" Target="/ppt/slides/slide2.xml" Id="Rdcec37292e2748ee" /><Relationship Type="http://schemas.openxmlformats.org/officeDocument/2006/relationships/slide" Target="/ppt/slides/slide3.xml" Id="Rf6fa2169d2ff49e0" /><Relationship Type="http://schemas.openxmlformats.org/officeDocument/2006/relationships/slide" Target="/ppt/slides/slide4.xml" Id="R8cca2a69eb0a4dc0" /><Relationship Type="http://schemas.openxmlformats.org/officeDocument/2006/relationships/slide" Target="/ppt/slides/slide5.xml" Id="R0ae20652c54b4b75" /><Relationship Type="http://schemas.openxmlformats.org/officeDocument/2006/relationships/slide" Target="/ppt/slides/slide6.xml" Id="Rf8d4c2fb4c6b4805" /><Relationship Type="http://schemas.openxmlformats.org/officeDocument/2006/relationships/slide" Target="/ppt/slides/slide7.xml" Id="R9c8661db7e6844d1" /><Relationship Type="http://schemas.openxmlformats.org/officeDocument/2006/relationships/slide" Target="/ppt/slides/slide8.xml" Id="R08d094baf8ed4cf7" /><Relationship Type="http://schemas.openxmlformats.org/officeDocument/2006/relationships/slide" Target="/ppt/slides/slide9.xml" Id="R08c3a1a3137a4119" /><Relationship Type="http://schemas.openxmlformats.org/officeDocument/2006/relationships/slide" Target="/ppt/slides/slide10.xml" Id="Rf33bfe0feca74de9" /><Relationship Type="http://schemas.openxmlformats.org/officeDocument/2006/relationships/slide" Target="/ppt/slides/slide11.xml" Id="Raa9909d8cb744848" /><Relationship Type="http://schemas.openxmlformats.org/officeDocument/2006/relationships/slide" Target="/ppt/slides/slide12.xml" Id="R4acc8423c64a4819" /><Relationship Type="http://schemas.openxmlformats.org/officeDocument/2006/relationships/slide" Target="/ppt/slides/slide13.xml" Id="Rdb1826f07f0e4fe5" /><Relationship Type="http://schemas.openxmlformats.org/officeDocument/2006/relationships/slide" Target="/ppt/slides/slide14.xml" Id="Refbe9eb7757d4c54" /><Relationship Type="http://schemas.openxmlformats.org/officeDocument/2006/relationships/slide" Target="/ppt/slides/slide15.xml" Id="Rd103f1b4caa045a0" /><Relationship Type="http://schemas.openxmlformats.org/officeDocument/2006/relationships/slide" Target="/ppt/slides/slide16.xml" Id="R83ffbbe09c8a493d" /><Relationship Type="http://schemas.openxmlformats.org/officeDocument/2006/relationships/slide" Target="/ppt/slides/slide17.xml" Id="Rf7c60bd662ab4915" /><Relationship Type="http://schemas.openxmlformats.org/officeDocument/2006/relationships/slide" Target="/ppt/slides/slide18.xml" Id="R379a34b4613546cb" /><Relationship Type="http://schemas.openxmlformats.org/officeDocument/2006/relationships/slide" Target="/ppt/slides/slide19.xml" Id="R7517f52dda084060" /><Relationship Type="http://schemas.openxmlformats.org/officeDocument/2006/relationships/slide" Target="/ppt/slides/slide20.xml" Id="Rd8323feeb9594acd" /><Relationship Type="http://schemas.openxmlformats.org/officeDocument/2006/relationships/slide" Target="/ppt/slides/slide21.xml" Id="R1fa9489b77ab48ac" /><Relationship Type="http://schemas.openxmlformats.org/officeDocument/2006/relationships/slide" Target="/ppt/slides/slide22.xml" Id="Rb17f4dc0065644e0" /><Relationship Type="http://schemas.openxmlformats.org/officeDocument/2006/relationships/slide" Target="/ppt/slides/slide23.xml" Id="R5237b69a26bc4ad4" /><Relationship Type="http://schemas.openxmlformats.org/officeDocument/2006/relationships/slide" Target="/ppt/slides/slide24.xml" Id="R2051fe2aff794550" /><Relationship Type="http://schemas.openxmlformats.org/officeDocument/2006/relationships/slide" Target="/ppt/slides/slide25.xml" Id="R305de6ba46e14bb2" /><Relationship Type="http://schemas.openxmlformats.org/officeDocument/2006/relationships/slide" Target="/ppt/slides/slide26.xml" Id="R351b67270ca94814" /><Relationship Type="http://schemas.openxmlformats.org/officeDocument/2006/relationships/slide" Target="/ppt/slides/slide27.xml" Id="R1d22e321f17641b4" /><Relationship Type="http://schemas.openxmlformats.org/officeDocument/2006/relationships/slide" Target="/ppt/slides/slide28.xml" Id="R2b56c4f001134638" /><Relationship Type="http://schemas.openxmlformats.org/officeDocument/2006/relationships/slide" Target="/ppt/slides/slide29.xml" Id="Ra5e730bc948440ac" /><Relationship Type="http://schemas.openxmlformats.org/officeDocument/2006/relationships/slide" Target="/ppt/slides/slide30.xml" Id="Rcc403240657246a4" /><Relationship Type="http://schemas.openxmlformats.org/officeDocument/2006/relationships/slide" Target="/ppt/slides/slide31.xml" Id="Rbba40076087349f2" /><Relationship Type="http://schemas.openxmlformats.org/officeDocument/2006/relationships/slide" Target="/ppt/slides/slide32.xml" Id="R7bf76e3902bc4e00" /><Relationship Type="http://schemas.openxmlformats.org/officeDocument/2006/relationships/slide" Target="/ppt/slides/slide33.xml" Id="R97dee14886924765" /><Relationship Type="http://schemas.openxmlformats.org/officeDocument/2006/relationships/slide" Target="/ppt/slides/slide34.xml" Id="R0a6113face4249f5" /><Relationship Type="http://schemas.openxmlformats.org/officeDocument/2006/relationships/slide" Target="/ppt/slides/slide35.xml" Id="R6ddb5a95939548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664dce61fa4a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LXGW WenKai TC"/>
        <a:ea typeface=""/>
        <a:cs typeface=""/>
      </a:majorFont>
      <a:minorFont>
        <a:latin typeface="LXGW WenKai T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c4cc05cc1046f3" /><Relationship Type="http://schemas.openxmlformats.org/officeDocument/2006/relationships/notesMaster" Target="/ppt/notesMasters/notesMaster1.xml" Id="Rf7918fbba4e44b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e553ece1564f2c" /><Relationship Type="http://schemas.openxmlformats.org/officeDocument/2006/relationships/notesMaster" Target="/ppt/notesMasters/notesMaster1.xml" Id="R12d7ac2dadc84c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46528a0de84100" /><Relationship Type="http://schemas.openxmlformats.org/officeDocument/2006/relationships/notesMaster" Target="/ppt/notesMasters/notesMaster1.xml" Id="R2248e28dbaf343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8d962d267f46dc" /><Relationship Type="http://schemas.openxmlformats.org/officeDocument/2006/relationships/notesMaster" Target="/ppt/notesMasters/notesMaster1.xml" Id="Rfb71d417f5a749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e2405b71854b8e" /><Relationship Type="http://schemas.openxmlformats.org/officeDocument/2006/relationships/notesMaster" Target="/ppt/notesMasters/notesMaster1.xml" Id="R5e3ee2744dc645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7b804c226c4ae3" /><Relationship Type="http://schemas.openxmlformats.org/officeDocument/2006/relationships/notesMaster" Target="/ppt/notesMasters/notesMaster1.xml" Id="Rabe6f902d09e4f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e40ab072ca40b8" /><Relationship Type="http://schemas.openxmlformats.org/officeDocument/2006/relationships/notesMaster" Target="/ppt/notesMasters/notesMaster1.xml" Id="R2520c46aa8c047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9ffba63d5d43c8" /><Relationship Type="http://schemas.openxmlformats.org/officeDocument/2006/relationships/notesMaster" Target="/ppt/notesMasters/notesMaster1.xml" Id="R7600281ad38948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4a6402f1d74e42" /><Relationship Type="http://schemas.openxmlformats.org/officeDocument/2006/relationships/notesMaster" Target="/ppt/notesMasters/notesMaster1.xml" Id="R5d65f193d3f14e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5be78f7b2c484c" /><Relationship Type="http://schemas.openxmlformats.org/officeDocument/2006/relationships/notesMaster" Target="/ppt/notesMasters/notesMaster1.xml" Id="Re864730223344f2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8a97fae691d4d4e" /><Relationship Type="http://schemas.openxmlformats.org/officeDocument/2006/relationships/notesMaster" Target="/ppt/notesMasters/notesMaster1.xml" Id="R98a93779195e47b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0c09eb36d0e454a" /><Relationship Type="http://schemas.openxmlformats.org/officeDocument/2006/relationships/notesMaster" Target="/ppt/notesMasters/notesMaster1.xml" Id="Re643050d4803422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ac94fcd12574b0d" /><Relationship Type="http://schemas.openxmlformats.org/officeDocument/2006/relationships/notesMaster" Target="/ppt/notesMasters/notesMaster1.xml" Id="R9127be5c1e63459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be7c9db9f4e41b0" /><Relationship Type="http://schemas.openxmlformats.org/officeDocument/2006/relationships/notesMaster" Target="/ppt/notesMasters/notesMaster1.xml" Id="R2329ce8415834e8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afa71b53c024116" /><Relationship Type="http://schemas.openxmlformats.org/officeDocument/2006/relationships/notesMaster" Target="/ppt/notesMasters/notesMaster1.xml" Id="Rb4eda81ad60e43b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3977df56d8a4852" /><Relationship Type="http://schemas.openxmlformats.org/officeDocument/2006/relationships/notesMaster" Target="/ppt/notesMasters/notesMaster1.xml" Id="R0b3f495c4b0f4ce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01f12e5f28048ef" /><Relationship Type="http://schemas.openxmlformats.org/officeDocument/2006/relationships/notesMaster" Target="/ppt/notesMasters/notesMaster1.xml" Id="R52271cd145db4a4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c07868ab1344cd8" /><Relationship Type="http://schemas.openxmlformats.org/officeDocument/2006/relationships/notesMaster" Target="/ppt/notesMasters/notesMaster1.xml" Id="R092253736bd845a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b48b86306c64c28" /><Relationship Type="http://schemas.openxmlformats.org/officeDocument/2006/relationships/notesMaster" Target="/ppt/notesMasters/notesMaster1.xml" Id="R1329026954ab4ea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9fd159d1e824767" /><Relationship Type="http://schemas.openxmlformats.org/officeDocument/2006/relationships/notesMaster" Target="/ppt/notesMasters/notesMaster1.xml" Id="R17346427c77e454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6da0dfa8fe148d3" /><Relationship Type="http://schemas.openxmlformats.org/officeDocument/2006/relationships/notesMaster" Target="/ppt/notesMasters/notesMaster1.xml" Id="R3ce25f2c894f4ce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9e8d3ddb17e4b95" /><Relationship Type="http://schemas.openxmlformats.org/officeDocument/2006/relationships/notesMaster" Target="/ppt/notesMasters/notesMaster1.xml" Id="Rd9ce30c350bb4ff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af5148417b642a8" /><Relationship Type="http://schemas.openxmlformats.org/officeDocument/2006/relationships/notesMaster" Target="/ppt/notesMasters/notesMaster1.xml" Id="R2d4308bd10e7459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c398931ca1146f2" /><Relationship Type="http://schemas.openxmlformats.org/officeDocument/2006/relationships/notesMaster" Target="/ppt/notesMasters/notesMaster1.xml" Id="R48a76fb73e0245a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24f26f078f44662" /><Relationship Type="http://schemas.openxmlformats.org/officeDocument/2006/relationships/notesMaster" Target="/ppt/notesMasters/notesMaster1.xml" Id="R5bf7139fd8b64d4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a675a473ff748f3" /><Relationship Type="http://schemas.openxmlformats.org/officeDocument/2006/relationships/notesMaster" Target="/ppt/notesMasters/notesMaster1.xml" Id="R3a3d049df072415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d25857be71a4ae8" /><Relationship Type="http://schemas.openxmlformats.org/officeDocument/2006/relationships/notesMaster" Target="/ppt/notesMasters/notesMaster1.xml" Id="Ra4410fa3b2cf490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dd98be3643b438d" /><Relationship Type="http://schemas.openxmlformats.org/officeDocument/2006/relationships/notesMaster" Target="/ppt/notesMasters/notesMaster1.xml" Id="R10c44ef278e94d0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de9a4c4f06a4082" /><Relationship Type="http://schemas.openxmlformats.org/officeDocument/2006/relationships/notesMaster" Target="/ppt/notesMasters/notesMaster1.xml" Id="Rf1a8f036e3124bb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2a91b1adbd34439" /><Relationship Type="http://schemas.openxmlformats.org/officeDocument/2006/relationships/notesMaster" Target="/ppt/notesMasters/notesMaster1.xml" Id="R7d9b95b65d2140a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7305c66fb394b49" /><Relationship Type="http://schemas.openxmlformats.org/officeDocument/2006/relationships/notesMaster" Target="/ppt/notesMasters/notesMaster1.xml" Id="R589524ac578f4a9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6dedd3d8025486d" /><Relationship Type="http://schemas.openxmlformats.org/officeDocument/2006/relationships/notesMaster" Target="/ppt/notesMasters/notesMaster1.xml" Id="R86bb7f9799544ad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bbc364ba2f64caf" /><Relationship Type="http://schemas.openxmlformats.org/officeDocument/2006/relationships/notesMaster" Target="/ppt/notesMasters/notesMaster1.xml" Id="R84915134ae60463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1d403bdc0694a2e" /><Relationship Type="http://schemas.openxmlformats.org/officeDocument/2006/relationships/notesMaster" Target="/ppt/notesMasters/notesMaster1.xml" Id="R3d7165528d744a4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39913a063834639" /><Relationship Type="http://schemas.openxmlformats.org/officeDocument/2006/relationships/notesMaster" Target="/ppt/notesMasters/notesMaster1.xml" Id="R88258b1406ea4b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单元三《国家美术馆探秘》</a:t>
            </a:r>
          </a:p>
          <a:p xmlns:a="http://schemas.openxmlformats.org/drawingml/2006/main">
            <a:r>
              <a:t>课文、教参及四页漫画均来自教师附件。</a:t>
            </a:r>
          </a:p>
          <a:p xmlns:a="http://schemas.openxmlformats.org/drawingml/2006/main">
            <a:r>
              <a:t>第一课任务1—7，第二课任务8—10。数字与馆藏数量均按课文教学。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单元三《国家美术馆探秘》</a:t>
            </a:r>
          </a:p>
          <a:p xmlns:a="http://schemas.openxmlformats.org/drawingml/2006/main">
            <a:r>
              <a:t>课文、教参及四页漫画均来自教师附件。</a:t>
            </a:r>
          </a:p>
          <a:p xmlns:a="http://schemas.openxmlformats.org/drawingml/2006/main">
            <a:r>
              <a:t>核心目标：信息筛选、说明方法作用、语境解释、开放回应。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单元三《国家美术馆探秘》</a:t>
            </a:r>
          </a:p>
          <a:p xmlns:a="http://schemas.openxmlformats.org/drawingml/2006/main">
            <a:r>
              <a:t>课文、教参及四页漫画均来自教师附件。</a:t>
            </a:r>
          </a:p>
          <a:p xmlns:a="http://schemas.openxmlformats.org/drawingml/2006/main">
            <a:r>
              <a:t>课本第1段旁注原题；教参第1—2段。教师示范。</a:t>
            </a:r>
          </a:p>
          <a:p xmlns:a="http://schemas.openxmlformats.org/drawingml/2006/main">
            <a:r>
              <a:t>第1段的数字说明了国家美术馆的什么特点？</a:t>
            </a:r>
          </a:p>
          <a:p xmlns:a="http://schemas.openxmlformats.org/drawingml/2006/main">
            <a:r>
              <a:t>参考：这些数字具体说明国家美术馆面积很大。6万4000平方米说明实际面积，约9个足球场帮助读者想象它有多大。</a:t>
            </a:r>
          </a:p>
          <a:p xmlns:a="http://schemas.openxmlformats.org/drawingml/2006/main">
            <a:r>
              <a:t>解释：数字要和单位一起读，再连接特点。不能只回答“用了列数字”。“大约”表示近似，“之一”也不能删去。</a:t>
            </a:r>
          </a:p>
          <a:p xmlns:a="http://schemas.openxmlformats.org/drawingml/2006/main">
            <a:r>
              <a:t>课堂参考3点：面积大1；准确引用面积或比较1；说明具体、易想象1。各点独立，不作线上逐字评分。</a:t>
            </a:r>
          </a:p>
          <a:p xmlns:a="http://schemas.openxmlformats.org/drawingml/2006/main">
            <a:r>
              <a:t>常见误区：只说“非常美”“收藏丰富”；漏掉数字与面积之间的关系；把“之一”说成唯一最大。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单元三《国家美术馆探秘》</a:t>
            </a:r>
          </a:p>
          <a:p xmlns:a="http://schemas.openxmlformats.org/drawingml/2006/main">
            <a:r>
              <a:t>课文、教参及四页漫画均来自教师附件。</a:t>
            </a:r>
          </a:p>
          <a:p xmlns:a="http://schemas.openxmlformats.org/drawingml/2006/main">
            <a:r>
              <a:t>课本第1段旁注原题；教参第1—2段。教师示范。</a:t>
            </a:r>
          </a:p>
          <a:p xmlns:a="http://schemas.openxmlformats.org/drawingml/2006/main">
            <a:r>
              <a:t>第1段的数字说明了国家美术馆的什么特点？</a:t>
            </a:r>
          </a:p>
          <a:p xmlns:a="http://schemas.openxmlformats.org/drawingml/2006/main">
            <a:r>
              <a:t>参考：这些数字具体说明国家美术馆面积很大。6万4000平方米说明实际面积，约9个足球场帮助读者想象它有多大。</a:t>
            </a:r>
          </a:p>
          <a:p xmlns:a="http://schemas.openxmlformats.org/drawingml/2006/main">
            <a:r>
              <a:t>解释：数字要和单位一起读，再连接特点。不能只回答“用了列数字”。“大约”表示近似，“之一”也不能删去。</a:t>
            </a:r>
          </a:p>
          <a:p xmlns:a="http://schemas.openxmlformats.org/drawingml/2006/main">
            <a:r>
              <a:t>课堂参考3点：面积大1；准确引用面积或比较1；说明具体、易想象1。各点独立，不作线上逐字评分。</a:t>
            </a:r>
          </a:p>
          <a:p xmlns:a="http://schemas.openxmlformats.org/drawingml/2006/main">
            <a:r>
              <a:t>常见误区：只说“非常美”“收藏丰富”；漏掉数字与面积之间的关系；把“之一”说成唯一最大。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单元三《国家美术馆探秘》</a:t>
            </a:r>
          </a:p>
          <a:p xmlns:a="http://schemas.openxmlformats.org/drawingml/2006/main">
            <a:r>
              <a:t>课文、教参及四页漫画均来自教师附件。</a:t>
            </a:r>
          </a:p>
          <a:p xmlns:a="http://schemas.openxmlformats.org/drawingml/2006/main">
            <a:r>
              <a:t>课本第2段旁注原题；教参第1—2段。师生共构。</a:t>
            </a:r>
          </a:p>
          <a:p xmlns:a="http://schemas.openxmlformats.org/drawingml/2006/main">
            <a:r>
              <a:t>“秘密”为什么加引号？</a:t>
            </a:r>
          </a:p>
          <a:p xmlns:a="http://schemas.openxmlformats.org/drawingml/2006/main">
            <a:r>
              <a:t>参考：作者借用“秘密”来说明美术馆里鲜为人知、等待人们探索的有趣事情。它们可以公开，并非通常所说不能让人知道的秘密，所以加上引号。</a:t>
            </a:r>
          </a:p>
          <a:p xmlns:a="http://schemas.openxmlformats.org/drawingml/2006/main">
            <a:r>
              <a:t>解释：把普通词义和本篇语境比较：不熟知，不等于不能公开。</a:t>
            </a:r>
          </a:p>
          <a:p xmlns:a="http://schemas.openxmlformats.org/drawingml/2006/main">
            <a:r>
              <a:t>课堂参考2点：借用1；说明与普通“秘密”的不同1。</a:t>
            </a:r>
          </a:p>
          <a:p xmlns:a="http://schemas.openxmlformats.org/drawingml/2006/main">
            <a:r>
              <a:t>常见误区：只答“强调”或“引用”；说这些事不能让公众知道。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单元三《国家美术馆探秘》</a:t>
            </a:r>
          </a:p>
          <a:p xmlns:a="http://schemas.openxmlformats.org/drawingml/2006/main">
            <a:r>
              <a:t>课文、教参及四页漫画均来自教师附件。</a:t>
            </a:r>
          </a:p>
          <a:p xmlns:a="http://schemas.openxmlformats.org/drawingml/2006/main">
            <a:r>
              <a:t>课本第2段旁注原题；教参第1—2段。师生共构。</a:t>
            </a:r>
          </a:p>
          <a:p xmlns:a="http://schemas.openxmlformats.org/drawingml/2006/main">
            <a:r>
              <a:t>“秘密”为什么加引号？</a:t>
            </a:r>
          </a:p>
          <a:p xmlns:a="http://schemas.openxmlformats.org/drawingml/2006/main">
            <a:r>
              <a:t>参考：作者借用“秘密”来说明美术馆里鲜为人知、等待人们探索的有趣事情。它们可以公开，并非通常所说不能让人知道的秘密，所以加上引号。</a:t>
            </a:r>
          </a:p>
          <a:p xmlns:a="http://schemas.openxmlformats.org/drawingml/2006/main">
            <a:r>
              <a:t>解释：把普通词义和本篇语境比较：不熟知，不等于不能公开。</a:t>
            </a:r>
          </a:p>
          <a:p xmlns:a="http://schemas.openxmlformats.org/drawingml/2006/main">
            <a:r>
              <a:t>课堂参考2点：借用1；说明与普通“秘密”的不同1。</a:t>
            </a:r>
          </a:p>
          <a:p xmlns:a="http://schemas.openxmlformats.org/drawingml/2006/main">
            <a:r>
              <a:t>常见误区：只答“强调”或“引用”；说这些事不能让公众知道。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单元三《国家美术馆探秘》</a:t>
            </a:r>
          </a:p>
          <a:p xmlns:a="http://schemas.openxmlformats.org/drawingml/2006/main">
            <a:r>
              <a:t>课文、教参及四页漫画均来自教师附件。</a:t>
            </a:r>
          </a:p>
          <a:p xmlns:a="http://schemas.openxmlformats.org/drawingml/2006/main">
            <a:r>
              <a:t>教参问题改编互动。学生独立。</a:t>
            </a:r>
          </a:p>
          <a:p xmlns:a="http://schemas.openxmlformats.org/drawingml/2006/main">
            <a:r>
              <a:t>美术馆由哪两座历史建筑改建而成？它见证了哪些历史事件？</a:t>
            </a:r>
          </a:p>
          <a:p xmlns:a="http://schemas.openxmlformats.org/drawingml/2006/main">
            <a:r>
              <a:t>参考：国家美术馆由前最高法院和政府大厦合二为一、改建而成。政府大厦见证了日本投降、新加坡宣布自治等历史事件。</a:t>
            </a:r>
          </a:p>
          <a:p xmlns:a="http://schemas.openxmlformats.org/drawingml/2006/main">
            <a:r>
              <a:t>解释：先分清说明对象，再连例子。前最高法院与司法制度有关；政府大厦与文中列举的历史事件有关。</a:t>
            </a:r>
          </a:p>
          <a:p xmlns:a="http://schemas.openxmlformats.org/drawingml/2006/main">
            <a:r>
              <a:t>课堂参考4点：两座建筑各1；两个事件各1。</a:t>
            </a:r>
          </a:p>
          <a:p xmlns:a="http://schemas.openxmlformats.org/drawingml/2006/main">
            <a:r>
              <a:t>常见误区：把“自治”改成“独立”；混淆两座建筑的历史作用。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单元三《国家美术馆探秘》</a:t>
            </a:r>
          </a:p>
          <a:p xmlns:a="http://schemas.openxmlformats.org/drawingml/2006/main">
            <a:r>
              <a:t>课文、教参及四页漫画均来自教师附件。</a:t>
            </a:r>
          </a:p>
          <a:p xmlns:a="http://schemas.openxmlformats.org/drawingml/2006/main">
            <a:r>
              <a:t>教参问题改编互动。学生独立。</a:t>
            </a:r>
          </a:p>
          <a:p xmlns:a="http://schemas.openxmlformats.org/drawingml/2006/main">
            <a:r>
              <a:t>美术馆由哪两座历史建筑改建而成？它见证了哪些历史事件？</a:t>
            </a:r>
          </a:p>
          <a:p xmlns:a="http://schemas.openxmlformats.org/drawingml/2006/main">
            <a:r>
              <a:t>参考：国家美术馆由前最高法院和政府大厦合二为一、改建而成。政府大厦见证了日本投降、新加坡宣布自治等历史事件。</a:t>
            </a:r>
          </a:p>
          <a:p xmlns:a="http://schemas.openxmlformats.org/drawingml/2006/main">
            <a:r>
              <a:t>解释：先分清说明对象，再连例子。前最高法院与司法制度有关；政府大厦与文中列举的历史事件有关。</a:t>
            </a:r>
          </a:p>
          <a:p xmlns:a="http://schemas.openxmlformats.org/drawingml/2006/main">
            <a:r>
              <a:t>课堂参考4点：两座建筑各1；两个事件各1。</a:t>
            </a:r>
          </a:p>
          <a:p xmlns:a="http://schemas.openxmlformats.org/drawingml/2006/main">
            <a:r>
              <a:t>常见误区：把“自治”改成“独立”；混淆两座建筑的历史作用。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单元三《国家美术馆探秘》</a:t>
            </a:r>
          </a:p>
          <a:p xmlns:a="http://schemas.openxmlformats.org/drawingml/2006/main">
            <a:r>
              <a:t>课文、教参及四页漫画均来自教师附件。</a:t>
            </a:r>
          </a:p>
          <a:p xmlns:a="http://schemas.openxmlformats.org/drawingml/2006/main">
            <a:r>
              <a:t>课本第4段旁注原题；教参第3—7段。师生共构。</a:t>
            </a:r>
          </a:p>
          <a:p xmlns:a="http://schemas.openxmlformats.org/drawingml/2006/main">
            <a:r>
              <a:t>这里举的例子是为了说明什么？</a:t>
            </a:r>
          </a:p>
          <a:p xmlns:a="http://schemas.openxmlformats.org/drawingml/2006/main">
            <a:r>
              <a:t>国家美术馆的地下通道有什么用途？</a:t>
            </a:r>
          </a:p>
          <a:p xmlns:a="http://schemas.openxmlformats.org/drawingml/2006/main">
            <a:r>
              <a:t>参考：这些例子说明美术馆还保留着两座建筑的部分原貌。地下通道当时让犯人不从大门进入，而从特别通道直接进入法庭被告栏。</a:t>
            </a:r>
          </a:p>
          <a:p xmlns:a="http://schemas.openxmlformats.org/drawingml/2006/main">
            <a:r>
              <a:t>解释：概括句后面列举座位、被告栏、天花板，让“部分原貌”变得具体。用途是文中明写的事实；通道是哪年建的，课文没有说明。</a:t>
            </a:r>
          </a:p>
          <a:p xmlns:a="http://schemas.openxmlformats.org/drawingml/2006/main">
            <a:r>
              <a:t>课堂参考3点：部分原貌1；犯人使用1；直接到被告栏1。</a:t>
            </a:r>
          </a:p>
          <a:p xmlns:a="http://schemas.openxmlformats.org/drawingml/2006/main">
            <a:r>
              <a:t>常见误区：把部分说成全部；把通道用途说成方便游客；断定具体建造年份。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单元三《国家美术馆探秘》</a:t>
            </a:r>
          </a:p>
          <a:p xmlns:a="http://schemas.openxmlformats.org/drawingml/2006/main">
            <a:r>
              <a:t>课文、教参及四页漫画均来自教师附件。</a:t>
            </a:r>
          </a:p>
          <a:p xmlns:a="http://schemas.openxmlformats.org/drawingml/2006/main">
            <a:r>
              <a:t>课本第4段旁注原题；教参第3—7段。师生共构。</a:t>
            </a:r>
          </a:p>
          <a:p xmlns:a="http://schemas.openxmlformats.org/drawingml/2006/main">
            <a:r>
              <a:t>这里举的例子是为了说明什么？</a:t>
            </a:r>
          </a:p>
          <a:p xmlns:a="http://schemas.openxmlformats.org/drawingml/2006/main">
            <a:r>
              <a:t>国家美术馆的地下通道有什么用途？</a:t>
            </a:r>
          </a:p>
          <a:p xmlns:a="http://schemas.openxmlformats.org/drawingml/2006/main">
            <a:r>
              <a:t>参考：这些例子说明美术馆还保留着两座建筑的部分原貌。地下通道当时让犯人不从大门进入，而从特别通道直接进入法庭被告栏。</a:t>
            </a:r>
          </a:p>
          <a:p xmlns:a="http://schemas.openxmlformats.org/drawingml/2006/main">
            <a:r>
              <a:t>解释：概括句后面列举座位、被告栏、天花板，让“部分原貌”变得具体。用途是文中明写的事实；通道是哪年建的，课文没有说明。</a:t>
            </a:r>
          </a:p>
          <a:p xmlns:a="http://schemas.openxmlformats.org/drawingml/2006/main">
            <a:r>
              <a:t>课堂参考3点：部分原貌1；犯人使用1；直接到被告栏1。</a:t>
            </a:r>
          </a:p>
          <a:p xmlns:a="http://schemas.openxmlformats.org/drawingml/2006/main">
            <a:r>
              <a:t>常见误区：把部分说成全部；把通道用途说成方便游客；断定具体建造年份。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单元三《国家美术馆探秘》</a:t>
            </a:r>
          </a:p>
          <a:p xmlns:a="http://schemas.openxmlformats.org/drawingml/2006/main">
            <a:r>
              <a:t>课文、教参及四页漫画均来自教师附件。</a:t>
            </a:r>
          </a:p>
          <a:p xmlns:a="http://schemas.openxmlformats.org/drawingml/2006/main">
            <a:r>
              <a:t>课本第4段旁注原题；教参第3—7段。师生共构。</a:t>
            </a:r>
          </a:p>
          <a:p xmlns:a="http://schemas.openxmlformats.org/drawingml/2006/main">
            <a:r>
              <a:t>这里举的例子是为了说明什么？</a:t>
            </a:r>
          </a:p>
          <a:p xmlns:a="http://schemas.openxmlformats.org/drawingml/2006/main">
            <a:r>
              <a:t>国家美术馆的地下通道有什么用途？</a:t>
            </a:r>
          </a:p>
          <a:p xmlns:a="http://schemas.openxmlformats.org/drawingml/2006/main">
            <a:r>
              <a:t>参考：这些例子说明美术馆还保留着两座建筑的部分原貌。地下通道当时让犯人不从大门进入，而从特别通道直接进入法庭被告栏。</a:t>
            </a:r>
          </a:p>
          <a:p xmlns:a="http://schemas.openxmlformats.org/drawingml/2006/main">
            <a:r>
              <a:t>解释：概括句后面列举座位、被告栏、天花板，让“部分原貌”变得具体。用途是文中明写的事实；通道是哪年建的，课文没有说明。</a:t>
            </a:r>
          </a:p>
          <a:p xmlns:a="http://schemas.openxmlformats.org/drawingml/2006/main">
            <a:r>
              <a:t>课堂参考3点：部分原貌1；犯人使用1；直接到被告栏1。</a:t>
            </a:r>
          </a:p>
          <a:p xmlns:a="http://schemas.openxmlformats.org/drawingml/2006/main">
            <a:r>
              <a:t>常见误区：把部分说成全部；把通道用途说成方便游客；断定具体建造年份。</a:t>
            </a:r>
          </a:p>
          <a:p xmlns:a="http://schemas.openxmlformats.org/drawingml/2006/main">
            <a:r>
              <a:t>原漫画路线示意。通道所属建筑可推测，具体建造年份文中未写。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单元三《国家美术馆探秘》</a:t>
            </a:r>
          </a:p>
          <a:p xmlns:a="http://schemas.openxmlformats.org/drawingml/2006/main">
            <a:r>
              <a:t>课文、教参及四页漫画均来自教师附件。</a:t>
            </a:r>
          </a:p>
          <a:p xmlns:a="http://schemas.openxmlformats.org/drawingml/2006/main">
            <a:r>
              <a:t>教参问题改编互动。学生独立。</a:t>
            </a:r>
          </a:p>
          <a:p xmlns:a="http://schemas.openxmlformats.org/drawingml/2006/main">
            <a:r>
              <a:t>悬空桥两端的大门有什么“秘密”？</a:t>
            </a:r>
          </a:p>
          <a:p xmlns:a="http://schemas.openxmlformats.org/drawingml/2006/main">
            <a:r>
              <a:t>为什么用“古色古香”来形容这些大门？</a:t>
            </a:r>
          </a:p>
          <a:p xmlns:a="http://schemas.openxmlformats.org/drawingml/2006/main">
            <a:r>
              <a:t>参考：这些大门原本是窗户，经过设计师的巧思妙想才变成门。“古色古香”突出它们古朴、有旧时韵味的样式。</a:t>
            </a:r>
          </a:p>
          <a:p xmlns:a="http://schemas.openxmlformats.org/drawingml/2006/main">
            <a:r>
              <a:t>解释：“原本……变成……”说明改建的巧思。“古色古香”描述风格，不能按字面解释为香味。</a:t>
            </a:r>
          </a:p>
          <a:p xmlns:a="http://schemas.openxmlformats.org/drawingml/2006/main">
            <a:r>
              <a:t>课堂参考2点：窗变门1；古朴旧时韵味1。</a:t>
            </a:r>
          </a:p>
          <a:p xmlns:a="http://schemas.openxmlformats.org/drawingml/2006/main">
            <a:r>
              <a:t>常见误区：说门变成窗；说门发出香气；把漫画中的材质细节当作课文事实。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单元三《国家美术馆探秘》</a:t>
            </a:r>
          </a:p>
          <a:p xmlns:a="http://schemas.openxmlformats.org/drawingml/2006/main">
            <a:r>
              <a:t>课文、教参及四页漫画均来自教师附件。</a:t>
            </a:r>
          </a:p>
          <a:p xmlns:a="http://schemas.openxmlformats.org/drawingml/2006/main">
            <a:r>
              <a:t>教参问题改编互动。学生独立。</a:t>
            </a:r>
          </a:p>
          <a:p xmlns:a="http://schemas.openxmlformats.org/drawingml/2006/main">
            <a:r>
              <a:t>悬空桥两端的大门有什么“秘密”？</a:t>
            </a:r>
          </a:p>
          <a:p xmlns:a="http://schemas.openxmlformats.org/drawingml/2006/main">
            <a:r>
              <a:t>为什么用“古色古香”来形容这些大门？</a:t>
            </a:r>
          </a:p>
          <a:p xmlns:a="http://schemas.openxmlformats.org/drawingml/2006/main">
            <a:r>
              <a:t>参考：这些大门原本是窗户，经过设计师的巧思妙想才变成门。“古色古香”突出它们古朴、有旧时韵味的样式。</a:t>
            </a:r>
          </a:p>
          <a:p xmlns:a="http://schemas.openxmlformats.org/drawingml/2006/main">
            <a:r>
              <a:t>解释：“原本……变成……”说明改建的巧思。“古色古香”描述风格，不能按字面解释为香味。</a:t>
            </a:r>
          </a:p>
          <a:p xmlns:a="http://schemas.openxmlformats.org/drawingml/2006/main">
            <a:r>
              <a:t>课堂参考2点：窗变门1；古朴旧时韵味1。</a:t>
            </a:r>
          </a:p>
          <a:p xmlns:a="http://schemas.openxmlformats.org/drawingml/2006/main">
            <a:r>
              <a:t>常见误区：说门变成窗；说门发出香气；把漫画中的材质细节当作课文事实。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单元三《国家美术馆探秘》</a:t>
            </a:r>
          </a:p>
          <a:p xmlns:a="http://schemas.openxmlformats.org/drawingml/2006/main">
            <a:r>
              <a:t>课文、教参及四页漫画均来自教师附件。</a:t>
            </a:r>
          </a:p>
          <a:p xmlns:a="http://schemas.openxmlformats.org/drawingml/2006/main">
            <a:r>
              <a:t>教参问题改编互动。学生独立。</a:t>
            </a:r>
          </a:p>
          <a:p xmlns:a="http://schemas.openxmlformats.org/drawingml/2006/main">
            <a:r>
              <a:t>前最高法院的圆顶有什么“秘密”？</a:t>
            </a:r>
          </a:p>
          <a:p xmlns:a="http://schemas.openxmlformats.org/drawingml/2006/main">
            <a:r>
              <a:t>美术馆圆顶的颜色有了什么变化？为什么会出现这样的变化？</a:t>
            </a:r>
          </a:p>
          <a:p xmlns:a="http://schemas.openxmlformats.org/drawingml/2006/main">
            <a:r>
              <a:t>参考：圆顶原本不是铜绿色，经过长年的氧化才变成现在的铜绿色。课文没有说明它原本的具体颜色。</a:t>
            </a:r>
          </a:p>
          <a:p xmlns:a="http://schemas.openxmlformats.org/drawingml/2006/main">
            <a:r>
              <a:t>解释：变化和原因都在同一句里。原漫画的颜色变化属于示意，答题不能据此补写课文没交代的原色。</a:t>
            </a:r>
          </a:p>
          <a:p xmlns:a="http://schemas.openxmlformats.org/drawingml/2006/main">
            <a:r>
              <a:t>课堂参考2点：变化1；原因1。原色边界不另计分。</a:t>
            </a:r>
          </a:p>
          <a:p xmlns:a="http://schemas.openxmlformats.org/drawingml/2006/main">
            <a:r>
              <a:t>常见误区：看图猜原本颜色；把改建或涂漆当作变色原因。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单元三《国家美术馆探秘》</a:t>
            </a:r>
          </a:p>
          <a:p xmlns:a="http://schemas.openxmlformats.org/drawingml/2006/main">
            <a:r>
              <a:t>课文、教参及四页漫画均来自教师附件。</a:t>
            </a:r>
          </a:p>
          <a:p xmlns:a="http://schemas.openxmlformats.org/drawingml/2006/main">
            <a:r>
              <a:t>教参问题改编互动。学生独立。</a:t>
            </a:r>
          </a:p>
          <a:p xmlns:a="http://schemas.openxmlformats.org/drawingml/2006/main">
            <a:r>
              <a:t>前最高法院的圆顶有什么“秘密”？</a:t>
            </a:r>
          </a:p>
          <a:p xmlns:a="http://schemas.openxmlformats.org/drawingml/2006/main">
            <a:r>
              <a:t>美术馆圆顶的颜色有了什么变化？为什么会出现这样的变化？</a:t>
            </a:r>
          </a:p>
          <a:p xmlns:a="http://schemas.openxmlformats.org/drawingml/2006/main">
            <a:r>
              <a:t>参考：圆顶原本不是铜绿色，经过长年的氧化才变成现在的铜绿色。课文没有说明它原本的具体颜色。</a:t>
            </a:r>
          </a:p>
          <a:p xmlns:a="http://schemas.openxmlformats.org/drawingml/2006/main">
            <a:r>
              <a:t>解释：变化和原因都在同一句里。原漫画的颜色变化属于示意，答题不能据此补写课文没交代的原色。</a:t>
            </a:r>
          </a:p>
          <a:p xmlns:a="http://schemas.openxmlformats.org/drawingml/2006/main">
            <a:r>
              <a:t>课堂参考2点：变化1；原因1。原色边界不另计分。</a:t>
            </a:r>
          </a:p>
          <a:p xmlns:a="http://schemas.openxmlformats.org/drawingml/2006/main">
            <a:r>
              <a:t>常见误区：看图猜原本颜色；把改建或涂漆当作变色原因。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单元三《国家美术馆探秘》</a:t>
            </a:r>
          </a:p>
          <a:p xmlns:a="http://schemas.openxmlformats.org/drawingml/2006/main">
            <a:r>
              <a:t>课文、教参及四页漫画均来自教师附件。</a:t>
            </a:r>
          </a:p>
          <a:p xmlns:a="http://schemas.openxmlformats.org/drawingml/2006/main">
            <a:r>
              <a:t>课本第7段旁注原题；教参第3—7段。学生独立。</a:t>
            </a:r>
          </a:p>
          <a:p xmlns:a="http://schemas.openxmlformats.org/drawingml/2006/main">
            <a:r>
              <a:t>为什么把这幅画称为“钱包里的名作”？</a:t>
            </a:r>
          </a:p>
          <a:p xmlns:a="http://schemas.openxmlformats.org/drawingml/2006/main">
            <a:r>
              <a:t>为什么说对许多人来说，这幅画“既熟悉又陌生”？</a:t>
            </a:r>
          </a:p>
          <a:p xmlns:a="http://schemas.openxmlformats.org/drawingml/2006/main">
            <a:r>
              <a:t>参考：这幅名画《晒咸鱼》的图案印在50新元钞票背面，而钞票常放在钱包里，所以被称为“钱包里的名作”。人们熟悉钞票上的图案，却往往不了解画作本身，因此既熟悉又陌生。</a:t>
            </a:r>
          </a:p>
          <a:p xmlns:a="http://schemas.openxmlformats.org/drawingml/2006/main">
            <a:r>
              <a:t>解释：Direct Info：画印在50新元钞票背面。必要联系：钞票常放在钱包里。第二问要分别解释看过图案和了解画作，不能只答其中一面。</a:t>
            </a:r>
          </a:p>
          <a:p xmlns:a="http://schemas.openxmlformats.org/drawingml/2006/main">
            <a:r>
              <a:t>第一问课堂参考2点：50新元钞票背面有该画1；连接钱包中的钞票1。第二问两面各1。书面答案教师按意义覆核。</a:t>
            </a:r>
          </a:p>
          <a:p xmlns:a="http://schemas.openxmlformats.org/drawingml/2006/main">
            <a:r>
              <a:t>常见误区：说原画放进了钱包；把钞票正面写成背面；只解释熟悉或只解释陌生。</a:t>
            </a:r>
          </a:p>
          <a:p xmlns:a="http://schemas.openxmlformats.org/drawingml/2006/main">
            <a:r>
              <a:t>先独立回答，再揭示下一页。第一课文字作答1。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单元三《国家美术馆探秘》</a:t>
            </a:r>
          </a:p>
          <a:p xmlns:a="http://schemas.openxmlformats.org/drawingml/2006/main">
            <a:r>
              <a:t>课文、教参及四页漫画均来自教师附件。</a:t>
            </a:r>
          </a:p>
          <a:p xmlns:a="http://schemas.openxmlformats.org/drawingml/2006/main">
            <a:r>
              <a:t>课本第7段旁注原题；教参第3—7段。学生独立。</a:t>
            </a:r>
          </a:p>
          <a:p xmlns:a="http://schemas.openxmlformats.org/drawingml/2006/main">
            <a:r>
              <a:t>为什么把这幅画称为“钱包里的名作”？</a:t>
            </a:r>
          </a:p>
          <a:p xmlns:a="http://schemas.openxmlformats.org/drawingml/2006/main">
            <a:r>
              <a:t>为什么说对许多人来说，这幅画“既熟悉又陌生”？</a:t>
            </a:r>
          </a:p>
          <a:p xmlns:a="http://schemas.openxmlformats.org/drawingml/2006/main">
            <a:r>
              <a:t>参考：这幅名画《晒咸鱼》的图案印在50新元钞票背面，而钞票常放在钱包里，所以被称为“钱包里的名作”。人们熟悉钞票上的图案，却往往不了解画作本身，因此既熟悉又陌生。</a:t>
            </a:r>
          </a:p>
          <a:p xmlns:a="http://schemas.openxmlformats.org/drawingml/2006/main">
            <a:r>
              <a:t>解释：Direct Info：画印在50新元钞票背面。必要联系：钞票常放在钱包里。第二问要分别解释看过图案和了解画作，不能只答其中一面。</a:t>
            </a:r>
          </a:p>
          <a:p xmlns:a="http://schemas.openxmlformats.org/drawingml/2006/main">
            <a:r>
              <a:t>第一问课堂参考2点：50新元钞票背面有该画1；连接钱包中的钞票1。第二问两面各1。书面答案教师按意义覆核。</a:t>
            </a:r>
          </a:p>
          <a:p xmlns:a="http://schemas.openxmlformats.org/drawingml/2006/main">
            <a:r>
              <a:t>常见误区：说原画放进了钱包；把钞票正面写成背面；只解释熟悉或只解释陌生。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单元三《国家美术馆探秘》</a:t>
            </a:r>
          </a:p>
          <a:p xmlns:a="http://schemas.openxmlformats.org/drawingml/2006/main">
            <a:r>
              <a:t>课文、教参及四页漫画均来自教师附件。</a:t>
            </a:r>
          </a:p>
          <a:p xmlns:a="http://schemas.openxmlformats.org/drawingml/2006/main">
            <a:r>
              <a:t>课本第7段旁注原题；教参第3—7段。学生独立。</a:t>
            </a:r>
          </a:p>
          <a:p xmlns:a="http://schemas.openxmlformats.org/drawingml/2006/main">
            <a:r>
              <a:t>为什么把这幅画称为“钱包里的名作”？</a:t>
            </a:r>
          </a:p>
          <a:p xmlns:a="http://schemas.openxmlformats.org/drawingml/2006/main">
            <a:r>
              <a:t>为什么说对许多人来说，这幅画“既熟悉又陌生”？</a:t>
            </a:r>
          </a:p>
          <a:p xmlns:a="http://schemas.openxmlformats.org/drawingml/2006/main">
            <a:r>
              <a:t>参考：这幅名画《晒咸鱼》的图案印在50新元钞票背面，而钞票常放在钱包里，所以被称为“钱包里的名作”。人们熟悉钞票上的图案，却往往不了解画作本身，因此既熟悉又陌生。</a:t>
            </a:r>
          </a:p>
          <a:p xmlns:a="http://schemas.openxmlformats.org/drawingml/2006/main">
            <a:r>
              <a:t>解释：Direct Info：画印在50新元钞票背面。必要联系：钞票常放在钱包里。第二问要分别解释看过图案和了解画作，不能只答其中一面。</a:t>
            </a:r>
          </a:p>
          <a:p xmlns:a="http://schemas.openxmlformats.org/drawingml/2006/main">
            <a:r>
              <a:t>第一问课堂参考2点：50新元钞票背面有该画1；连接钱包中的钞票1。第二问两面各1。书面答案教师按意义覆核。</a:t>
            </a:r>
          </a:p>
          <a:p xmlns:a="http://schemas.openxmlformats.org/drawingml/2006/main">
            <a:r>
              <a:t>常见误区：说原画放进了钱包；把钞票正面写成背面；只解释熟悉或只解释陌生。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单元三《国家美术馆探秘》</a:t>
            </a:r>
          </a:p>
          <a:p xmlns:a="http://schemas.openxmlformats.org/drawingml/2006/main">
            <a:r>
              <a:t>课文、教参及四页漫画均来自教师附件。</a:t>
            </a:r>
          </a:p>
          <a:p xmlns:a="http://schemas.openxmlformats.org/drawingml/2006/main">
            <a:r>
              <a:t>课本第7段旁注原题；教参第3—7段。学生独立。</a:t>
            </a:r>
          </a:p>
          <a:p xmlns:a="http://schemas.openxmlformats.org/drawingml/2006/main">
            <a:r>
              <a:t>为什么把这幅画称为“钱包里的名作”？</a:t>
            </a:r>
          </a:p>
          <a:p xmlns:a="http://schemas.openxmlformats.org/drawingml/2006/main">
            <a:r>
              <a:t>为什么说对许多人来说，这幅画“既熟悉又陌生”？</a:t>
            </a:r>
          </a:p>
          <a:p xmlns:a="http://schemas.openxmlformats.org/drawingml/2006/main">
            <a:r>
              <a:t>参考：这幅名画《晒咸鱼》的图案印在50新元钞票背面，而钞票常放在钱包里，所以被称为“钱包里的名作”。人们熟悉钞票上的图案，却往往不了解画作本身，因此既熟悉又陌生。</a:t>
            </a:r>
          </a:p>
          <a:p xmlns:a="http://schemas.openxmlformats.org/drawingml/2006/main">
            <a:r>
              <a:t>解释：Direct Info：画印在50新元钞票背面。必要联系：钞票常放在钱包里。第二问要分别解释看过图案和了解画作，不能只答其中一面。</a:t>
            </a:r>
          </a:p>
          <a:p xmlns:a="http://schemas.openxmlformats.org/drawingml/2006/main">
            <a:r>
              <a:t>第一问课堂参考2点：50新元钞票背面有该画1；连接钱包中的钞票1。第二问两面各1。书面答案教师按意义覆核。</a:t>
            </a:r>
          </a:p>
          <a:p xmlns:a="http://schemas.openxmlformats.org/drawingml/2006/main">
            <a:r>
              <a:t>常见误区：说原画放进了钱包；把钞票正面写成背面；只解释熟悉或只解释陌生。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单元三《国家美术馆探秘》</a:t>
            </a:r>
          </a:p>
          <a:p xmlns:a="http://schemas.openxmlformats.org/drawingml/2006/main">
            <a:r>
              <a:t>课文、教参及四页漫画均来自教师附件。</a:t>
            </a:r>
          </a:p>
          <a:p xmlns:a="http://schemas.openxmlformats.org/drawingml/2006/main">
            <a:r>
              <a:t>第一课最后5分钟订正，收藏需要的词语。无需新出口题。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单元三《国家美术馆探秘》</a:t>
            </a:r>
          </a:p>
          <a:p xmlns:a="http://schemas.openxmlformats.org/drawingml/2006/main">
            <a:r>
              <a:t>课文、教参及四页漫画均来自教师附件。</a:t>
            </a:r>
          </a:p>
          <a:p xmlns:a="http://schemas.openxmlformats.org/drawingml/2006/main">
            <a:r>
              <a:t>课本第8段旁注原题；教参开放题。学生独立。</a:t>
            </a:r>
          </a:p>
          <a:p xmlns:a="http://schemas.openxmlformats.org/drawingml/2006/main">
            <a:r>
              <a:t>作者在结尾呼吁读者做什么？</a:t>
            </a:r>
          </a:p>
          <a:p xmlns:a="http://schemas.openxmlformats.org/drawingml/2006/main">
            <a:r>
              <a:t>你也想亲自去美术馆探秘吗？为什么？</a:t>
            </a:r>
          </a:p>
          <a:p xmlns:a="http://schemas.openxmlformats.org/drawingml/2006/main">
            <a:r>
              <a:t>参考：示例：我想亲自去探秘，因为我想知道旧建筑怎样与艺术展示结合。课文说悬空桥两端的大门原本是窗户，我想近距离观察这种改建，看看设计师怎样保留古朴风格。因此，亲自参观能帮助我把课文读到的内容看得更具体。</a:t>
            </a:r>
          </a:p>
          <a:p xmlns:a="http://schemas.openxmlformats.org/drawingml/2006/main">
            <a:r>
              <a:t>解释：开放题看立场、理由、具体例子和它们之间的联系。示例不是唯一答案，系统只保存与显示自检，不自动判定观点正确。</a:t>
            </a:r>
          </a:p>
          <a:p xmlns:a="http://schemas.openxmlformats.org/drawingml/2006/main">
            <a:r>
              <a:t>课堂参考4点：立场1；理由1；例子1；回扣关系1。四点独立给分，不规定唯一立场；由教师覆核。</a:t>
            </a:r>
          </a:p>
          <a:p xmlns:a="http://schemas.openxmlformats.org/drawingml/2006/main">
            <a:r>
              <a:t>常见误区：只写“想，因为很好玩”；只抄景点信息，没有解释为何影响自己的选择。</a:t>
            </a:r>
          </a:p>
          <a:p xmlns:a="http://schemas.openxmlformats.org/drawingml/2006/main">
            <a:r>
              <a:t>第二课从此开始。第二课文字作答1。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单元三《国家美术馆探秘》</a:t>
            </a:r>
          </a:p>
          <a:p xmlns:a="http://schemas.openxmlformats.org/drawingml/2006/main">
            <a:r>
              <a:t>课文、教参及四页漫画均来自教师附件。</a:t>
            </a:r>
          </a:p>
          <a:p xmlns:a="http://schemas.openxmlformats.org/drawingml/2006/main">
            <a:r>
              <a:t>课本第8段旁注原题；教参开放题。学生独立。</a:t>
            </a:r>
          </a:p>
          <a:p xmlns:a="http://schemas.openxmlformats.org/drawingml/2006/main">
            <a:r>
              <a:t>作者在结尾呼吁读者做什么？</a:t>
            </a:r>
          </a:p>
          <a:p xmlns:a="http://schemas.openxmlformats.org/drawingml/2006/main">
            <a:r>
              <a:t>你也想亲自去美术馆探秘吗？为什么？</a:t>
            </a:r>
          </a:p>
          <a:p xmlns:a="http://schemas.openxmlformats.org/drawingml/2006/main">
            <a:r>
              <a:t>参考：示例：我想亲自去探秘，因为我想知道旧建筑怎样与艺术展示结合。课文说悬空桥两端的大门原本是窗户，我想近距离观察这种改建，看看设计师怎样保留古朴风格。因此，亲自参观能帮助我把课文读到的内容看得更具体。</a:t>
            </a:r>
          </a:p>
          <a:p xmlns:a="http://schemas.openxmlformats.org/drawingml/2006/main">
            <a:r>
              <a:t>解释：开放题看立场、理由、具体例子和它们之间的联系。示例不是唯一答案，系统只保存与显示自检，不自动判定观点正确。</a:t>
            </a:r>
          </a:p>
          <a:p xmlns:a="http://schemas.openxmlformats.org/drawingml/2006/main">
            <a:r>
              <a:t>课堂参考4点：立场1；理由1；例子1；回扣关系1。四点独立给分，不规定唯一立场；由教师覆核。</a:t>
            </a:r>
          </a:p>
          <a:p xmlns:a="http://schemas.openxmlformats.org/drawingml/2006/main">
            <a:r>
              <a:t>常见误区：只写“想，因为很好玩”；只抄景点信息，没有解释为何影响自己的选择。</a:t>
            </a:r>
          </a:p>
          <a:p xmlns:a="http://schemas.openxmlformats.org/drawingml/2006/main">
            <a:r>
              <a:t>允许不同立场，教师按意义覆核。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单元三《国家美术馆探秘》</a:t>
            </a:r>
          </a:p>
          <a:p xmlns:a="http://schemas.openxmlformats.org/drawingml/2006/main">
            <a:r>
              <a:t>课文、教参及四页漫画均来自教师附件。</a:t>
            </a:r>
          </a:p>
          <a:p xmlns:a="http://schemas.openxmlformats.org/drawingml/2006/main">
            <a:r>
              <a:t>课本第8段旁注原题；教参开放题。学生独立。</a:t>
            </a:r>
          </a:p>
          <a:p xmlns:a="http://schemas.openxmlformats.org/drawingml/2006/main">
            <a:r>
              <a:t>作者在结尾呼吁读者做什么？</a:t>
            </a:r>
          </a:p>
          <a:p xmlns:a="http://schemas.openxmlformats.org/drawingml/2006/main">
            <a:r>
              <a:t>你也想亲自去美术馆探秘吗？为什么？</a:t>
            </a:r>
          </a:p>
          <a:p xmlns:a="http://schemas.openxmlformats.org/drawingml/2006/main">
            <a:r>
              <a:t>参考：示例：我想亲自去探秘，因为我想知道旧建筑怎样与艺术展示结合。课文说悬空桥两端的大门原本是窗户，我想近距离观察这种改建，看看设计师怎样保留古朴风格。因此，亲自参观能帮助我把课文读到的内容看得更具体。</a:t>
            </a:r>
          </a:p>
          <a:p xmlns:a="http://schemas.openxmlformats.org/drawingml/2006/main">
            <a:r>
              <a:t>解释：开放题看立场、理由、具体例子和它们之间的联系。示例不是唯一答案，系统只保存与显示自检，不自动判定观点正确。</a:t>
            </a:r>
          </a:p>
          <a:p xmlns:a="http://schemas.openxmlformats.org/drawingml/2006/main">
            <a:r>
              <a:t>课堂参考4点：立场1；理由1；例子1；回扣关系1。四点独立给分，不规定唯一立场；由教师覆核。</a:t>
            </a:r>
          </a:p>
          <a:p xmlns:a="http://schemas.openxmlformats.org/drawingml/2006/main">
            <a:r>
              <a:t>常见误区：只写“想，因为很好玩”；只抄景点信息，没有解释为何影响自己的选择。</a:t>
            </a:r>
          </a:p>
          <a:p xmlns:a="http://schemas.openxmlformats.org/drawingml/2006/main">
            <a:r>
              <a:t>学生先答后显示。这不是唯一立场。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单元三《国家美术馆探秘》</a:t>
            </a:r>
          </a:p>
          <a:p xmlns:a="http://schemas.openxmlformats.org/drawingml/2006/main">
            <a:r>
              <a:t>课文、教参及四页漫画均来自教师附件。</a:t>
            </a:r>
          </a:p>
          <a:p xmlns:a="http://schemas.openxmlformats.org/drawingml/2006/main">
            <a:r>
              <a:t>课本第8段旁注原题、巩固练习二原题；保留建筑三行、画作一行。师生共构。</a:t>
            </a:r>
          </a:p>
          <a:p xmlns:a="http://schemas.openxmlformats.org/drawingml/2006/main">
            <a:r>
              <a:t>国家美术馆藏了哪些秘密？</a:t>
            </a:r>
          </a:p>
          <a:p xmlns:a="http://schemas.openxmlformats.org/drawingml/2006/main">
            <a:r>
              <a:t>阅读课文，了解课文内容，通过数字和例子理解事物的特点。</a:t>
            </a:r>
          </a:p>
          <a:p xmlns:a="http://schemas.openxmlformats.org/drawingml/2006/main">
            <a:r>
              <a:t>参考：五个“秘密”：两座历史建筑合建的来历；地下通道的用途；窗户变成门；圆顶因氧化而变色；钞票上的《晒咸鱼》。</a:t>
            </a:r>
          </a:p>
          <a:p xmlns:a="http://schemas.openxmlformats.org/drawingml/2006/main">
            <a:r>
              <a:t>建筑：面积很大——6万4000平方米、约9个足球场——列数字（结合比较）；历史意义重要——日本投降和宣布自治——举例子；保留部分原貌——座位、被告栏、棕色天花板——举例子。画作：馆藏丰富——9000余件收藏品——列数字。</a:t>
            </a:r>
          </a:p>
          <a:p xmlns:a="http://schemas.openxmlformats.org/drawingml/2006/main">
            <a:r>
              <a:t>解释：同样是数字，单位不同，说明的特点也不同。“平方米”说明面积，“件”说明馆藏数量；历史事件的例子与保留原貌的例子也不能混放。</a:t>
            </a:r>
          </a:p>
          <a:p xmlns:a="http://schemas.openxmlformats.org/drawingml/2006/main">
            <a:r>
              <a:t>课堂参考12格，各1点；“列数字（结合比较）”也接受“列数字并以足球场作比较”。各格独立，不因同一行错一格全行清零。</a:t>
            </a:r>
          </a:p>
          <a:p xmlns:a="http://schemas.openxmlformats.org/drawingml/2006/main">
            <a:r>
              <a:t>常见误区：只写方法名称；把9000余件放在建筑面积；把地下通道用途当作保留原貌三个例子的总特点。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单元三《国家美术馆探秘》</a:t>
            </a:r>
          </a:p>
          <a:p xmlns:a="http://schemas.openxmlformats.org/drawingml/2006/main">
            <a:r>
              <a:t>课文、教参及四页漫画均来自教师附件。</a:t>
            </a:r>
          </a:p>
          <a:p xmlns:a="http://schemas.openxmlformats.org/drawingml/2006/main">
            <a:r>
              <a:t>课本第8段旁注原题、巩固练习二原题；保留建筑三行、画作一行。师生共构。</a:t>
            </a:r>
          </a:p>
          <a:p xmlns:a="http://schemas.openxmlformats.org/drawingml/2006/main">
            <a:r>
              <a:t>国家美术馆藏了哪些秘密？</a:t>
            </a:r>
          </a:p>
          <a:p xmlns:a="http://schemas.openxmlformats.org/drawingml/2006/main">
            <a:r>
              <a:t>阅读课文，了解课文内容，通过数字和例子理解事物的特点。</a:t>
            </a:r>
          </a:p>
          <a:p xmlns:a="http://schemas.openxmlformats.org/drawingml/2006/main">
            <a:r>
              <a:t>参考：五个“秘密”：两座历史建筑合建的来历；地下通道的用途；窗户变成门；圆顶因氧化而变色；钞票上的《晒咸鱼》。</a:t>
            </a:r>
          </a:p>
          <a:p xmlns:a="http://schemas.openxmlformats.org/drawingml/2006/main">
            <a:r>
              <a:t>建筑：面积很大——6万4000平方米、约9个足球场——列数字（结合比较）；历史意义重要——日本投降和宣布自治——举例子；保留部分原貌——座位、被告栏、棕色天花板——举例子。画作：馆藏丰富——9000余件收藏品——列数字。</a:t>
            </a:r>
          </a:p>
          <a:p xmlns:a="http://schemas.openxmlformats.org/drawingml/2006/main">
            <a:r>
              <a:t>解释：同样是数字，单位不同，说明的特点也不同。“平方米”说明面积，“件”说明馆藏数量；历史事件的例子与保留原貌的例子也不能混放。</a:t>
            </a:r>
          </a:p>
          <a:p xmlns:a="http://schemas.openxmlformats.org/drawingml/2006/main">
            <a:r>
              <a:t>课堂参考12格，各1点；“列数字（结合比较）”也接受“列数字并以足球场作比较”。各格独立，不因同一行错一格全行清零。</a:t>
            </a:r>
          </a:p>
          <a:p xmlns:a="http://schemas.openxmlformats.org/drawingml/2006/main">
            <a:r>
              <a:t>常见误区：只写方法名称；把9000余件放在建筑面积；把地下通道用途当作保留原貌三个例子的总特点。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单元三《国家美术馆探秘》</a:t>
            </a:r>
          </a:p>
          <a:p xmlns:a="http://schemas.openxmlformats.org/drawingml/2006/main">
            <a:r>
              <a:t>课文、教参及四页漫画均来自教师附件。</a:t>
            </a:r>
          </a:p>
          <a:p xmlns:a="http://schemas.openxmlformats.org/drawingml/2006/main">
            <a:r>
              <a:t>课本第8段旁注原题、巩固练习二原题；保留建筑三行、画作一行。师生共构。</a:t>
            </a:r>
          </a:p>
          <a:p xmlns:a="http://schemas.openxmlformats.org/drawingml/2006/main">
            <a:r>
              <a:t>国家美术馆藏了哪些秘密？</a:t>
            </a:r>
          </a:p>
          <a:p xmlns:a="http://schemas.openxmlformats.org/drawingml/2006/main">
            <a:r>
              <a:t>阅读课文，了解课文内容，通过数字和例子理解事物的特点。</a:t>
            </a:r>
          </a:p>
          <a:p xmlns:a="http://schemas.openxmlformats.org/drawingml/2006/main">
            <a:r>
              <a:t>参考：五个“秘密”：两座历史建筑合建的来历；地下通道的用途；窗户变成门；圆顶因氧化而变色；钞票上的《晒咸鱼》。</a:t>
            </a:r>
          </a:p>
          <a:p xmlns:a="http://schemas.openxmlformats.org/drawingml/2006/main">
            <a:r>
              <a:t>建筑：面积很大——6万4000平方米、约9个足球场——列数字（结合比较）；历史意义重要——日本投降和宣布自治——举例子；保留部分原貌——座位、被告栏、棕色天花板——举例子。画作：馆藏丰富——9000余件收藏品——列数字。</a:t>
            </a:r>
          </a:p>
          <a:p xmlns:a="http://schemas.openxmlformats.org/drawingml/2006/main">
            <a:r>
              <a:t>解释：同样是数字，单位不同，说明的特点也不同。“平方米”说明面积，“件”说明馆藏数量；历史事件的例子与保留原貌的例子也不能混放。</a:t>
            </a:r>
          </a:p>
          <a:p xmlns:a="http://schemas.openxmlformats.org/drawingml/2006/main">
            <a:r>
              <a:t>课堂参考12格，各1点；“列数字（结合比较）”也接受“列数字并以足球场作比较”。各格独立，不因同一行错一格全行清零。</a:t>
            </a:r>
          </a:p>
          <a:p xmlns:a="http://schemas.openxmlformats.org/drawingml/2006/main">
            <a:r>
              <a:t>常见误区：只写方法名称；把9000余件放在建筑面积；把地下通道用途当作保留原貌三个例子的总特点。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单元三《国家美术馆探秘》</a:t>
            </a:r>
          </a:p>
          <a:p xmlns:a="http://schemas.openxmlformats.org/drawingml/2006/main">
            <a:r>
              <a:t>课文、教参及四页漫画均来自教师附件。</a:t>
            </a:r>
          </a:p>
          <a:p xmlns:a="http://schemas.openxmlformats.org/drawingml/2006/main">
            <a:r>
              <a:t>课本第8段旁注原题、巩固练习二原题；保留建筑三行、画作一行。师生共构。</a:t>
            </a:r>
          </a:p>
          <a:p xmlns:a="http://schemas.openxmlformats.org/drawingml/2006/main">
            <a:r>
              <a:t>国家美术馆藏了哪些秘密？</a:t>
            </a:r>
          </a:p>
          <a:p xmlns:a="http://schemas.openxmlformats.org/drawingml/2006/main">
            <a:r>
              <a:t>阅读课文，了解课文内容，通过数字和例子理解事物的特点。</a:t>
            </a:r>
          </a:p>
          <a:p xmlns:a="http://schemas.openxmlformats.org/drawingml/2006/main">
            <a:r>
              <a:t>参考：五个“秘密”：两座历史建筑合建的来历；地下通道的用途；窗户变成门；圆顶因氧化而变色；钞票上的《晒咸鱼》。</a:t>
            </a:r>
          </a:p>
          <a:p xmlns:a="http://schemas.openxmlformats.org/drawingml/2006/main">
            <a:r>
              <a:t>建筑：面积很大——6万4000平方米、约9个足球场——列数字（结合比较）；历史意义重要——日本投降和宣布自治——举例子；保留部分原貌——座位、被告栏、棕色天花板——举例子。画作：馆藏丰富——9000余件收藏品——列数字。</a:t>
            </a:r>
          </a:p>
          <a:p xmlns:a="http://schemas.openxmlformats.org/drawingml/2006/main">
            <a:r>
              <a:t>解释：同样是数字，单位不同，说明的特点也不同。“平方米”说明面积，“件”说明馆藏数量；历史事件的例子与保留原貌的例子也不能混放。</a:t>
            </a:r>
          </a:p>
          <a:p xmlns:a="http://schemas.openxmlformats.org/drawingml/2006/main">
            <a:r>
              <a:t>课堂参考12格，各1点；“列数字（结合比较）”也接受“列数字并以足球场作比较”。各格独立，不因同一行错一格全行清零。</a:t>
            </a:r>
          </a:p>
          <a:p xmlns:a="http://schemas.openxmlformats.org/drawingml/2006/main">
            <a:r>
              <a:t>常见误区：只写方法名称；把9000余件放在建筑面积；把地下通道用途当作保留原貌三个例子的总特点。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单元三《国家美术馆探秘》</a:t>
            </a:r>
          </a:p>
          <a:p xmlns:a="http://schemas.openxmlformats.org/drawingml/2006/main">
            <a:r>
              <a:t>课文、教参及四页漫画均来自教师附件。</a:t>
            </a:r>
          </a:p>
          <a:p xmlns:a="http://schemas.openxmlformats.org/drawingml/2006/main">
            <a:r>
              <a:t>课本第8段旁注原题、巩固练习二原题；保留建筑三行、画作一行。师生共构。</a:t>
            </a:r>
          </a:p>
          <a:p xmlns:a="http://schemas.openxmlformats.org/drawingml/2006/main">
            <a:r>
              <a:t>国家美术馆藏了哪些秘密？</a:t>
            </a:r>
          </a:p>
          <a:p xmlns:a="http://schemas.openxmlformats.org/drawingml/2006/main">
            <a:r>
              <a:t>阅读课文，了解课文内容，通过数字和例子理解事物的特点。</a:t>
            </a:r>
          </a:p>
          <a:p xmlns:a="http://schemas.openxmlformats.org/drawingml/2006/main">
            <a:r>
              <a:t>参考：五个“秘密”：两座历史建筑合建的来历；地下通道的用途；窗户变成门；圆顶因氧化而变色；钞票上的《晒咸鱼》。</a:t>
            </a:r>
          </a:p>
          <a:p xmlns:a="http://schemas.openxmlformats.org/drawingml/2006/main">
            <a:r>
              <a:t>建筑：面积很大——6万4000平方米、约9个足球场——列数字（结合比较）；历史意义重要——日本投降和宣布自治——举例子；保留部分原貌——座位、被告栏、棕色天花板——举例子。画作：馆藏丰富——9000余件收藏品——列数字。</a:t>
            </a:r>
          </a:p>
          <a:p xmlns:a="http://schemas.openxmlformats.org/drawingml/2006/main">
            <a:r>
              <a:t>解释：同样是数字，单位不同，说明的特点也不同。“平方米”说明面积，“件”说明馆藏数量；历史事件的例子与保留原貌的例子也不能混放。</a:t>
            </a:r>
          </a:p>
          <a:p xmlns:a="http://schemas.openxmlformats.org/drawingml/2006/main">
            <a:r>
              <a:t>课堂参考12格，各1点；“列数字（结合比较）”也接受“列数字并以足球场作比较”。各格独立，不因同一行错一格全行清零。</a:t>
            </a:r>
          </a:p>
          <a:p xmlns:a="http://schemas.openxmlformats.org/drawingml/2006/main">
            <a:r>
              <a:t>常见误区：只写方法名称；把9000余件放在建筑面积；把地下通道用途当作保留原貌三个例子的总特点。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单元三《国家美术馆探秘》</a:t>
            </a:r>
          </a:p>
          <a:p xmlns:a="http://schemas.openxmlformats.org/drawingml/2006/main">
            <a:r>
              <a:t>课文、教参及四页漫画均来自教师附件。</a:t>
            </a:r>
          </a:p>
          <a:p xmlns:a="http://schemas.openxmlformats.org/drawingml/2006/main">
            <a:r>
              <a:t>课本第8段旁注原题、巩固练习二原题；保留建筑三行、画作一行。师生共构。</a:t>
            </a:r>
          </a:p>
          <a:p xmlns:a="http://schemas.openxmlformats.org/drawingml/2006/main">
            <a:r>
              <a:t>国家美术馆藏了哪些秘密？</a:t>
            </a:r>
          </a:p>
          <a:p xmlns:a="http://schemas.openxmlformats.org/drawingml/2006/main">
            <a:r>
              <a:t>阅读课文，了解课文内容，通过数字和例子理解事物的特点。</a:t>
            </a:r>
          </a:p>
          <a:p xmlns:a="http://schemas.openxmlformats.org/drawingml/2006/main">
            <a:r>
              <a:t>参考：五个“秘密”：两座历史建筑合建的来历；地下通道的用途；窗户变成门；圆顶因氧化而变色；钞票上的《晒咸鱼》。</a:t>
            </a:r>
          </a:p>
          <a:p xmlns:a="http://schemas.openxmlformats.org/drawingml/2006/main">
            <a:r>
              <a:t>建筑：面积很大——6万4000平方米、约9个足球场——列数字（结合比较）；历史意义重要——日本投降和宣布自治——举例子；保留部分原貌——座位、被告栏、棕色天花板——举例子。画作：馆藏丰富——9000余件收藏品——列数字。</a:t>
            </a:r>
          </a:p>
          <a:p xmlns:a="http://schemas.openxmlformats.org/drawingml/2006/main">
            <a:r>
              <a:t>解释：同样是数字，单位不同，说明的特点也不同。“平方米”说明面积，“件”说明馆藏数量；历史事件的例子与保留原貌的例子也不能混放。</a:t>
            </a:r>
          </a:p>
          <a:p xmlns:a="http://schemas.openxmlformats.org/drawingml/2006/main">
            <a:r>
              <a:t>课堂参考12格，各1点；“列数字（结合比较）”也接受“列数字并以足球场作比较”。各格独立，不因同一行错一格全行清零。</a:t>
            </a:r>
          </a:p>
          <a:p xmlns:a="http://schemas.openxmlformats.org/drawingml/2006/main">
            <a:r>
              <a:t>常见误区：只写方法名称；把9000余件放在建筑面积；把地下通道用途当作保留原貌三个例子的总特点。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单元三《国家美术馆探秘》</a:t>
            </a:r>
          </a:p>
          <a:p xmlns:a="http://schemas.openxmlformats.org/drawingml/2006/main">
            <a:r>
              <a:t>课文、教参及四页漫画均来自教师附件。</a:t>
            </a:r>
          </a:p>
          <a:p xmlns:a="http://schemas.openxmlformats.org/drawingml/2006/main">
            <a:r>
              <a:t>课本第8段旁注原题、巩固练习二原题；保留建筑三行、画作一行。师生共构。</a:t>
            </a:r>
          </a:p>
          <a:p xmlns:a="http://schemas.openxmlformats.org/drawingml/2006/main">
            <a:r>
              <a:t>国家美术馆藏了哪些秘密？</a:t>
            </a:r>
          </a:p>
          <a:p xmlns:a="http://schemas.openxmlformats.org/drawingml/2006/main">
            <a:r>
              <a:t>阅读课文，了解课文内容，通过数字和例子理解事物的特点。</a:t>
            </a:r>
          </a:p>
          <a:p xmlns:a="http://schemas.openxmlformats.org/drawingml/2006/main">
            <a:r>
              <a:t>参考：五个“秘密”：两座历史建筑合建的来历；地下通道的用途；窗户变成门；圆顶因氧化而变色；钞票上的《晒咸鱼》。</a:t>
            </a:r>
          </a:p>
          <a:p xmlns:a="http://schemas.openxmlformats.org/drawingml/2006/main">
            <a:r>
              <a:t>建筑：面积很大——6万4000平方米、约9个足球场——列数字（结合比较）；历史意义重要——日本投降和宣布自治——举例子；保留部分原貌——座位、被告栏、棕色天花板——举例子。画作：馆藏丰富——9000余件收藏品——列数字。</a:t>
            </a:r>
          </a:p>
          <a:p xmlns:a="http://schemas.openxmlformats.org/drawingml/2006/main">
            <a:r>
              <a:t>解释：同样是数字，单位不同，说明的特点也不同。“平方米”说明面积，“件”说明馆藏数量；历史事件的例子与保留原貌的例子也不能混放。</a:t>
            </a:r>
          </a:p>
          <a:p xmlns:a="http://schemas.openxmlformats.org/drawingml/2006/main">
            <a:r>
              <a:t>课堂参考12格，各1点；“列数字（结合比较）”也接受“列数字并以足球场作比较”。各格独立，不因同一行错一格全行清零。</a:t>
            </a:r>
          </a:p>
          <a:p xmlns:a="http://schemas.openxmlformats.org/drawingml/2006/main">
            <a:r>
              <a:t>常见误区：只写方法名称；把9000余件放在建筑面积；把地下通道用途当作保留原貌三个例子的总特点。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单元三《国家美术馆探秘》</a:t>
            </a:r>
          </a:p>
          <a:p xmlns:a="http://schemas.openxmlformats.org/drawingml/2006/main">
            <a:r>
              <a:t>课文、教参及四页漫画均来自教师附件。</a:t>
            </a:r>
          </a:p>
          <a:p xmlns:a="http://schemas.openxmlformats.org/drawingml/2006/main">
            <a:r>
              <a:t>课本巩固练习一、三原题。学生独立。</a:t>
            </a:r>
          </a:p>
          <a:p xmlns:a="http://schemas.openxmlformats.org/drawingml/2006/main">
            <a:r>
              <a:t>仿写句子：对我来说，________既熟悉又陌生。熟悉，是因为________；陌生，是因为________。</a:t>
            </a:r>
          </a:p>
          <a:p xmlns:a="http://schemas.openxmlformats.org/drawingml/2006/main">
            <a:r>
              <a:t>上网找一找，除了钟泗滨的画作，50新元钞票背面还有谁的画作？</a:t>
            </a:r>
          </a:p>
          <a:p xmlns:a="http://schemas.openxmlformats.org/drawingml/2006/main">
            <a:r>
              <a:t>参考：仿句示例：对我来说，学校附近的老建筑既熟悉又陌生。熟悉，是因为我每天上学都会经过；陌生，是因为我不知道它过去有什么用途。查找参考：陈文希（Chen Wen Hsi）的 Two Gibbons Amidst Vines，画中是藤蔓间的两只长臂猿。</a:t>
            </a:r>
          </a:p>
          <a:p xmlns:a="http://schemas.openxmlformats.org/drawingml/2006/main">
            <a:r>
              <a:t>解释：仿句的“熟悉”和“陌生”必须说同一个对象的不同层面，分别解释原因。查找题按画家与画作核对；这里用英文原题名，中文只说明画面内容。</a:t>
            </a:r>
          </a:p>
          <a:p xmlns:a="http://schemas.openxmlformats.org/drawingml/2006/main">
            <a:r>
              <a:t>仿句课堂参考3点：同一对象1；熟悉原因1；陌生原因1。查找2点：陈文希1；长臂猿画1。系统不自动评价仿句。</a:t>
            </a:r>
          </a:p>
          <a:p xmlns:a="http://schemas.openxmlformats.org/drawingml/2006/main">
            <a:r>
              <a:t>常见误区：前后换了对象；只重复“因为很熟悉／很陌生”；只交立场而没有两面原因；把钞票设计者当成画作作者。</a:t>
            </a:r>
          </a:p>
          <a:p xmlns:a="http://schemas.openxmlformats.org/drawingml/2006/main">
            <a:r>
              <a:t>第二课文字作答2。先写自己的句子，不直接照抄示范。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单元三《国家美术馆探秘》</a:t>
            </a:r>
          </a:p>
          <a:p xmlns:a="http://schemas.openxmlformats.org/drawingml/2006/main">
            <a:r>
              <a:t>课文、教参及四页漫画均来自教师附件。</a:t>
            </a:r>
          </a:p>
          <a:p xmlns:a="http://schemas.openxmlformats.org/drawingml/2006/main">
            <a:r>
              <a:t>课本巩固练习一、三原题。学生独立。</a:t>
            </a:r>
          </a:p>
          <a:p xmlns:a="http://schemas.openxmlformats.org/drawingml/2006/main">
            <a:r>
              <a:t>仿写句子：对我来说，________既熟悉又陌生。熟悉，是因为________；陌生，是因为________。</a:t>
            </a:r>
          </a:p>
          <a:p xmlns:a="http://schemas.openxmlformats.org/drawingml/2006/main">
            <a:r>
              <a:t>上网找一找，除了钟泗滨的画作，50新元钞票背面还有谁的画作？</a:t>
            </a:r>
          </a:p>
          <a:p xmlns:a="http://schemas.openxmlformats.org/drawingml/2006/main">
            <a:r>
              <a:t>参考：仿句示例：对我来说，学校附近的老建筑既熟悉又陌生。熟悉，是因为我每天上学都会经过；陌生，是因为我不知道它过去有什么用途。查找参考：陈文希（Chen Wen Hsi）的 Two Gibbons Amidst Vines，画中是藤蔓间的两只长臂猿。</a:t>
            </a:r>
          </a:p>
          <a:p xmlns:a="http://schemas.openxmlformats.org/drawingml/2006/main">
            <a:r>
              <a:t>解释：仿句的“熟悉”和“陌生”必须说同一个对象的不同层面，分别解释原因。查找题按画家与画作核对；这里用英文原题名，中文只说明画面内容。</a:t>
            </a:r>
          </a:p>
          <a:p xmlns:a="http://schemas.openxmlformats.org/drawingml/2006/main">
            <a:r>
              <a:t>仿句课堂参考3点：同一对象1；熟悉原因1；陌生原因1。查找2点：陈文希1；长臂猿画1。系统不自动评价仿句。</a:t>
            </a:r>
          </a:p>
          <a:p xmlns:a="http://schemas.openxmlformats.org/drawingml/2006/main">
            <a:r>
              <a:t>常见误区：前后换了对象；只重复“因为很熟悉／很陌生”；只交立场而没有两面原因；把钞票设计者当成画作作者。</a:t>
            </a:r>
          </a:p>
          <a:p xmlns:a="http://schemas.openxmlformats.org/drawingml/2006/main">
            <a:r>
              <a:t>检查两面原因都指向同一个对象。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单元三《国家美术馆探秘》</a:t>
            </a:r>
          </a:p>
          <a:p xmlns:a="http://schemas.openxmlformats.org/drawingml/2006/main">
            <a:r>
              <a:t>课文、教参及四页漫画均来自教师附件。</a:t>
            </a:r>
          </a:p>
          <a:p xmlns:a="http://schemas.openxmlformats.org/drawingml/2006/main">
            <a:r>
              <a:t>课本巩固练习一、三原题。学生独立。</a:t>
            </a:r>
          </a:p>
          <a:p xmlns:a="http://schemas.openxmlformats.org/drawingml/2006/main">
            <a:r>
              <a:t>仿写句子：对我来说，________既熟悉又陌生。熟悉，是因为________；陌生，是因为________。</a:t>
            </a:r>
          </a:p>
          <a:p xmlns:a="http://schemas.openxmlformats.org/drawingml/2006/main">
            <a:r>
              <a:t>上网找一找，除了钟泗滨的画作，50新元钞票背面还有谁的画作？</a:t>
            </a:r>
          </a:p>
          <a:p xmlns:a="http://schemas.openxmlformats.org/drawingml/2006/main">
            <a:r>
              <a:t>参考：仿句示例：对我来说，学校附近的老建筑既熟悉又陌生。熟悉，是因为我每天上学都会经过；陌生，是因为我不知道它过去有什么用途。查找参考：陈文希（Chen Wen Hsi）的 Two Gibbons Amidst Vines，画中是藤蔓间的两只长臂猿。</a:t>
            </a:r>
          </a:p>
          <a:p xmlns:a="http://schemas.openxmlformats.org/drawingml/2006/main">
            <a:r>
              <a:t>解释：仿句的“熟悉”和“陌生”必须说同一个对象的不同层面，分别解释原因。查找题按画家与画作核对；这里用英文原题名，中文只说明画面内容。</a:t>
            </a:r>
          </a:p>
          <a:p xmlns:a="http://schemas.openxmlformats.org/drawingml/2006/main">
            <a:r>
              <a:t>仿句课堂参考3点：同一对象1；熟悉原因1；陌生原因1。查找2点：陈文希1；长臂猿画1。系统不自动评价仿句。</a:t>
            </a:r>
          </a:p>
          <a:p xmlns:a="http://schemas.openxmlformats.org/drawingml/2006/main">
            <a:r>
              <a:t>常见误区：前后换了对象；只重复“因为很熟悉／很陌生”；只交立场而没有两面原因；把钞票设计者当成画作作者。</a:t>
            </a:r>
          </a:p>
          <a:p xmlns:a="http://schemas.openxmlformats.org/drawingml/2006/main">
            <a:r>
              <a:t>网页提供MAS及国家美术馆资料链接。可小组查阅，不新增打字要求。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单元三《国家美术馆探秘》</a:t>
            </a:r>
          </a:p>
          <a:p xmlns:a="http://schemas.openxmlformats.org/drawingml/2006/main">
            <a:r>
              <a:t>课文、教参及四页漫画均来自教师附件。</a:t>
            </a:r>
          </a:p>
          <a:p xmlns:a="http://schemas.openxmlformats.org/drawingml/2006/main">
            <a:r>
              <a:t>国家美术馆FY2016 Annual Report印刷页16、PDF第19页明确列出画作和画家，并说明用于50元钞票背面。</a:t>
            </a:r>
          </a:p>
          <a:p xmlns:a="http://schemas.openxmlformats.org/drawingml/2006/main">
            <a:r>
              <a:t>https://www.nationalgallery.sg/content/dam/about/annual-reports/reports/FY2016%20Annual%20Report.pdf</a:t>
            </a:r>
          </a:p>
          <a:p xmlns:a="http://schemas.openxmlformats.org/drawingml/2006/main">
            <a:r>
              <a:t>MAS简称Gibbon：https://www.mas.gov.sg/currency/circulation-currency/circulation-currency-notes</a:t>
            </a:r>
          </a:p>
          <a:p xmlns:a="http://schemas.openxmlformats.org/drawingml/2006/main">
            <a:r>
              <a:t>核对日期2026-10-23。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中一高级华文 单元三《国家美术馆探秘》</a:t>
            </a:r>
          </a:p>
          <a:p xmlns:a="http://schemas.openxmlformats.org/drawingml/2006/main">
            <a:r>
              <a:t>课文、教参及四页漫画均来自教师附件。</a:t>
            </a:r>
          </a:p>
          <a:p xmlns:a="http://schemas.openxmlformats.org/drawingml/2006/main">
            <a:r>
              <a:t>第二课最后5分钟。查看首次回答，补足缺点，再导出记录。开放题、解释题与仿句由教师覆核。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4601c650c24f9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8a7810be774fe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ef294a24ca445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eb6bb8ed29496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3a8144a40b4c6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f6ad8981eb4d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9F79BB-770F-4CFF-A574-41141897E2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B0DF4EB-4C35-4065-AA5B-7D44E718241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E7645E2-9970-4E55-99BA-1660B50EE8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9A7508-7A85-42AD-8981-6E74C4EBED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49C33E0-4548-49FA-9CCF-A4172599A1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AF59FAD-E6C8-4F04-8269-B208785E21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59A79DF-C4DD-46E4-82AD-9F2BD02921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76BDAE5-F2CE-424D-AAE7-11E14CE027B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258EC4A-D865-4C29-92F5-34AF33D9AE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2542B0E-4920-4D16-821C-10632597E4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072ba55cf64bfe" /><Relationship Type="http://schemas.openxmlformats.org/officeDocument/2006/relationships/slideLayout" Target="/ppt/slideLayouts/slideLayout1.xml" Id="Ra9c170165c084e72" /><Relationship Type="http://schemas.openxmlformats.org/officeDocument/2006/relationships/slideLayout" Target="/ppt/slideLayouts/slideLayout2.xml" Id="R60ee1bb1874e4e4e" /><Relationship Type="http://schemas.openxmlformats.org/officeDocument/2006/relationships/slideLayout" Target="/ppt/slideLayouts/slideLayout3.xml" Id="Rd9a267bba6f14795" /><Relationship Type="http://schemas.openxmlformats.org/officeDocument/2006/relationships/slideLayout" Target="/ppt/slideLayouts/slideLayout4.xml" Id="Rd3377a2664274cc4" /><Relationship Type="http://schemas.openxmlformats.org/officeDocument/2006/relationships/slideLayout" Target="/ppt/slideLayouts/slideLayout5.xml" Id="Rc31c241db2d14e64" /><Relationship Type="http://schemas.openxmlformats.org/officeDocument/2006/relationships/slideLayout" Target="/ppt/slideLayouts/slideLayout6.xml" Id="Rbaad279cb4f446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c170165c084e72"/>
    <p:sldLayoutId xmlns:r="http://schemas.openxmlformats.org/officeDocument/2006/relationships" id="2147483650" r:id="R60ee1bb1874e4e4e"/>
    <p:sldLayoutId xmlns:r="http://schemas.openxmlformats.org/officeDocument/2006/relationships" id="2147483651" r:id="Rd9a267bba6f14795"/>
    <p:sldLayoutId xmlns:r="http://schemas.openxmlformats.org/officeDocument/2006/relationships" id="2147483652" r:id="Rd3377a2664274cc4"/>
    <p:sldLayoutId xmlns:r="http://schemas.openxmlformats.org/officeDocument/2006/relationships" id="2147483653" r:id="Rc31c241db2d14e64"/>
    <p:sldLayoutId xmlns:r="http://schemas.openxmlformats.org/officeDocument/2006/relationships" id="2147483654" r:id="Rbaad279cb4f446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LXGW WenKai TC"/>
        <a:ea typeface=""/>
        <a:cs typeface=""/>
      </a:majorFont>
      <a:minorFont>
        <a:latin typeface="LXGW WenKai T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648727f87d4dbb" /><Relationship Type="http://schemas.openxmlformats.org/officeDocument/2006/relationships/image" Target="/ppt/media/image.png" Id="Rd0d977d013b24ea2" /><Relationship Type="http://schemas.openxmlformats.org/officeDocument/2006/relationships/notesSlide" Target="/ppt/notesSlides/notesSlide1.xml" Id="Re5cdb14b0fa946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c2b74d3f494b1e" /><Relationship Type="http://schemas.openxmlformats.org/officeDocument/2006/relationships/notesSlide" Target="/ppt/notesSlides/notesSlide2.xml" Id="Re5b025c29d0b45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2e192b58344218" /><Relationship Type="http://schemas.openxmlformats.org/officeDocument/2006/relationships/notesSlide" Target="/ppt/notesSlides/notesSlide3.xml" Id="R5001b0fb350d41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92d988f838409f" /><Relationship Type="http://schemas.openxmlformats.org/officeDocument/2006/relationships/notesSlide" Target="/ppt/notesSlides/notesSlide4.xml" Id="R775ab1b2cfef49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c785078b1945d5" /><Relationship Type="http://schemas.openxmlformats.org/officeDocument/2006/relationships/notesSlide" Target="/ppt/notesSlides/notesSlide5.xml" Id="R1b784cf730224d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ce37ff0ce94f9c" /><Relationship Type="http://schemas.openxmlformats.org/officeDocument/2006/relationships/notesSlide" Target="/ppt/notesSlides/notesSlide6.xml" Id="R89d5bf4126d54f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129797b1974caa" /><Relationship Type="http://schemas.openxmlformats.org/officeDocument/2006/relationships/notesSlide" Target="/ppt/notesSlides/notesSlide7.xml" Id="R29e3a9a05c3f48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2b717f4179416e" /><Relationship Type="http://schemas.openxmlformats.org/officeDocument/2006/relationships/notesSlide" Target="/ppt/notesSlides/notesSlide8.xml" Id="R6a56f16cdc5049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8a3a25d6184e29" /><Relationship Type="http://schemas.openxmlformats.org/officeDocument/2006/relationships/notesSlide" Target="/ppt/notesSlides/notesSlide9.xml" Id="R2bb7c72f218641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59954d00fc4f9b" /><Relationship Type="http://schemas.openxmlformats.org/officeDocument/2006/relationships/notesSlide" Target="/ppt/notesSlides/notesSlide10.xml" Id="R0022025f78bd44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d5c658ce6a4bbb" /><Relationship Type="http://schemas.openxmlformats.org/officeDocument/2006/relationships/image" Target="/ppt/media/image2.png" Id="Rd7963c25738d448a" /><Relationship Type="http://schemas.openxmlformats.org/officeDocument/2006/relationships/notesSlide" Target="/ppt/notesSlides/notesSlide11.xml" Id="R93561670a154465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3dc97d1b204fa2" /><Relationship Type="http://schemas.openxmlformats.org/officeDocument/2006/relationships/notesSlide" Target="/ppt/notesSlides/notesSlide12.xml" Id="Raacb4326e583402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04ab7248cd444d" /><Relationship Type="http://schemas.openxmlformats.org/officeDocument/2006/relationships/notesSlide" Target="/ppt/notesSlides/notesSlide13.xml" Id="R88d971b309d4447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40076427304ab3" /><Relationship Type="http://schemas.openxmlformats.org/officeDocument/2006/relationships/notesSlide" Target="/ppt/notesSlides/notesSlide14.xml" Id="R47303abea351475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9397f72c24439f" /><Relationship Type="http://schemas.openxmlformats.org/officeDocument/2006/relationships/notesSlide" Target="/ppt/notesSlides/notesSlide15.xml" Id="Rd36241f6e1f64ef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ef6df9cdbb454a" /><Relationship Type="http://schemas.openxmlformats.org/officeDocument/2006/relationships/notesSlide" Target="/ppt/notesSlides/notesSlide16.xml" Id="R4d4affbc49ce42f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dff7972ab34661" /><Relationship Type="http://schemas.openxmlformats.org/officeDocument/2006/relationships/notesSlide" Target="/ppt/notesSlides/notesSlide17.xml" Id="R9b4a654af94d42f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47b959b8524a61" /><Relationship Type="http://schemas.openxmlformats.org/officeDocument/2006/relationships/notesSlide" Target="/ppt/notesSlides/notesSlide18.xml" Id="R7cc2eea2d82040e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4e48bdc2af4701" /><Relationship Type="http://schemas.openxmlformats.org/officeDocument/2006/relationships/notesSlide" Target="/ppt/notesSlides/notesSlide19.xml" Id="R6026a7d4180b47b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5dde6b0ea2441a" /><Relationship Type="http://schemas.openxmlformats.org/officeDocument/2006/relationships/notesSlide" Target="/ppt/notesSlides/notesSlide20.xml" Id="Rd5e2a3b0a4214a9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b94c4a65674d02" /><Relationship Type="http://schemas.openxmlformats.org/officeDocument/2006/relationships/notesSlide" Target="/ppt/notesSlides/notesSlide21.xml" Id="Rd43fd23b322748b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8a89c123e84b27" /><Relationship Type="http://schemas.openxmlformats.org/officeDocument/2006/relationships/notesSlide" Target="/ppt/notesSlides/notesSlide22.xml" Id="Rdcf24fb54846406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8f414655224016" /><Relationship Type="http://schemas.openxmlformats.org/officeDocument/2006/relationships/notesSlide" Target="/ppt/notesSlides/notesSlide23.xml" Id="R1eb3930e709b47e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916a0348b042cd" /><Relationship Type="http://schemas.openxmlformats.org/officeDocument/2006/relationships/notesSlide" Target="/ppt/notesSlides/notesSlide24.xml" Id="Rc2936bf5acf3441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2607bfdb984ace" /><Relationship Type="http://schemas.openxmlformats.org/officeDocument/2006/relationships/notesSlide" Target="/ppt/notesSlides/notesSlide25.xml" Id="Rbcfd0ff3b004489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837085c8844b80" /><Relationship Type="http://schemas.openxmlformats.org/officeDocument/2006/relationships/notesSlide" Target="/ppt/notesSlides/notesSlide26.xml" Id="Rfc3363a23980430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19e7457b0e4e9c" /><Relationship Type="http://schemas.openxmlformats.org/officeDocument/2006/relationships/notesSlide" Target="/ppt/notesSlides/notesSlide27.xml" Id="R83867ef2f4ea480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7cc1f3cc184a88" /><Relationship Type="http://schemas.openxmlformats.org/officeDocument/2006/relationships/notesSlide" Target="/ppt/notesSlides/notesSlide28.xml" Id="R7cb98f249a414a4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f72fb56dec4b36" /><Relationship Type="http://schemas.openxmlformats.org/officeDocument/2006/relationships/notesSlide" Target="/ppt/notesSlides/notesSlide29.xml" Id="R59287b3fbe2a4e2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cfb0c00ddf47ad" /><Relationship Type="http://schemas.openxmlformats.org/officeDocument/2006/relationships/notesSlide" Target="/ppt/notesSlides/notesSlide30.xml" Id="Rf0ea5fd8dfae4d0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be66aa4dd74b80" /><Relationship Type="http://schemas.openxmlformats.org/officeDocument/2006/relationships/notesSlide" Target="/ppt/notesSlides/notesSlide31.xml" Id="R7f339b2b03f640d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ff00ee58f74c0e" /><Relationship Type="http://schemas.openxmlformats.org/officeDocument/2006/relationships/notesSlide" Target="/ppt/notesSlides/notesSlide32.xml" Id="R941b1575f8a84f5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5242344a884c22" /><Relationship Type="http://schemas.openxmlformats.org/officeDocument/2006/relationships/notesSlide" Target="/ppt/notesSlides/notesSlide33.xml" Id="R1b5d407fadd546c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ba8b160d114776" /><Relationship Type="http://schemas.openxmlformats.org/officeDocument/2006/relationships/notesSlide" Target="/ppt/notesSlides/notesSlide34.xml" Id="Ra72e27312b0447c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92804b38f240fa" /><Relationship Type="http://schemas.openxmlformats.org/officeDocument/2006/relationships/notesSlide" Target="/ppt/notesSlides/notesSlide35.xml" Id="Rd9dd478431d648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167C9D43-723F-4404-8CFB-7086A4D1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国家美术馆探秘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FAB9734-27AE-4611-A826-A5463577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01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B01E0-EC8E-423F-9227-5CC7C500B9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d977d013b24ea2"/>
          <a:stretch xmlns:a="http://schemas.openxmlformats.org/drawingml/2006/main"/>
        </p:blipFill>
        <p:spPr>
          <a:xfrm xmlns:a="http://schemas.openxmlformats.org/drawingml/2006/main">
            <a:off x="855705" y="1619250"/>
            <a:ext cx="6194339" cy="4324350"/>
          </a:xfrm>
          <a:prstGeom xmlns:a="http://schemas.openxmlformats.org/drawingml/2006/main" prst="rect">
            <a:avLst/>
          </a:prstGeom>
        </p:spPr>
      </p:pic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D7661C2A-FE01-468C-9E37-A3863D7D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52600"/>
            <a:ext cx="3810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中一高级华文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12DCF137-4793-45E7-ACFE-FB068213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33725"/>
            <a:ext cx="3810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第三单元 巩固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3928C4A6-59A0-4CD2-A217-6E59A2FB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14850"/>
            <a:ext cx="3810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1—2课时</a:t>
            </a:r>
          </a:p>
        </p:txBody>
      </p:sp>
    </p:spTree>
    <p:extLst>
      <p:ext uri="{BB962C8B-B14F-4D97-AF65-F5344CB8AC3E}">
        <p14:creationId xmlns:p14="http://schemas.microsoft.com/office/powerpoint/2010/main" val="14788334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6DDE93D0-E75A-4EEA-BD88-8DC9EC99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这篇课文怎样读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554A133-2C16-4FD6-9E87-15DA806D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02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492F888-CE12-40F5-9303-2FD62ACA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每到一段，先弄懂一个“秘密”。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1450DFE-A71B-4130-ACEC-09664CBE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看到数字或例子，问：说明什么特点？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4D43399-E9C5-401B-BA6E-7D730DB2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最后用具体内容，解释自己的选择。</a:t>
            </a:r>
          </a:p>
        </p:txBody>
      </p:sp>
    </p:spTree>
    <p:extLst>
      <p:ext uri="{BB962C8B-B14F-4D97-AF65-F5344CB8AC3E}">
        <p14:creationId xmlns:p14="http://schemas.microsoft.com/office/powerpoint/2010/main" val="14567755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F7CBC030-1D8C-4F47-A89C-C9BC4B93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第一段 · 数字说明什么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5442E07-0FE4-4A00-AF9C-90D661EF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03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17F535A-0168-4E44-9429-16EE0278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第1段的数字说明了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C476A50-C841-4A3F-A7CE-A8BE6DA8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国家美术馆的什么特点？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ACBD1D8-ECE9-44E8-8169-66974B5A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先找数字和单位，再说特点。</a:t>
            </a:r>
          </a:p>
        </p:txBody>
      </p:sp>
    </p:spTree>
    <p:extLst>
      <p:ext uri="{BB962C8B-B14F-4D97-AF65-F5344CB8AC3E}">
        <p14:creationId xmlns:p14="http://schemas.microsoft.com/office/powerpoint/2010/main" val="13678122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0">
            <a:extLst xmlns:a="http://schemas.openxmlformats.org/drawingml/2006/main">
              <a:ext uri="{FF2B5EF4-FFF2-40B4-BE49-F238E27FC236}">
                <a16:creationId xmlns:a16="http://schemas.microsoft.com/office/drawing/2014/main" id="{F00DCA64-6EA6-46B4-A271-4927C510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数字与单位，要一起读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9BE8A57-C1BB-40B6-9307-718D915A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04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2E240-B33C-4BEA-BE90-15B891D86F78}"/>
              </a:ext>
            </a:extLst>
          </p:cNvPr>
          <p:cNvGraphicFramePr/>
          <p:nvPr/>
        </p:nvGraphicFramePr>
        <p:xfrm>
          <a:off xmlns:a="http://schemas.openxmlformats.org/drawingml/2006/main" x="714375" y="1743075"/>
          <a:ext xmlns:a="http://schemas.openxmlformats.org/drawingml/2006/main" cx="1076325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7715250"/>
              </a:tblGrid>
              <a:tr h="1285875"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1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课文数字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9CBD9"/>
                      </a:solidFill>
                      <a:prstDash val="solid"/>
                    </a:lnL>
                    <a:lnR w="9525">
                      <a:solidFill>
                        <a:srgbClr val="B9CBD9"/>
                      </a:solidFill>
                      <a:prstDash val="solid"/>
                    </a:lnR>
                    <a:lnT w="9525">
                      <a:solidFill>
                        <a:srgbClr val="B9CBD9"/>
                      </a:solidFill>
                      <a:prstDash val="solid"/>
                    </a:lnT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DCEAF4"/>
                    </a:solidFill>
                  </a:tcPr>
                </a:tc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0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6万4000平方米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9CBD9"/>
                      </a:solidFill>
                      <a:prstDash val="solid"/>
                    </a:lnR>
                    <a:lnT w="9525">
                      <a:solidFill>
                        <a:srgbClr val="B9CBD9"/>
                      </a:solidFill>
                      <a:prstDash val="solid"/>
                    </a:lnT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85875"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1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熟悉的比较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9CBD9"/>
                      </a:solidFill>
                      <a:prstDash val="solid"/>
                    </a:lnL>
                    <a:lnR w="9525">
                      <a:solidFill>
                        <a:srgbClr val="B9CBD9"/>
                      </a:solidFill>
                      <a:prstDash val="solid"/>
                    </a:lnR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DCEAF4"/>
                    </a:solidFill>
                  </a:tcPr>
                </a:tc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0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大约9个足球场那么大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9CBD9"/>
                      </a:solidFill>
                      <a:prstDash val="solid"/>
                    </a:lnR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85875"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1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说明的特点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9CBD9"/>
                      </a:solidFill>
                      <a:prstDash val="solid"/>
                    </a:lnL>
                    <a:lnR w="9525">
                      <a:solidFill>
                        <a:srgbClr val="B9CBD9"/>
                      </a:solidFill>
                      <a:prstDash val="solid"/>
                    </a:lnR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DCEAF4"/>
                    </a:solidFill>
                  </a:tcPr>
                </a:tc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0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面积很大，读者更容易想象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9CBD9"/>
                      </a:solidFill>
                      <a:prstDash val="solid"/>
                    </a:lnR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63535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38C66ADF-3DBD-4941-8365-D57AC532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第二段 · “秘密”的引号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D94C06D-46FE-4A1D-93D6-724F59B6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05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2E6F46D-1896-48A2-BBA9-EE19F574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“秘密”为什么加引号？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3D82CE9-0C84-4A51-A279-49916A4E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普通的“秘密”，通常指什么？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A6465AB-FFF5-4FF6-95E3-FD3FD563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这里的“秘密”，可以公开介绍吗？</a:t>
            </a:r>
          </a:p>
        </p:txBody>
      </p:sp>
    </p:spTree>
    <p:extLst>
      <p:ext uri="{BB962C8B-B14F-4D97-AF65-F5344CB8AC3E}">
        <p14:creationId xmlns:p14="http://schemas.microsoft.com/office/powerpoint/2010/main" val="11684179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3D35809C-F740-479D-AE2A-7CE3ED9C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借用“秘密”，邀请读者探索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881B139-C08A-408A-82D1-F5552E8A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06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49ED13A-B3EC-4F32-94BF-8A944194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这里借指鲜为人知的有趣事情。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5EA7183-6371-4E06-896C-7F5FF047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人们尚不了解，值得探索和发现。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B6AF0F8-537B-4DC5-B7FD-6E93A245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它们可以公开，并非必须保密。</a:t>
            </a:r>
          </a:p>
        </p:txBody>
      </p:sp>
    </p:spTree>
    <p:extLst>
      <p:ext uri="{BB962C8B-B14F-4D97-AF65-F5344CB8AC3E}">
        <p14:creationId xmlns:p14="http://schemas.microsoft.com/office/powerpoint/2010/main" val="5743583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BF7AD98A-3F8D-473F-A26D-C4C73103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第三段 · 两座建筑的来历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BA0320C-5834-4E70-B2E3-6D2C695C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07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B62C134-4E19-4D1F-AF6E-87B87486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美术馆由哪两座历史建筑改建而成？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40A1AF1-B340-4597-B614-7E3ED702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它见证了哪些历史事件？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9EEB59D-8EC8-4CFB-82CD-018E273D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分别找建筑名称和对应的作用。</a:t>
            </a:r>
          </a:p>
        </p:txBody>
      </p:sp>
    </p:spTree>
    <p:extLst>
      <p:ext uri="{BB962C8B-B14F-4D97-AF65-F5344CB8AC3E}">
        <p14:creationId xmlns:p14="http://schemas.microsoft.com/office/powerpoint/2010/main" val="15595349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0">
            <a:extLst xmlns:a="http://schemas.openxmlformats.org/drawingml/2006/main">
              <a:ext uri="{FF2B5EF4-FFF2-40B4-BE49-F238E27FC236}">
                <a16:creationId xmlns:a16="http://schemas.microsoft.com/office/drawing/2014/main" id="{2F0E76D9-DFB4-47D7-B4D7-0E774003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建筑与历史作用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71CCF20-9DB7-49AE-A91B-8167D57D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08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C29F0-A1DD-470E-8B1C-C913A59FAE7E}"/>
              </a:ext>
            </a:extLst>
          </p:cNvPr>
          <p:cNvGraphicFramePr/>
          <p:nvPr/>
        </p:nvGraphicFramePr>
        <p:xfrm>
          <a:off xmlns:a="http://schemas.openxmlformats.org/drawingml/2006/main" x="714375" y="1743075"/>
          <a:ext xmlns:a="http://schemas.openxmlformats.org/drawingml/2006/main" cx="1076325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7715250"/>
              </a:tblGrid>
              <a:tr h="1285875"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1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前最高法院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9CBD9"/>
                      </a:solidFill>
                      <a:prstDash val="solid"/>
                    </a:lnL>
                    <a:lnR w="9525">
                      <a:solidFill>
                        <a:srgbClr val="B9CBD9"/>
                      </a:solidFill>
                      <a:prstDash val="solid"/>
                    </a:lnR>
                    <a:lnT w="9525">
                      <a:solidFill>
                        <a:srgbClr val="B9CBD9"/>
                      </a:solidFill>
                      <a:prstDash val="solid"/>
                    </a:lnT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DCEAF4"/>
                    </a:solidFill>
                  </a:tcPr>
                </a:tc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0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60多年作为司法制度的最高殿堂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9CBD9"/>
                      </a:solidFill>
                      <a:prstDash val="solid"/>
                    </a:lnR>
                    <a:lnT w="9525">
                      <a:solidFill>
                        <a:srgbClr val="B9CBD9"/>
                      </a:solidFill>
                      <a:prstDash val="solid"/>
                    </a:lnT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85875"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1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政府大厦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9CBD9"/>
                      </a:solidFill>
                      <a:prstDash val="solid"/>
                    </a:lnL>
                    <a:lnR w="9525">
                      <a:solidFill>
                        <a:srgbClr val="B9CBD9"/>
                      </a:solidFill>
                      <a:prstDash val="solid"/>
                    </a:lnR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DCEAF4"/>
                    </a:solidFill>
                  </a:tcPr>
                </a:tc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0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见证日本投降和新加坡宣布自治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9CBD9"/>
                      </a:solidFill>
                      <a:prstDash val="solid"/>
                    </a:lnR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85875"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1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共同来历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9CBD9"/>
                      </a:solidFill>
                      <a:prstDash val="solid"/>
                    </a:lnL>
                    <a:lnR w="9525">
                      <a:solidFill>
                        <a:srgbClr val="B9CBD9"/>
                      </a:solidFill>
                      <a:prstDash val="solid"/>
                    </a:lnR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DCEAF4"/>
                    </a:solidFill>
                  </a:tcPr>
                </a:tc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0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两座历史建筑合二为一，改建成馆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9CBD9"/>
                      </a:solidFill>
                      <a:prstDash val="solid"/>
                    </a:lnR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97262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CCA00913-B8B5-4E48-9AE7-7841C4E5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第四段 · 例子说明什么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E9549F1-E26A-4C8C-B678-77A2C71B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09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E6B0E49-4698-46AC-81AE-AB804B91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法官的座位、被告栏、棕色天花板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BDECE16-4C6F-4334-A495-BAD22E4B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这里举的例子是为了说明什么？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B08388C-5A79-4737-B74F-91146739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先看“例如”前面的概括句。</a:t>
            </a:r>
          </a:p>
        </p:txBody>
      </p:sp>
    </p:spTree>
    <p:extLst>
      <p:ext uri="{BB962C8B-B14F-4D97-AF65-F5344CB8AC3E}">
        <p14:creationId xmlns:p14="http://schemas.microsoft.com/office/powerpoint/2010/main" val="7845277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8A76DAD2-E27B-4FA0-AD05-4492FE98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举例子，让“部分原貌”更具体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C72BA65-F9F7-46C0-A6AC-6AF938C1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10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85EEC35-6483-40F2-A885-C3517ED5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特点：美术馆保留部分原貌。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099A3A6-5430-4913-B700-EE4EE2F7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例子：法官座位、被告栏、天花板。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26009E0-0192-495E-AB67-CFB0D32C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作用：让读者知道具体保留了什么。</a:t>
            </a:r>
          </a:p>
        </p:txBody>
      </p:sp>
    </p:spTree>
    <p:extLst>
      <p:ext uri="{BB962C8B-B14F-4D97-AF65-F5344CB8AC3E}">
        <p14:creationId xmlns:p14="http://schemas.microsoft.com/office/powerpoint/2010/main" val="14749472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9A673437-5A25-454F-AC4E-833AED53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地下通道有什么用途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AC0FBD8-0198-4C61-824B-D202A752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11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A5403E-56B4-4977-835B-A18CEE7DB7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963c25738d448a"/>
          <a:stretch xmlns:a="http://schemas.openxmlformats.org/drawingml/2006/main"/>
        </p:blipFill>
        <p:spPr>
          <a:xfrm xmlns:a="http://schemas.openxmlformats.org/drawingml/2006/main">
            <a:off x="728918" y="1619250"/>
            <a:ext cx="6447915" cy="4324350"/>
          </a:xfrm>
          <a:prstGeom xmlns:a="http://schemas.openxmlformats.org/drawingml/2006/main" prst="rect">
            <a:avLst/>
          </a:prstGeom>
        </p:spPr>
      </p:pic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4F9B04D7-5377-4A35-985D-247E411B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52600"/>
            <a:ext cx="3810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当时犯人经过这里，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C85F3D67-C6AB-400B-B48F-5F72D5E3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33725"/>
            <a:ext cx="3810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直接进入被告栏。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B422057-7379-4EBF-BA1D-0B976E99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14850"/>
            <a:ext cx="3810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这是文中明写的信息。</a:t>
            </a:r>
          </a:p>
        </p:txBody>
      </p:sp>
    </p:spTree>
    <p:extLst>
      <p:ext uri="{BB962C8B-B14F-4D97-AF65-F5344CB8AC3E}">
        <p14:creationId xmlns:p14="http://schemas.microsoft.com/office/powerpoint/2010/main" val="5174358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034B8DEF-CBA4-40CC-9EB8-C3703299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第五段 · 门的“秘密”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0D31F7C-D3C7-4FCD-A967-03481C93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12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5F749DD-D873-4E74-AB31-A2F4B49F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悬空桥两端的大门有什么“秘密”？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CDD056C-5781-442F-87A6-68C42D7F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为什么用“古色古香”形容这些大门？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2EAE582-CFCC-48D5-BECA-0078950F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“原本……变成……”写了什么变化？</a:t>
            </a:r>
          </a:p>
        </p:txBody>
      </p:sp>
    </p:spTree>
    <p:extLst>
      <p:ext uri="{BB962C8B-B14F-4D97-AF65-F5344CB8AC3E}">
        <p14:creationId xmlns:p14="http://schemas.microsoft.com/office/powerpoint/2010/main" val="11357122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0">
            <a:extLst xmlns:a="http://schemas.openxmlformats.org/drawingml/2006/main">
              <a:ext uri="{FF2B5EF4-FFF2-40B4-BE49-F238E27FC236}">
                <a16:creationId xmlns:a16="http://schemas.microsoft.com/office/drawing/2014/main" id="{A85B848E-4A21-4FCF-AFE8-070AAD11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窗户变成大门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ECDD406-FD44-40E5-98AF-BBEE2B9A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13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EC017-9378-4AB4-A92C-ED6B646051C6}"/>
              </a:ext>
            </a:extLst>
          </p:cNvPr>
          <p:cNvGraphicFramePr/>
          <p:nvPr/>
        </p:nvGraphicFramePr>
        <p:xfrm>
          <a:off xmlns:a="http://schemas.openxmlformats.org/drawingml/2006/main" x="714375" y="1743075"/>
          <a:ext xmlns:a="http://schemas.openxmlformats.org/drawingml/2006/main" cx="1076325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7715250"/>
              </a:tblGrid>
              <a:tr h="1285875"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1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原本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9CBD9"/>
                      </a:solidFill>
                      <a:prstDash val="solid"/>
                    </a:lnL>
                    <a:lnR w="9525">
                      <a:solidFill>
                        <a:srgbClr val="B9CBD9"/>
                      </a:solidFill>
                      <a:prstDash val="solid"/>
                    </a:lnR>
                    <a:lnT w="9525">
                      <a:solidFill>
                        <a:srgbClr val="B9CBD9"/>
                      </a:solidFill>
                      <a:prstDash val="solid"/>
                    </a:lnT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DCEAF4"/>
                    </a:solidFill>
                  </a:tcPr>
                </a:tc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0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窗户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9CBD9"/>
                      </a:solidFill>
                      <a:prstDash val="solid"/>
                    </a:lnR>
                    <a:lnT w="9525">
                      <a:solidFill>
                        <a:srgbClr val="B9CBD9"/>
                      </a:solidFill>
                      <a:prstDash val="solid"/>
                    </a:lnT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85875"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1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现在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9CBD9"/>
                      </a:solidFill>
                      <a:prstDash val="solid"/>
                    </a:lnL>
                    <a:lnR w="9525">
                      <a:solidFill>
                        <a:srgbClr val="B9CBD9"/>
                      </a:solidFill>
                      <a:prstDash val="solid"/>
                    </a:lnR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DCEAF4"/>
                    </a:solidFill>
                  </a:tcPr>
                </a:tc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0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悬空桥两端的大门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9CBD9"/>
                      </a:solidFill>
                      <a:prstDash val="solid"/>
                    </a:lnR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85875"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1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古色古香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9CBD9"/>
                      </a:solidFill>
                      <a:prstDash val="solid"/>
                    </a:lnL>
                    <a:lnR w="9525">
                      <a:solidFill>
                        <a:srgbClr val="B9CBD9"/>
                      </a:solidFill>
                      <a:prstDash val="solid"/>
                    </a:lnR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DCEAF4"/>
                    </a:solidFill>
                  </a:tcPr>
                </a:tc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0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风格古朴，有旧时韵味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9CBD9"/>
                      </a:solidFill>
                      <a:prstDash val="solid"/>
                    </a:lnR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0995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78D88ED3-0AB2-43EC-9472-4E814DAB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第六段 · 圆顶为什么变色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CBCFB38-D7C3-44EF-A2BB-1DE23500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14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2F35D9E-C76B-428D-B680-F2DC08B0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圆顶的颜色有了什么变化？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DC63F0A-2DA8-442A-B930-BE21C9EF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为什么会出现这样的变化？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810F32B-4DA1-4145-8265-F07CE6B7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课文写明了原本的具体颜色吗？</a:t>
            </a:r>
          </a:p>
        </p:txBody>
      </p:sp>
    </p:spTree>
    <p:extLst>
      <p:ext uri="{BB962C8B-B14F-4D97-AF65-F5344CB8AC3E}">
        <p14:creationId xmlns:p14="http://schemas.microsoft.com/office/powerpoint/2010/main" val="118542239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95CE38E0-DAF6-4ADD-8C16-B471DCEA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圆顶变色的因果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98E0769-9416-4820-A741-31D6A11B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15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1FBF6BA-39AE-4FC3-80CF-B44B35BD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现在是铜绿色。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86CB487-FC0C-40F8-8F97-84763E25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原因是长年的氧化（oxidation）。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6B7912B-986C-40E4-8C2E-7266E50D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原色未写明，答题不能根据示意图补写。</a:t>
            </a:r>
          </a:p>
        </p:txBody>
      </p:sp>
    </p:spTree>
    <p:extLst>
      <p:ext uri="{BB962C8B-B14F-4D97-AF65-F5344CB8AC3E}">
        <p14:creationId xmlns:p14="http://schemas.microsoft.com/office/powerpoint/2010/main" val="9710809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31461CF5-E784-471F-ABD4-0D0E08E7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第七段 · 钱包里的名作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7B3CC0B-1615-45AF-8C5A-7B8CCBD7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16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2E20BB8-35BB-477C-B9A3-9CE16D21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为什么把这幅画称为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A326FBB-1A5F-45A9-9AED-D7C82069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“钱包里的名作”？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DB04C79-F361-497A-A277-CE6EFB5F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写一两句，解释画、钞票与钱包的联系。</a:t>
            </a:r>
          </a:p>
        </p:txBody>
      </p:sp>
    </p:spTree>
    <p:extLst>
      <p:ext uri="{BB962C8B-B14F-4D97-AF65-F5344CB8AC3E}">
        <p14:creationId xmlns:p14="http://schemas.microsoft.com/office/powerpoint/2010/main" val="4660255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17134023-C94B-402D-9EBE-1C5C011F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画、钞票与钱包的联系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A73261A-A608-47D9-8270-2FC24739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17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6A68CAF-5233-4AB4-BA91-6A716AC4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《晒咸鱼》印在50新元钞票背面。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848762E-B0DF-462D-8DF7-6D47FC31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钞票常放在钱包里。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0F8E422-177F-449B-AA89-09D987C4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所以称这幅画为“钱包里的名作”。</a:t>
            </a:r>
          </a:p>
        </p:txBody>
      </p:sp>
    </p:spTree>
    <p:extLst>
      <p:ext uri="{BB962C8B-B14F-4D97-AF65-F5344CB8AC3E}">
        <p14:creationId xmlns:p14="http://schemas.microsoft.com/office/powerpoint/2010/main" val="181804038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38499F4F-7729-4B84-A4B7-C995183B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第七段 · 熟悉，又陌生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7A7625A-EB57-4C21-A16B-665D308E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18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E06E2AE-41DA-4081-9B38-95174599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为什么说对许多人来说，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7C9A278-E57A-4793-B219-36CECF57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这幅画“既熟悉又陌生”？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73DE781-42DF-42A4-B641-78704E4B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分别找两个“是因为”。</a:t>
            </a:r>
          </a:p>
        </p:txBody>
      </p:sp>
    </p:spTree>
    <p:extLst>
      <p:ext uri="{BB962C8B-B14F-4D97-AF65-F5344CB8AC3E}">
        <p14:creationId xmlns:p14="http://schemas.microsoft.com/office/powerpoint/2010/main" val="153647088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0">
            <a:extLst xmlns:a="http://schemas.openxmlformats.org/drawingml/2006/main">
              <a:ext uri="{FF2B5EF4-FFF2-40B4-BE49-F238E27FC236}">
                <a16:creationId xmlns:a16="http://schemas.microsoft.com/office/drawing/2014/main" id="{7A4F8B69-2B8F-4798-A355-067A0B43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看过，不等于了解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AF149E6-1871-499E-B1D0-AF40FA01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19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B8C70-691C-4250-A2F3-6A878168713A}"/>
              </a:ext>
            </a:extLst>
          </p:cNvPr>
          <p:cNvGraphicFramePr/>
          <p:nvPr/>
        </p:nvGraphicFramePr>
        <p:xfrm>
          <a:off xmlns:a="http://schemas.openxmlformats.org/drawingml/2006/main" x="714375" y="1743075"/>
          <a:ext xmlns:a="http://schemas.openxmlformats.org/drawingml/2006/main" cx="1076325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7715250"/>
              </a:tblGrid>
              <a:tr h="1285875"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1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熟悉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9CBD9"/>
                      </a:solidFill>
                      <a:prstDash val="solid"/>
                    </a:lnL>
                    <a:lnR w="9525">
                      <a:solidFill>
                        <a:srgbClr val="B9CBD9"/>
                      </a:solidFill>
                      <a:prstDash val="solid"/>
                    </a:lnR>
                    <a:lnT w="9525">
                      <a:solidFill>
                        <a:srgbClr val="B9CBD9"/>
                      </a:solidFill>
                      <a:prstDash val="solid"/>
                    </a:lnT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DCEAF4"/>
                    </a:solidFill>
                  </a:tcPr>
                </a:tc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0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见过50新元钞票背面的图案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9CBD9"/>
                      </a:solidFill>
                      <a:prstDash val="solid"/>
                    </a:lnR>
                    <a:lnT w="9525">
                      <a:solidFill>
                        <a:srgbClr val="B9CBD9"/>
                      </a:solidFill>
                      <a:prstDash val="solid"/>
                    </a:lnT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85875"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1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陌生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9CBD9"/>
                      </a:solidFill>
                      <a:prstDash val="solid"/>
                    </a:lnL>
                    <a:lnR w="9525">
                      <a:solidFill>
                        <a:srgbClr val="B9CBD9"/>
                      </a:solidFill>
                      <a:prstDash val="solid"/>
                    </a:lnR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DCEAF4"/>
                    </a:solidFill>
                  </a:tcPr>
                </a:tc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0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对画作本身并不了解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9CBD9"/>
                      </a:solidFill>
                      <a:prstDash val="solid"/>
                    </a:lnR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85875"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1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画面内容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9CBD9"/>
                      </a:solidFill>
                      <a:prstDash val="solid"/>
                    </a:lnL>
                    <a:lnR w="9525">
                      <a:solidFill>
                        <a:srgbClr val="B9CBD9"/>
                      </a:solidFill>
                      <a:prstDash val="solid"/>
                    </a:lnR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DCEAF4"/>
                    </a:solidFill>
                  </a:tcPr>
                </a:tc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0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马来同胞晒咸鱼，宁静而平和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9CBD9"/>
                      </a:solidFill>
                      <a:prstDash val="solid"/>
                    </a:lnR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711852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FA198BFD-7B6C-4D1A-A480-C1DF7D58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第一课 · 检查已有回答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2F5C03B-85C1-46CE-AF38-523814BA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20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8E28C4F-0125-45DD-9134-3A7E2382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数字：有没有连上面积或数量？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EA4A836-1746-42AD-BA6C-20D0EC16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例子：有没有说出具体说明的特点？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46AB77F-E41D-43D6-8912-55854887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“钱包”：有没有解释钞票与画的联系？</a:t>
            </a:r>
          </a:p>
        </p:txBody>
      </p:sp>
    </p:spTree>
    <p:extLst>
      <p:ext uri="{BB962C8B-B14F-4D97-AF65-F5344CB8AC3E}">
        <p14:creationId xmlns:p14="http://schemas.microsoft.com/office/powerpoint/2010/main" val="163490883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487955A7-01D5-4DEF-BB5E-C82A8E9F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第八段 · 你想亲自去探秘吗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3E5BCC7-73F9-4BA9-8409-E900FF12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21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7418B27-9DCD-4387-A1FB-EEC81B4E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作者在结尾呼吁读者做什么？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35FC441-52F7-484B-8769-64A77C73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你也想亲自去美术馆探秘吗？为什么？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159B127-2908-4FD5-8367-FA1EC457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先读完第8段，再独立写自己的选择。</a:t>
            </a:r>
          </a:p>
        </p:txBody>
      </p:sp>
    </p:spTree>
    <p:extLst>
      <p:ext uri="{BB962C8B-B14F-4D97-AF65-F5344CB8AC3E}">
        <p14:creationId xmlns:p14="http://schemas.microsoft.com/office/powerpoint/2010/main" val="58239086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CA2F451F-CE54-422B-BA4C-5BC7EC14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开放回应 · 说清为什么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D99DB87-C5CF-49D9-AC66-65AE86C2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22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C148DA7-D411-4E03-95F9-04FA0C43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立场与理由：想不想去？为什么？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F8CF95B-98B8-4508-93BE-B9812B4E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具体内容：哪一个“秘密”影响你？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173B471-DC91-497C-A3FB-5BD0983A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回扣：亲自观察能帮助你了解什么？</a:t>
            </a:r>
          </a:p>
        </p:txBody>
      </p:sp>
    </p:spTree>
    <p:extLst>
      <p:ext uri="{BB962C8B-B14F-4D97-AF65-F5344CB8AC3E}">
        <p14:creationId xmlns:p14="http://schemas.microsoft.com/office/powerpoint/2010/main" val="87062063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7476C64F-F85F-4FB6-AAC4-19B25618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一个有依据的回答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2DE4049-BA3A-4EDB-ADEA-9AC31552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23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22F9A12-8B85-4A15-B05A-76373DED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我想亲自参观，了解旧建筑如何改建。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39E4F45-AB92-4AF8-A284-AD37504D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课文说悬空桥的大门原本是窗户，</a:t>
            </a:r>
          </a:p>
          <a:p xmlns:a="http://schemas.openxmlformats.org/drawingml/2006/main">
            <a: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我想近看设计师怎样保留古朴风格。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8C4EA3B-4361-4603-8725-CCDE7B5E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这样能把课文读到的内容看得更具体。</a:t>
            </a:r>
          </a:p>
        </p:txBody>
      </p:sp>
    </p:spTree>
    <p:extLst>
      <p:ext uri="{BB962C8B-B14F-4D97-AF65-F5344CB8AC3E}">
        <p14:creationId xmlns:p14="http://schemas.microsoft.com/office/powerpoint/2010/main" val="17459947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8D6F5C6F-9430-420B-8F60-B6D10314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全文回顾 · 五个“秘密”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823573E-14D5-4B75-AB26-B2650DA9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24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C5290FE-F95B-4A68-9FB9-2145CAF1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国家美术馆藏了哪些秘密？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01B7197-A3C7-403F-836D-089F4029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先按第3—7段的顺序口头说。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FC37CF4-4B75-4297-89CA-6F2823D9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每个秘密，只保留最关键的信息。</a:t>
            </a:r>
          </a:p>
        </p:txBody>
      </p:sp>
    </p:spTree>
    <p:extLst>
      <p:ext uri="{BB962C8B-B14F-4D97-AF65-F5344CB8AC3E}">
        <p14:creationId xmlns:p14="http://schemas.microsoft.com/office/powerpoint/2010/main" val="134690094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EDDB4E44-CF5F-4434-A349-B5BFD4C9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五个“秘密”参考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49EB2FD-BAD6-4F27-A193-1E57BD88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25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39886B3-9B08-4E73-A95F-6D9A93AB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1  两座历史建筑合建的来历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9EBB7A2-7027-4940-8C05-B460F847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2  地下通道曾供犯人直接进入被告栏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EBE2442-29C5-43EA-84DF-28F61656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3  悬空桥的大门原本是窗户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CF90A20-2D8E-4E3E-AF4A-35A130DF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4  圆顶经过长年氧化而变色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224F208-9CD6-4F10-BF79-86890D5B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5  《晒咸鱼》印在50新元钞票上</a:t>
            </a:r>
          </a:p>
        </p:txBody>
      </p:sp>
    </p:spTree>
    <p:extLst>
      <p:ext uri="{BB962C8B-B14F-4D97-AF65-F5344CB8AC3E}">
        <p14:creationId xmlns:p14="http://schemas.microsoft.com/office/powerpoint/2010/main" val="152978073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EF017D5F-D2B4-4BE6-A77D-A14A1430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课本统整表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C0416E8-878A-4767-8B41-C91C2980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26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BB0FDBA-39F5-4988-B62E-CB64DF4E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通过数字和例子理解事物的特点。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1A112CE-4448-4455-B726-E113599D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每行连接：特点、具体说明、说明方法。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A756D04-1AB2-4B5C-9E34-5C694BC4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先自己填，再逐行对照。</a:t>
            </a:r>
          </a:p>
        </p:txBody>
      </p:sp>
    </p:spTree>
    <p:extLst>
      <p:ext uri="{BB962C8B-B14F-4D97-AF65-F5344CB8AC3E}">
        <p14:creationId xmlns:p14="http://schemas.microsoft.com/office/powerpoint/2010/main" val="5349889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0">
            <a:extLst xmlns:a="http://schemas.openxmlformats.org/drawingml/2006/main">
              <a:ext uri="{FF2B5EF4-FFF2-40B4-BE49-F238E27FC236}">
                <a16:creationId xmlns:a16="http://schemas.microsoft.com/office/drawing/2014/main" id="{8FCC7F04-0B33-4BFD-B121-35D8EA11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建筑 · 面积很大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C822751-C332-452E-9EEB-BF3F0587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27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307CE-BEC4-4EDD-90C7-DA8DC640A573}"/>
              </a:ext>
            </a:extLst>
          </p:cNvPr>
          <p:cNvGraphicFramePr/>
          <p:nvPr/>
        </p:nvGraphicFramePr>
        <p:xfrm>
          <a:off xmlns:a="http://schemas.openxmlformats.org/drawingml/2006/main" x="714375" y="1743075"/>
          <a:ext xmlns:a="http://schemas.openxmlformats.org/drawingml/2006/main" cx="1076325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7715250"/>
              </a:tblGrid>
              <a:tr h="1285875"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1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事物的特点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9CBD9"/>
                      </a:solidFill>
                      <a:prstDash val="solid"/>
                    </a:lnL>
                    <a:lnR w="9525">
                      <a:solidFill>
                        <a:srgbClr val="B9CBD9"/>
                      </a:solidFill>
                      <a:prstDash val="solid"/>
                    </a:lnR>
                    <a:lnT w="9525">
                      <a:solidFill>
                        <a:srgbClr val="B9CBD9"/>
                      </a:solidFill>
                      <a:prstDash val="solid"/>
                    </a:lnT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DCEAF4"/>
                    </a:solidFill>
                  </a:tcPr>
                </a:tc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0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面积很大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9CBD9"/>
                      </a:solidFill>
                      <a:prstDash val="solid"/>
                    </a:lnR>
                    <a:lnT w="9525">
                      <a:solidFill>
                        <a:srgbClr val="B9CBD9"/>
                      </a:solidFill>
                      <a:prstDash val="solid"/>
                    </a:lnT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85875"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1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对特点的说明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9CBD9"/>
                      </a:solidFill>
                      <a:prstDash val="solid"/>
                    </a:lnL>
                    <a:lnR w="9525">
                      <a:solidFill>
                        <a:srgbClr val="B9CBD9"/>
                      </a:solidFill>
                      <a:prstDash val="solid"/>
                    </a:lnR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DCEAF4"/>
                    </a:solidFill>
                  </a:tcPr>
                </a:tc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0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6万4000平方米，约9个足球场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9CBD9"/>
                      </a:solidFill>
                      <a:prstDash val="solid"/>
                    </a:lnR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85875"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1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说明方法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9CBD9"/>
                      </a:solidFill>
                      <a:prstDash val="solid"/>
                    </a:lnL>
                    <a:lnR w="9525">
                      <a:solidFill>
                        <a:srgbClr val="B9CBD9"/>
                      </a:solidFill>
                      <a:prstDash val="solid"/>
                    </a:lnR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DCEAF4"/>
                    </a:solidFill>
                  </a:tcPr>
                </a:tc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0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列数字，结合熟悉事物作比较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9CBD9"/>
                      </a:solidFill>
                      <a:prstDash val="solid"/>
                    </a:lnR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146991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0">
            <a:extLst xmlns:a="http://schemas.openxmlformats.org/drawingml/2006/main">
              <a:ext uri="{FF2B5EF4-FFF2-40B4-BE49-F238E27FC236}">
                <a16:creationId xmlns:a16="http://schemas.microsoft.com/office/drawing/2014/main" id="{1D47A39A-B565-42EC-A748-54046F29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建筑 · 历史意义重要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3AA53E9-1881-4E08-921D-76F36726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28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6B02BC-D5D6-4776-B7A2-816725F74627}"/>
              </a:ext>
            </a:extLst>
          </p:cNvPr>
          <p:cNvGraphicFramePr/>
          <p:nvPr/>
        </p:nvGraphicFramePr>
        <p:xfrm>
          <a:off xmlns:a="http://schemas.openxmlformats.org/drawingml/2006/main" x="714375" y="1743075"/>
          <a:ext xmlns:a="http://schemas.openxmlformats.org/drawingml/2006/main" cx="1076325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7715250"/>
              </a:tblGrid>
              <a:tr h="1285875"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1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事物的特点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9CBD9"/>
                      </a:solidFill>
                      <a:prstDash val="solid"/>
                    </a:lnL>
                    <a:lnR w="9525">
                      <a:solidFill>
                        <a:srgbClr val="B9CBD9"/>
                      </a:solidFill>
                      <a:prstDash val="solid"/>
                    </a:lnR>
                    <a:lnT w="9525">
                      <a:solidFill>
                        <a:srgbClr val="B9CBD9"/>
                      </a:solidFill>
                      <a:prstDash val="solid"/>
                    </a:lnT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DCEAF4"/>
                    </a:solidFill>
                  </a:tcPr>
                </a:tc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0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具有重要的历史意义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9CBD9"/>
                      </a:solidFill>
                      <a:prstDash val="solid"/>
                    </a:lnR>
                    <a:lnT w="9525">
                      <a:solidFill>
                        <a:srgbClr val="B9CBD9"/>
                      </a:solidFill>
                      <a:prstDash val="solid"/>
                    </a:lnT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85875"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1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对特点的说明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9CBD9"/>
                      </a:solidFill>
                      <a:prstDash val="solid"/>
                    </a:lnL>
                    <a:lnR w="9525">
                      <a:solidFill>
                        <a:srgbClr val="B9CBD9"/>
                      </a:solidFill>
                      <a:prstDash val="solid"/>
                    </a:lnR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DCEAF4"/>
                    </a:solidFill>
                  </a:tcPr>
                </a:tc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0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政府大厦见证日本投降和宣布自治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9CBD9"/>
                      </a:solidFill>
                      <a:prstDash val="solid"/>
                    </a:lnR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85875"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1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说明方法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9CBD9"/>
                      </a:solidFill>
                      <a:prstDash val="solid"/>
                    </a:lnL>
                    <a:lnR w="9525">
                      <a:solidFill>
                        <a:srgbClr val="B9CBD9"/>
                      </a:solidFill>
                      <a:prstDash val="solid"/>
                    </a:lnR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DCEAF4"/>
                    </a:solidFill>
                  </a:tcPr>
                </a:tc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0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举例子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9CBD9"/>
                      </a:solidFill>
                      <a:prstDash val="solid"/>
                    </a:lnR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707112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0">
            <a:extLst xmlns:a="http://schemas.openxmlformats.org/drawingml/2006/main">
              <a:ext uri="{FF2B5EF4-FFF2-40B4-BE49-F238E27FC236}">
                <a16:creationId xmlns:a16="http://schemas.microsoft.com/office/drawing/2014/main" id="{A876B11A-6418-4206-85E2-5D014B01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建筑 · 保留部分原貌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B7F5C9C-E3AE-44EB-8830-CCA143CB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29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F9FB8-DC36-4C97-90C3-6E739E296093}"/>
              </a:ext>
            </a:extLst>
          </p:cNvPr>
          <p:cNvGraphicFramePr/>
          <p:nvPr/>
        </p:nvGraphicFramePr>
        <p:xfrm>
          <a:off xmlns:a="http://schemas.openxmlformats.org/drawingml/2006/main" x="714375" y="1743075"/>
          <a:ext xmlns:a="http://schemas.openxmlformats.org/drawingml/2006/main" cx="1076325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7715250"/>
              </a:tblGrid>
              <a:tr h="1285875"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1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事物的特点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9CBD9"/>
                      </a:solidFill>
                      <a:prstDash val="solid"/>
                    </a:lnL>
                    <a:lnR w="9525">
                      <a:solidFill>
                        <a:srgbClr val="B9CBD9"/>
                      </a:solidFill>
                      <a:prstDash val="solid"/>
                    </a:lnR>
                    <a:lnT w="9525">
                      <a:solidFill>
                        <a:srgbClr val="B9CBD9"/>
                      </a:solidFill>
                      <a:prstDash val="solid"/>
                    </a:lnT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DCEAF4"/>
                    </a:solidFill>
                  </a:tcPr>
                </a:tc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0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保留两座建筑的部分原貌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9CBD9"/>
                      </a:solidFill>
                      <a:prstDash val="solid"/>
                    </a:lnR>
                    <a:lnT w="9525">
                      <a:solidFill>
                        <a:srgbClr val="B9CBD9"/>
                      </a:solidFill>
                      <a:prstDash val="solid"/>
                    </a:lnT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85875"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1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对特点的说明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9CBD9"/>
                      </a:solidFill>
                      <a:prstDash val="solid"/>
                    </a:lnL>
                    <a:lnR w="9525">
                      <a:solidFill>
                        <a:srgbClr val="B9CBD9"/>
                      </a:solidFill>
                      <a:prstDash val="solid"/>
                    </a:lnR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DCEAF4"/>
                    </a:solidFill>
                  </a:tcPr>
                </a:tc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0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法官座位、被告栏、棕色天花板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9CBD9"/>
                      </a:solidFill>
                      <a:prstDash val="solid"/>
                    </a:lnR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85875"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1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说明方法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9CBD9"/>
                      </a:solidFill>
                      <a:prstDash val="solid"/>
                    </a:lnL>
                    <a:lnR w="9525">
                      <a:solidFill>
                        <a:srgbClr val="B9CBD9"/>
                      </a:solidFill>
                      <a:prstDash val="solid"/>
                    </a:lnR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DCEAF4"/>
                    </a:solidFill>
                  </a:tcPr>
                </a:tc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0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举例子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9CBD9"/>
                      </a:solidFill>
                      <a:prstDash val="solid"/>
                    </a:lnR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49597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0">
            <a:extLst xmlns:a="http://schemas.openxmlformats.org/drawingml/2006/main">
              <a:ext uri="{FF2B5EF4-FFF2-40B4-BE49-F238E27FC236}">
                <a16:creationId xmlns:a16="http://schemas.microsoft.com/office/drawing/2014/main" id="{22040759-ACCA-4286-A412-3C32F973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画作 · 馆藏丰富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23FE5AC-FDB0-4612-80EA-D1988A06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30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28DFE4-CDE8-4742-B177-BF36337E53F9}"/>
              </a:ext>
            </a:extLst>
          </p:cNvPr>
          <p:cNvGraphicFramePr/>
          <p:nvPr/>
        </p:nvGraphicFramePr>
        <p:xfrm>
          <a:off xmlns:a="http://schemas.openxmlformats.org/drawingml/2006/main" x="714375" y="1743075"/>
          <a:ext xmlns:a="http://schemas.openxmlformats.org/drawingml/2006/main" cx="1076325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7715250"/>
              </a:tblGrid>
              <a:tr h="1285875"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1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事物的特点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9CBD9"/>
                      </a:solidFill>
                      <a:prstDash val="solid"/>
                    </a:lnL>
                    <a:lnR w="9525">
                      <a:solidFill>
                        <a:srgbClr val="B9CBD9"/>
                      </a:solidFill>
                      <a:prstDash val="solid"/>
                    </a:lnR>
                    <a:lnT w="9525">
                      <a:solidFill>
                        <a:srgbClr val="B9CBD9"/>
                      </a:solidFill>
                      <a:prstDash val="solid"/>
                    </a:lnT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DCEAF4"/>
                    </a:solidFill>
                  </a:tcPr>
                </a:tc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0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馆藏丰富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9CBD9"/>
                      </a:solidFill>
                      <a:prstDash val="solid"/>
                    </a:lnR>
                    <a:lnT w="9525">
                      <a:solidFill>
                        <a:srgbClr val="B9CBD9"/>
                      </a:solidFill>
                      <a:prstDash val="solid"/>
                    </a:lnT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85875"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1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对特点的说明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9CBD9"/>
                      </a:solidFill>
                      <a:prstDash val="solid"/>
                    </a:lnL>
                    <a:lnR w="9525">
                      <a:solidFill>
                        <a:srgbClr val="B9CBD9"/>
                      </a:solidFill>
                      <a:prstDash val="solid"/>
                    </a:lnR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DCEAF4"/>
                    </a:solidFill>
                  </a:tcPr>
                </a:tc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0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9000余件收藏品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9CBD9"/>
                      </a:solidFill>
                      <a:prstDash val="solid"/>
                    </a:lnR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85875"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1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说明方法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9CBD9"/>
                      </a:solidFill>
                      <a:prstDash val="solid"/>
                    </a:lnL>
                    <a:lnR w="9525">
                      <a:solidFill>
                        <a:srgbClr val="B9CBD9"/>
                      </a:solidFill>
                      <a:prstDash val="solid"/>
                    </a:lnR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DCEAF4"/>
                    </a:solidFill>
                  </a:tcPr>
                </a:tc>
                <a:tc>
                  <a:txBody>
                    <a:bodyPr wrap="square" lIns="171450" tIns="171450" rIns="171450" bIns="171450">
                      <a:noAutofit/>
                    </a:bodyPr>
                    <a:lstStyle/>
                    <a:p>
                      <a:r>
                        <a:rPr sz="3000" b="0">
                          <a:solidFill>
                            <a:srgbClr val="18344F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列数字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9CBD9"/>
                      </a:solidFill>
                      <a:prstDash val="solid"/>
                    </a:lnR>
                    <a:lnB w="9525">
                      <a:solidFill>
                        <a:srgbClr val="B9CB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339468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755AC7DC-45DD-45F5-9BAD-7B297E29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课本仿句 · 既熟悉又陌生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2DF47BB-21C1-4D1B-9F7C-C5C59CBB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31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85A8D7D-7E25-45E7-9BA2-8A81CE4F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对我来说，______既熟悉又陌生。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17C2740-329D-45D1-A026-14F68574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熟悉，是因为______；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18C1FE1-696D-4F70-8E9C-5531312D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陌生，是因为______。</a:t>
            </a:r>
          </a:p>
        </p:txBody>
      </p:sp>
    </p:spTree>
    <p:extLst>
      <p:ext uri="{BB962C8B-B14F-4D97-AF65-F5344CB8AC3E}">
        <p14:creationId xmlns:p14="http://schemas.microsoft.com/office/powerpoint/2010/main" val="3211148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333C50FE-2DB6-448F-B1DC-E420D2EF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仿句参考 · 同一个对象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668E255-4ABD-4AF7-A782-0808D58B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32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7FFAA96-CC2E-422B-BB81-780A5E67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学校附近的老建筑，既熟悉又陌生。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3509AB8-5C13-4731-B899-430CD47E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熟悉：我每天上学都会经过。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2C5D84E-315A-400B-9EA8-5E92E120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陌生：我不知道它过去有什么用途。</a:t>
            </a:r>
          </a:p>
        </p:txBody>
      </p:sp>
    </p:spTree>
    <p:extLst>
      <p:ext uri="{BB962C8B-B14F-4D97-AF65-F5344CB8AC3E}">
        <p14:creationId xmlns:p14="http://schemas.microsoft.com/office/powerpoint/2010/main" val="71783062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FE963145-974E-4C30-BA62-06DAABF6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课本查找 · 还有谁的画作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D48DD7A-0082-40E6-802F-B29A67A7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33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5AE9F5E-6D4A-4DEE-AFAD-EC4B4D44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除了钟泗滨的画作，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BBFAD63-BA24-435F-9550-8049F14D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50新元钞票背面还有谁的画作？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3B1371A-68EF-4C20-95C6-06E700FA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查资料时，把画家与画面内容对应起来。</a:t>
            </a:r>
          </a:p>
        </p:txBody>
      </p:sp>
    </p:spTree>
    <p:extLst>
      <p:ext uri="{BB962C8B-B14F-4D97-AF65-F5344CB8AC3E}">
        <p14:creationId xmlns:p14="http://schemas.microsoft.com/office/powerpoint/2010/main" val="83319659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B3985D0B-4CAE-4D18-B7F2-A6374C5B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查找结果 · 陈文希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01B7AA4-5073-40A7-92C7-A72AAD25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34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531F25C-C2D1-4F67-B30A-859EF89B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陈文希（Chen Wen Hsi）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894466F-AA67-4F8C-9A80-27A3A768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Two Gibbons Amidst Vines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7591486-CCCB-45D5-9DFE-268E47DB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8344F"/>
                </a:solidFill>
                <a:latin typeface="Noto Serif CJK SC"/>
                <a:ea typeface="Noto Serif CJK SC"/>
                <a:cs typeface="Noto Serif CJK SC"/>
              </a:rPr>
              <a:t>画面内容：藤蔓间的两只长臂猿。</a:t>
            </a:r>
          </a:p>
        </p:txBody>
      </p:sp>
    </p:spTree>
    <p:extLst>
      <p:ext uri="{BB962C8B-B14F-4D97-AF65-F5344CB8AC3E}">
        <p14:creationId xmlns:p14="http://schemas.microsoft.com/office/powerpoint/2010/main" val="194089416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8FB16266-D6E8-465B-A53E-57A305F2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检查与订正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EC01F89-F1C4-4D3A-BA62-21105B26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85E94"/>
                </a:solidFill>
                <a:latin typeface="LXGW WenKai TC"/>
                <a:ea typeface="LXGW WenKai TC"/>
                <a:cs typeface="LXGW WenKai TC"/>
              </a:rPr>
              <a:t>35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ECAC105-B231-47AC-8FCB-1F3ABBEC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统整：每一个例子，是否支持那项特点？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2D47B5F-F1CA-4455-ADCA-103B89FE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仿句：同一个对象，两面原因是否合理？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26A9BFA-AE1B-4010-B5E2-045E4352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8344F"/>
                </a:solidFill>
                <a:latin typeface="LXGW WenKai TC"/>
                <a:ea typeface="LXGW WenKai TC"/>
                <a:cs typeface="LXGW WenKai TC"/>
              </a:rPr>
              <a:t>开放回应：具体内容，怎样支持我的选择？</a:t>
            </a:r>
          </a:p>
        </p:txBody>
      </p:sp>
    </p:spTree>
    <p:extLst>
      <p:ext uri="{BB962C8B-B14F-4D97-AF65-F5344CB8AC3E}">
        <p14:creationId xmlns:p14="http://schemas.microsoft.com/office/powerpoint/2010/main" val="19658159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LXGW WenKai TC"/>
        <a:ea typeface=""/>
        <a:cs typeface=""/>
      </a:majorFont>
      <a:minorFont>
        <a:latin typeface="LXGW WenKai T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2026-10-23T02:29:25.4720000Z</dcterms:created>
  <dcterms:modified xsi:type="dcterms:W3CDTF">2026-10-23T02:29:25.4730000Z</dcterms:modified>
</coreProperties>
</file>